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11f75aff16400e" /><Relationship Type="http://schemas.openxmlformats.org/officeDocument/2006/relationships/extended-properties" Target="/docProps/app.xml" Id="R18e69dd08bf24695" /><Relationship Type="http://schemas.openxmlformats.org/officeDocument/2006/relationships/officeDocument" Target="/ppt/presentation.xml" Id="Reebb3678db81438f" /></Relationships>
</file>

<file path=ppt/presentation.xml><?xml version="1.0" encoding="utf-8"?>
<p:presentation xmlns:p="http://schemas.openxmlformats.org/presentationml/2006/main">
  <p:sldMasterIdLst>
    <p:sldMasterId xmlns:r="http://schemas.openxmlformats.org/officeDocument/2006/relationships" id="2147483648" r:id="R206b3178b4a8466b"/>
  </p:sldMasterIdLst>
  <p:notesMasterIdLst>
    <p:notesMasterId xmlns:r="http://schemas.openxmlformats.org/officeDocument/2006/relationships" r:id="R029eae8762f14f9c"/>
  </p:notesMasterIdLst>
  <p:sldIdLst>
    <p:sldId xmlns:r="http://schemas.openxmlformats.org/officeDocument/2006/relationships" id="256" r:id="R0b8bee6ae1914862"/>
    <p:sldId xmlns:r="http://schemas.openxmlformats.org/officeDocument/2006/relationships" id="257" r:id="R0409ed2ccea14fce"/>
    <p:sldId xmlns:r="http://schemas.openxmlformats.org/officeDocument/2006/relationships" id="258" r:id="R201b2f00c05147e5"/>
    <p:sldId xmlns:r="http://schemas.openxmlformats.org/officeDocument/2006/relationships" id="259" r:id="R1e2d246179854d90"/>
    <p:sldId xmlns:r="http://schemas.openxmlformats.org/officeDocument/2006/relationships" id="260" r:id="R0d2c750793a244e6"/>
    <p:sldId xmlns:r="http://schemas.openxmlformats.org/officeDocument/2006/relationships" id="261" r:id="R96115d00a4ea42b1"/>
    <p:sldId xmlns:r="http://schemas.openxmlformats.org/officeDocument/2006/relationships" id="262" r:id="Rca7e932b3ec645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52e45e92474e29" /><Relationship Type="http://schemas.openxmlformats.org/officeDocument/2006/relationships/slideMaster" Target="/ppt/slideMasters/slideMaster1.xml" Id="R206b3178b4a8466b" /><Relationship Type="http://schemas.openxmlformats.org/officeDocument/2006/relationships/notesMaster" Target="/ppt/notesMasters/notesMaster1.xml" Id="R029eae8762f14f9c" /><Relationship Type="http://schemas.openxmlformats.org/officeDocument/2006/relationships/presProps" Target="/ppt/presProps.xml" Id="Rbcee195146814d9e" /><Relationship Type="http://schemas.openxmlformats.org/officeDocument/2006/relationships/tableStyles" Target="/ppt/tableStyles.xml" Id="Rad0b573dced04df6" /><Relationship Type="http://schemas.openxmlformats.org/officeDocument/2006/relationships/slide" Target="/ppt/slides/slide1.xml" Id="R0b8bee6ae1914862" /><Relationship Type="http://schemas.openxmlformats.org/officeDocument/2006/relationships/slide" Target="/ppt/slides/slide2.xml" Id="R0409ed2ccea14fce" /><Relationship Type="http://schemas.openxmlformats.org/officeDocument/2006/relationships/slide" Target="/ppt/slides/slide3.xml" Id="R201b2f00c05147e5" /><Relationship Type="http://schemas.openxmlformats.org/officeDocument/2006/relationships/slide" Target="/ppt/slides/slide4.xml" Id="R1e2d246179854d90" /><Relationship Type="http://schemas.openxmlformats.org/officeDocument/2006/relationships/slide" Target="/ppt/slides/slide5.xml" Id="R0d2c750793a244e6" /><Relationship Type="http://schemas.openxmlformats.org/officeDocument/2006/relationships/slide" Target="/ppt/slides/slide6.xml" Id="R96115d00a4ea42b1" /><Relationship Type="http://schemas.openxmlformats.org/officeDocument/2006/relationships/slide" Target="/ppt/slides/slide7.xml" Id="Rca7e932b3ec645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d84f7093fa4f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cbeb7ab2f244eb" /><Relationship Type="http://schemas.openxmlformats.org/officeDocument/2006/relationships/notesMaster" Target="/ppt/notesMasters/notesMaster1.xml" Id="Ra133fdda5d7846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5b5c92c85b4139" /><Relationship Type="http://schemas.openxmlformats.org/officeDocument/2006/relationships/notesMaster" Target="/ppt/notesMasters/notesMaster1.xml" Id="R916bfd2010ae4b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263ef7cfc146af" /><Relationship Type="http://schemas.openxmlformats.org/officeDocument/2006/relationships/notesMaster" Target="/ppt/notesMasters/notesMaster1.xml" Id="R692329cf441d4d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6124a5a08a4c28" /><Relationship Type="http://schemas.openxmlformats.org/officeDocument/2006/relationships/notesMaster" Target="/ppt/notesMasters/notesMaster1.xml" Id="R2fd55e8f16f34e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bb9a5702a3414b" /><Relationship Type="http://schemas.openxmlformats.org/officeDocument/2006/relationships/notesMaster" Target="/ppt/notesMasters/notesMaster1.xml" Id="Rde598f8da7434f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985d1034824752" /><Relationship Type="http://schemas.openxmlformats.org/officeDocument/2006/relationships/notesMaster" Target="/ppt/notesMasters/notesMaster1.xml" Id="R279be266835c45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9e0907c8c7450c" /><Relationship Type="http://schemas.openxmlformats.org/officeDocument/2006/relationships/notesMaster" Target="/ppt/notesMasters/notesMaster1.xml" Id="Rd5bfdd85d75f44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1 submission for Paytm Build for India AI Hackathon, Bengaluru. Sole participant Gowtham Ramachandra. A working support-intake and continuity prototype. The current version prepares a reviewed handoff but does not execute Paytm operations or create real support tickets. Reuses a foundation built at an earlier Paytm-office voice buildathon in October 2026. New work adds eight optional support stages and reviewed photo evidence. No production deployment by Paytm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scenario, not an independently verified payment. Paytm receipt guidance distinguishes app transaction history, Soundbox audio and bank records, and cautions against relying on screenshots: https://paytm.com/support/paytm-soundbox/how-merchants-can-verify-payment-receipts . Published support channels: https://business.paytmpayments.com/contact-us . The builder reported a leader mentioning five layers before support. Exact internal names and policies were not supplied, so the eight prototype stages are illustrative and optional. Do not claim a measured Paytm support failure or a confirmed financial loss.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eight optional stages, manual support history, human-help request, source-linked reviewed image notes and separate export approval. Two unresolved entries recommend human review, subject to manual-history limitations. A human-help request does not connect a person or create a ticket. Photo workflow: choose JPEG/PNG/WebP up to 4 MB, resize/re-encode, manually cover private areas, consent to Google analysis, review/edit provisional observations, save only the note and digest, discard raw image. No authenticity or settlement verification. Source: lib/support-journey.ts, components/photo-evidence.tsx and docs/PHOTO-EVIDENCE.md. Screenshot shows actual captured UI with synthetic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browser recording becomes editable text before Send. The Node interview endpoint orchestrates separately scoped Gemini extractor, critic and planner calls. The source verifier rejects missing/mismatched transcript references. Critic and read-only tools run in parallel, then the planner receives ranked topics, tool results and critic summary. Tools are local coverage, evidence inspection and curated knowledge cards, not live Paytm APIs or web RAG. Same model backend means correlated errors remain possible. Max 14 merchant turns and 55-second graph deadline. No A2A protocol. MediaRecorder prefers supported browser formats such as WebM/Opus; generated voice endpoint returns validated WAV. Tests cover contracts and failure paths, not field speech accuracy. Working checkout: 67 tests passed 23 October 2026. The 21 October synthetic provider smoke test observed 26,094 ms across three calls, a single observation rather than a benchmark. Physical mobile-camera and noisy-shop voice validation remain outstanding.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Paytm already offers an AI Soundbox assistant with business insights in 11 languages, so voice alone is not the claimed novelty. Source: https://paytm.com/document/ir/press-release/AI-SB.pdf . MerchantLens proposes evidence-aware support continuity that complements existing products. These features are implemented in the prototype but have not been compared with Paytm internal tooling. An exact quote establishes provenance, not the truth of the reported event. Merchant review does not establish image authenticity. Public anonymized output omits reviewed image notes and detailed support history. Do not describe manual covering as guaranteed automatic PII removal.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impact improvements are hypotheses. Proposed pilot size is 10 consenting merchants, not an existing customer count or measured adoption. Compare case type/severity and reviewer experience, avoiding selection bias. Candidate targets for a larger evaluation: reduce repeat questions and reviewer time by 20%, with no worsening of recontacts or erroneous closure. Targets require baseline agreement and an adequate case sample. Do not optimize only for fewer human contacts, because merchant abandonment can resemble successful deflection. Establish unsupported financial assertions, confidential-data leakage and unauthorized actions as critical failure categories. Current 67 tests and seven guided probes are not a live multilingual accuracy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internal-capability model is a proposal, not an agreed Paytm commercial arrangement. Example inputs are assumptions: 10,000 eligible cases/month, two reviewer minutes saved/case and loaded cost of INR 8/minute produce INR 160,000 gross capacity value. Subtract INR 30,000 assumed incremental AI/hosting cost for INR 130,000 before implementation, maintenance and other costs. Capacity value only becomes cash savings if staffing or outsourcing spend changes. Avoid adding speculative retention revenue to the same figure. Production prerequisites: identity, tenant isolation, server-side canonical case state, retention/deletion, approved knowledge ownership, distributed quotas, source freshness, scoped history/payment/device adapters, and idempotent ticket creation. Current implementation has no Paytm APIs, real tickets, financial execution or verified closure. Website source and demo disclose reuse of an October 2026 buildathon foundation. Product release and ROI remain subject to pilot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d57993f1a641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4f4a172e8340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3edc78b4ff4a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0101c8307441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b0de22391648c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6c181e3fc54b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7E7BA0-FE78-4EF9-84E6-051E9FB50B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218978-9A61-4F25-A466-9CC90F5AFD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AAE20C-B5E8-4E3E-9637-7C4D4508DD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41CAB5-DBEF-4A35-A05B-6797CC5DE5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9F45686-D1FF-4B00-B318-FFFC5048DA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379AC6-40E6-4618-8A4D-2C0E80E889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74FED5-3823-4325-8C1A-81AD6B7170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3CAECF-74FB-4686-9728-D02130CCDF6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5C877F-FC13-4753-9AD8-966E5285AF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935D0C-AD31-41BE-B8D9-3FB4BE31BF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93175339604228" /><Relationship Type="http://schemas.openxmlformats.org/officeDocument/2006/relationships/slideLayout" Target="/ppt/slideLayouts/slideLayout1.xml" Id="Rc012fbc871de4cbc" /><Relationship Type="http://schemas.openxmlformats.org/officeDocument/2006/relationships/slideLayout" Target="/ppt/slideLayouts/slideLayout2.xml" Id="R3a4547d67160413f" /><Relationship Type="http://schemas.openxmlformats.org/officeDocument/2006/relationships/slideLayout" Target="/ppt/slideLayouts/slideLayout3.xml" Id="R2407622b98bc48ee" /><Relationship Type="http://schemas.openxmlformats.org/officeDocument/2006/relationships/slideLayout" Target="/ppt/slideLayouts/slideLayout4.xml" Id="Rbff8a9dc32ad4420" /><Relationship Type="http://schemas.openxmlformats.org/officeDocument/2006/relationships/slideLayout" Target="/ppt/slideLayouts/slideLayout5.xml" Id="R5386b0d832a5443e" /><Relationship Type="http://schemas.openxmlformats.org/officeDocument/2006/relationships/slideLayout" Target="/ppt/slideLayouts/slideLayout6.xml" Id="R8f57884708be41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12fbc871de4cbc"/>
    <p:sldLayoutId xmlns:r="http://schemas.openxmlformats.org/officeDocument/2006/relationships" id="2147483650" r:id="R3a4547d67160413f"/>
    <p:sldLayoutId xmlns:r="http://schemas.openxmlformats.org/officeDocument/2006/relationships" id="2147483651" r:id="R2407622b98bc48ee"/>
    <p:sldLayoutId xmlns:r="http://schemas.openxmlformats.org/officeDocument/2006/relationships" id="2147483652" r:id="Rbff8a9dc32ad4420"/>
    <p:sldLayoutId xmlns:r="http://schemas.openxmlformats.org/officeDocument/2006/relationships" id="2147483653" r:id="R5386b0d832a5443e"/>
    <p:sldLayoutId xmlns:r="http://schemas.openxmlformats.org/officeDocument/2006/relationships" id="2147483654" r:id="R8f57884708be41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f65d23fd1814e7a" /><Relationship Type="http://schemas.openxmlformats.org/officeDocument/2006/relationships/hyperlink" Target="https://merchantlens-paytm-412542191970.asia-south1.run.app/?view=support" TargetMode="External" Id="R19cdbec8e56e42d2" /><Relationship Type="http://schemas.openxmlformats.org/officeDocument/2006/relationships/hyperlink" Target="https://github.com/gowtham66867/merchantlens-paytm" TargetMode="External" Id="R59f456cc5c674fa8" /><Relationship Type="http://schemas.openxmlformats.org/officeDocument/2006/relationships/notesSlide" Target="/ppt/notesSlides/notesSlide1.xml" Id="Rfa54f75a614840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c2931fcd344a29" /><Relationship Type="http://schemas.openxmlformats.org/officeDocument/2006/relationships/notesSlide" Target="/ppt/notesSlides/notesSlide2.xml" Id="Rc91f13798f7e41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7d937acdcc4bbb" /><Relationship Type="http://schemas.openxmlformats.org/officeDocument/2006/relationships/image" Target="/ppt/media/image.jpeg" Id="R08a8547ee0eb4798" /><Relationship Type="http://schemas.openxmlformats.org/officeDocument/2006/relationships/notesSlide" Target="/ppt/notesSlides/notesSlide3.xml" Id="Re29033446ba243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ddfc27918b4f61" /><Relationship Type="http://schemas.openxmlformats.org/officeDocument/2006/relationships/notesSlide" Target="/ppt/notesSlides/notesSlide4.xml" Id="Raf4e9c0e171547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db3229f7d7a43b2" /><Relationship Type="http://schemas.openxmlformats.org/officeDocument/2006/relationships/notesSlide" Target="/ppt/notesSlides/notesSlide5.xml" Id="Rcca656757e5643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9eda3023ac4b5a" /><Relationship Type="http://schemas.openxmlformats.org/officeDocument/2006/relationships/notesSlide" Target="/ppt/notesSlides/notesSlide6.xml" Id="R0be5d652cd6343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03bc84cbd34c07" /><Relationship Type="http://schemas.openxmlformats.org/officeDocument/2006/relationships/hyperlink" Target="https://merchantlens-paytm-412542191970.asia-south1.run.app/?view=support" TargetMode="External" Id="Rcd76a8b6df2748c8" /><Relationship Type="http://schemas.openxmlformats.org/officeDocument/2006/relationships/hyperlink" Target="https://github.com/gowtham66867/merchantlens-paytm" TargetMode="External" Id="Ra0a3026e48274e82" /><Relationship Type="http://schemas.openxmlformats.org/officeDocument/2006/relationships/notesSlide" Target="/ppt/notesSlides/notesSlide7.xml" Id="Rde31b2ac7f384dad" /></Relationships>
</file>

<file path=ppt/slides/slide1.xml><?xml version="1.0" encoding="utf-8"?>
<p:sld xmlns:p="http://schemas.openxmlformats.org/presentationml/2006/main">
  <p:cSld>
    <p:bg>
      <p:bgPr>
        <a:solidFill xmlns:a="http://schemas.openxmlformats.org/drawingml/2006/main">
          <a:srgbClr val="0B203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30C7C49-E384-4CFA-9B34-1308A72D469C}"/>
              </a:ext>
            </a:extLst>
          </p:cNvPr>
          <p:cNvSpPr>
            <a:spLocks xmlns:a="http://schemas.openxmlformats.org/drawingml/2006/main" noGrp="1"/>
          </p:cNvSpPr>
          <p:nvPr/>
        </p:nvSpPr>
        <p:spPr>
          <a:xfrm xmlns:a="http://schemas.openxmlformats.org/drawingml/2006/main">
            <a:off x="685800" y="5143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Helvetica Neue"/>
                <a:ea typeface="Helvetica Neue"/>
                <a:cs typeface="Helvetica Neue"/>
              </a:defRPr>
            </a:defPPr>
            <a:lvl1pPr>
              <a:defRPr sz="3450" b="1">
                <a:solidFill>
                  <a:srgbClr val="FFFFFF"/>
                </a:solidFill>
                <a:latin typeface="Helvetica Neue"/>
                <a:ea typeface="Helvetica Neue"/>
                <a:cs typeface="Helvetica Neue"/>
              </a:defRPr>
            </a:lvl1pPr>
            <a:lvl2pPr>
              <a:defRPr sz="3450" b="1">
                <a:solidFill>
                  <a:srgbClr val="FFFFFF"/>
                </a:solidFill>
                <a:latin typeface="Helvetica Neue"/>
                <a:ea typeface="Helvetica Neue"/>
                <a:cs typeface="Helvetica Neue"/>
              </a:defRPr>
            </a:lvl2pPr>
            <a:lvl3pPr>
              <a:defRPr sz="3450" b="1">
                <a:solidFill>
                  <a:srgbClr val="FFFFFF"/>
                </a:solidFill>
                <a:latin typeface="Helvetica Neue"/>
                <a:ea typeface="Helvetica Neue"/>
                <a:cs typeface="Helvetica Neue"/>
              </a:defRPr>
            </a:lvl3pPr>
            <a:lvl4pPr>
              <a:defRPr sz="3450" b="1">
                <a:solidFill>
                  <a:srgbClr val="FFFFFF"/>
                </a:solidFill>
                <a:latin typeface="Helvetica Neue"/>
                <a:ea typeface="Helvetica Neue"/>
                <a:cs typeface="Helvetica Neue"/>
              </a:defRPr>
            </a:lvl4pPr>
            <a:lvl5pPr>
              <a:defRPr sz="3450" b="1">
                <a:solidFill>
                  <a:srgbClr val="FFFFFF"/>
                </a:solidFill>
                <a:latin typeface="Helvetica Neue"/>
                <a:ea typeface="Helvetica Neue"/>
                <a:cs typeface="Helvetica Neue"/>
              </a:defRPr>
            </a:lvl5pPr>
            <a:lvl6pPr>
              <a:defRPr sz="3450" b="1">
                <a:solidFill>
                  <a:srgbClr val="FFFFFF"/>
                </a:solidFill>
                <a:latin typeface="Helvetica Neue"/>
                <a:ea typeface="Helvetica Neue"/>
                <a:cs typeface="Helvetica Neue"/>
              </a:defRPr>
            </a:lvl6pPr>
            <a:lvl7pPr>
              <a:defRPr sz="3450" b="1">
                <a:solidFill>
                  <a:srgbClr val="FFFFFF"/>
                </a:solidFill>
                <a:latin typeface="Helvetica Neue"/>
                <a:ea typeface="Helvetica Neue"/>
                <a:cs typeface="Helvetica Neue"/>
              </a:defRPr>
            </a:lvl7pPr>
            <a:lvl8pPr>
              <a:defRPr sz="3450" b="1">
                <a:solidFill>
                  <a:srgbClr val="FFFFFF"/>
                </a:solidFill>
                <a:latin typeface="Helvetica Neue"/>
                <a:ea typeface="Helvetica Neue"/>
                <a:cs typeface="Helvetica Neue"/>
              </a:defRPr>
            </a:lvl8pPr>
            <a:lvl9pPr>
              <a:defRPr sz="3450" b="1">
                <a:solidFill>
                  <a:srgbClr val="FFFFFF"/>
                </a:solidFill>
                <a:latin typeface="Helvetica Neue"/>
                <a:ea typeface="Helvetica Neue"/>
                <a:cs typeface="Helvetica Neue"/>
              </a:defRPr>
            </a:lvl9pPr>
          </a:lstStyle>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MerchantLens</a:t>
            </a:r>
          </a:p>
        </p:txBody>
      </p:sp>
      <p:sp>
        <p:nvSpPr>
          <p:cNvPr id="2" name="">
            <a:extLst xmlns:a="http://schemas.openxmlformats.org/drawingml/2006/main">
              <a:ext uri="{FF2B5EF4-FFF2-40B4-BE49-F238E27FC236}">
                <a16:creationId xmlns:a16="http://schemas.microsoft.com/office/drawing/2014/main" id="{75B36F03-B608-4618-93DC-A4B51C105523}"/>
              </a:ext>
            </a:extLst>
          </p:cNvPr>
          <p:cNvSpPr>
            <a:spLocks xmlns:a="http://schemas.openxmlformats.org/drawingml/2006/main" noGrp="1"/>
          </p:cNvSpPr>
          <p:nvPr/>
        </p:nvSpPr>
        <p:spPr>
          <a:xfrm xmlns:a="http://schemas.openxmlformats.org/drawingml/2006/main">
            <a:off x="685800" y="64865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9D0DE"/>
                </a:solidFill>
                <a:latin typeface="Helvetica Neue"/>
                <a:ea typeface="Helvetica Neue"/>
                <a:cs typeface="Helvetica Neue"/>
              </a:defRPr>
            </a:defPPr>
            <a:lvl1pPr>
              <a:defRPr sz="1200" b="0">
                <a:solidFill>
                  <a:srgbClr val="B9D0DE"/>
                </a:solidFill>
                <a:latin typeface="Helvetica Neue"/>
                <a:ea typeface="Helvetica Neue"/>
                <a:cs typeface="Helvetica Neue"/>
              </a:defRPr>
            </a:lvl1pPr>
            <a:lvl2pPr>
              <a:defRPr sz="1200" b="0">
                <a:solidFill>
                  <a:srgbClr val="B9D0DE"/>
                </a:solidFill>
                <a:latin typeface="Helvetica Neue"/>
                <a:ea typeface="Helvetica Neue"/>
                <a:cs typeface="Helvetica Neue"/>
              </a:defRPr>
            </a:lvl2pPr>
            <a:lvl3pPr>
              <a:defRPr sz="1200" b="0">
                <a:solidFill>
                  <a:srgbClr val="B9D0DE"/>
                </a:solidFill>
                <a:latin typeface="Helvetica Neue"/>
                <a:ea typeface="Helvetica Neue"/>
                <a:cs typeface="Helvetica Neue"/>
              </a:defRPr>
            </a:lvl3pPr>
            <a:lvl4pPr>
              <a:defRPr sz="1200" b="0">
                <a:solidFill>
                  <a:srgbClr val="B9D0DE"/>
                </a:solidFill>
                <a:latin typeface="Helvetica Neue"/>
                <a:ea typeface="Helvetica Neue"/>
                <a:cs typeface="Helvetica Neue"/>
              </a:defRPr>
            </a:lvl4pPr>
            <a:lvl5pPr>
              <a:defRPr sz="1200" b="0">
                <a:solidFill>
                  <a:srgbClr val="B9D0DE"/>
                </a:solidFill>
                <a:latin typeface="Helvetica Neue"/>
                <a:ea typeface="Helvetica Neue"/>
                <a:cs typeface="Helvetica Neue"/>
              </a:defRPr>
            </a:lvl5pPr>
            <a:lvl6pPr>
              <a:defRPr sz="1200" b="0">
                <a:solidFill>
                  <a:srgbClr val="B9D0DE"/>
                </a:solidFill>
                <a:latin typeface="Helvetica Neue"/>
                <a:ea typeface="Helvetica Neue"/>
                <a:cs typeface="Helvetica Neue"/>
              </a:defRPr>
            </a:lvl6pPr>
            <a:lvl7pPr>
              <a:defRPr sz="1200" b="0">
                <a:solidFill>
                  <a:srgbClr val="B9D0DE"/>
                </a:solidFill>
                <a:latin typeface="Helvetica Neue"/>
                <a:ea typeface="Helvetica Neue"/>
                <a:cs typeface="Helvetica Neue"/>
              </a:defRPr>
            </a:lvl7pPr>
            <a:lvl8pPr>
              <a:defRPr sz="1200" b="0">
                <a:solidFill>
                  <a:srgbClr val="B9D0DE"/>
                </a:solidFill>
                <a:latin typeface="Helvetica Neue"/>
                <a:ea typeface="Helvetica Neue"/>
                <a:cs typeface="Helvetica Neue"/>
              </a:defRPr>
            </a:lvl8pPr>
            <a:lvl9pPr>
              <a:defRPr sz="1200" b="0">
                <a:solidFill>
                  <a:srgbClr val="B9D0DE"/>
                </a:solidFill>
                <a:latin typeface="Helvetica Neue"/>
                <a:ea typeface="Helvetica Neue"/>
                <a:cs typeface="Helvetica Neue"/>
              </a:defRPr>
            </a:lvl9pPr>
          </a:lstStyle>
          <a:p xmlns:a="http://schemas.openxmlformats.org/drawingml/2006/main">
            <a:pPr>
              <a:defRPr sz="1200" b="0">
                <a:solidFill>
                  <a:srgbClr val="B9D0DE"/>
                </a:solidFill>
                <a:latin typeface="Helvetica Neue"/>
                <a:ea typeface="Helvetica Neue"/>
                <a:cs typeface="Helvetica Neue"/>
              </a:defRPr>
            </a:pPr>
            <a:r>
              <a:rPr sz="1200" b="0">
                <a:solidFill>
                  <a:srgbClr val="B9D0DE"/>
                </a:solidFill>
                <a:latin typeface="Helvetica Neue"/>
                <a:ea typeface="Helvetica Neue"/>
                <a:cs typeface="Helvetica Neue"/>
              </a:rPr>
              <a:t>MerchantLens / Paytm Build for India / Stage 1</a:t>
            </a:r>
          </a:p>
        </p:txBody>
      </p:sp>
      <p:sp>
        <p:nvSpPr>
          <p:cNvPr id="3" name="">
            <a:extLst xmlns:a="http://schemas.openxmlformats.org/drawingml/2006/main">
              <a:ext uri="{FF2B5EF4-FFF2-40B4-BE49-F238E27FC236}">
                <a16:creationId xmlns:a16="http://schemas.microsoft.com/office/drawing/2014/main" id="{9E413800-BAEC-46E6-A5A2-F120A5943F31}"/>
              </a:ext>
            </a:extLst>
          </p:cNvPr>
          <p:cNvSpPr>
            <a:spLocks xmlns:a="http://schemas.openxmlformats.org/drawingml/2006/main" noGrp="1"/>
          </p:cNvSpPr>
          <p:nvPr/>
        </p:nvSpPr>
        <p:spPr>
          <a:xfrm xmlns:a="http://schemas.openxmlformats.org/drawingml/2006/main">
            <a:off x="10953750" y="648652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9D0DE"/>
                </a:solidFill>
                <a:latin typeface="Helvetica Neue"/>
                <a:ea typeface="Helvetica Neue"/>
                <a:cs typeface="Helvetica Neue"/>
              </a:defRPr>
            </a:defPPr>
            <a:lvl1pPr>
              <a:defRPr sz="1200" b="0">
                <a:solidFill>
                  <a:srgbClr val="B9D0DE"/>
                </a:solidFill>
                <a:latin typeface="Helvetica Neue"/>
                <a:ea typeface="Helvetica Neue"/>
                <a:cs typeface="Helvetica Neue"/>
              </a:defRPr>
            </a:lvl1pPr>
            <a:lvl2pPr>
              <a:defRPr sz="1200" b="0">
                <a:solidFill>
                  <a:srgbClr val="B9D0DE"/>
                </a:solidFill>
                <a:latin typeface="Helvetica Neue"/>
                <a:ea typeface="Helvetica Neue"/>
                <a:cs typeface="Helvetica Neue"/>
              </a:defRPr>
            </a:lvl2pPr>
            <a:lvl3pPr>
              <a:defRPr sz="1200" b="0">
                <a:solidFill>
                  <a:srgbClr val="B9D0DE"/>
                </a:solidFill>
                <a:latin typeface="Helvetica Neue"/>
                <a:ea typeface="Helvetica Neue"/>
                <a:cs typeface="Helvetica Neue"/>
              </a:defRPr>
            </a:lvl3pPr>
            <a:lvl4pPr>
              <a:defRPr sz="1200" b="0">
                <a:solidFill>
                  <a:srgbClr val="B9D0DE"/>
                </a:solidFill>
                <a:latin typeface="Helvetica Neue"/>
                <a:ea typeface="Helvetica Neue"/>
                <a:cs typeface="Helvetica Neue"/>
              </a:defRPr>
            </a:lvl4pPr>
            <a:lvl5pPr>
              <a:defRPr sz="1200" b="0">
                <a:solidFill>
                  <a:srgbClr val="B9D0DE"/>
                </a:solidFill>
                <a:latin typeface="Helvetica Neue"/>
                <a:ea typeface="Helvetica Neue"/>
                <a:cs typeface="Helvetica Neue"/>
              </a:defRPr>
            </a:lvl5pPr>
            <a:lvl6pPr>
              <a:defRPr sz="1200" b="0">
                <a:solidFill>
                  <a:srgbClr val="B9D0DE"/>
                </a:solidFill>
                <a:latin typeface="Helvetica Neue"/>
                <a:ea typeface="Helvetica Neue"/>
                <a:cs typeface="Helvetica Neue"/>
              </a:defRPr>
            </a:lvl6pPr>
            <a:lvl7pPr>
              <a:defRPr sz="1200" b="0">
                <a:solidFill>
                  <a:srgbClr val="B9D0DE"/>
                </a:solidFill>
                <a:latin typeface="Helvetica Neue"/>
                <a:ea typeface="Helvetica Neue"/>
                <a:cs typeface="Helvetica Neue"/>
              </a:defRPr>
            </a:lvl7pPr>
            <a:lvl8pPr>
              <a:defRPr sz="1200" b="0">
                <a:solidFill>
                  <a:srgbClr val="B9D0DE"/>
                </a:solidFill>
                <a:latin typeface="Helvetica Neue"/>
                <a:ea typeface="Helvetica Neue"/>
                <a:cs typeface="Helvetica Neue"/>
              </a:defRPr>
            </a:lvl8pPr>
            <a:lvl9pPr>
              <a:defRPr sz="1200" b="0">
                <a:solidFill>
                  <a:srgbClr val="B9D0DE"/>
                </a:solidFill>
                <a:latin typeface="Helvetica Neue"/>
                <a:ea typeface="Helvetica Neue"/>
                <a:cs typeface="Helvetica Neue"/>
              </a:defRPr>
            </a:lvl9pPr>
          </a:lstStyle>
          <a:p xmlns:a="http://schemas.openxmlformats.org/drawingml/2006/main">
            <a:pPr>
              <a:defRPr sz="1200" b="0">
                <a:solidFill>
                  <a:srgbClr val="B9D0DE"/>
                </a:solidFill>
                <a:latin typeface="Helvetica Neue"/>
                <a:ea typeface="Helvetica Neue"/>
                <a:cs typeface="Helvetica Neue"/>
              </a:defRPr>
            </a:pPr>
            <a:r>
              <a:rPr sz="1200" b="0">
                <a:solidFill>
                  <a:srgbClr val="B9D0DE"/>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15632870-9C8D-4DC4-86FA-584F8A114BFC}"/>
              </a:ext>
            </a:extLst>
          </p:cNvPr>
          <p:cNvSpPr>
            <a:spLocks xmlns:a="http://schemas.openxmlformats.org/drawingml/2006/main" noGrp="1"/>
          </p:cNvSpPr>
          <p:nvPr/>
        </p:nvSpPr>
        <p:spPr>
          <a:xfrm xmlns:a="http://schemas.openxmlformats.org/drawingml/2006/main">
            <a:off x="723900" y="1743075"/>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Tell the story once.</a:t>
            </a:r>
          </a:p>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Carry every useful detail forward.</a:t>
            </a:r>
          </a:p>
        </p:txBody>
      </p:sp>
      <p:sp>
        <p:nvSpPr>
          <p:cNvPr id="5" name="">
            <a:extLst xmlns:a="http://schemas.openxmlformats.org/drawingml/2006/main">
              <a:ext uri="{FF2B5EF4-FFF2-40B4-BE49-F238E27FC236}">
                <a16:creationId xmlns:a16="http://schemas.microsoft.com/office/drawing/2014/main" id="{8E3DC183-E4CF-4C3B-9FE1-FD5C4BE54272}"/>
              </a:ext>
            </a:extLst>
          </p:cNvPr>
          <p:cNvSpPr>
            <a:spLocks xmlns:a="http://schemas.openxmlformats.org/drawingml/2006/main" noGrp="1"/>
          </p:cNvSpPr>
          <p:nvPr/>
        </p:nvSpPr>
        <p:spPr>
          <a:xfrm xmlns:a="http://schemas.openxmlformats.org/drawingml/2006/main">
            <a:off x="723900" y="3476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B9D0DE"/>
                </a:solidFill>
                <a:latin typeface="Helvetica Neue"/>
                <a:ea typeface="Helvetica Neue"/>
                <a:cs typeface="Helvetica Neue"/>
              </a:defRPr>
            </a:defPPr>
            <a:lvl1pPr>
              <a:defRPr sz="2400" b="0">
                <a:solidFill>
                  <a:srgbClr val="B9D0DE"/>
                </a:solidFill>
                <a:latin typeface="Helvetica Neue"/>
                <a:ea typeface="Helvetica Neue"/>
                <a:cs typeface="Helvetica Neue"/>
              </a:defRPr>
            </a:lvl1pPr>
            <a:lvl2pPr>
              <a:defRPr sz="2400" b="0">
                <a:solidFill>
                  <a:srgbClr val="B9D0DE"/>
                </a:solidFill>
                <a:latin typeface="Helvetica Neue"/>
                <a:ea typeface="Helvetica Neue"/>
                <a:cs typeface="Helvetica Neue"/>
              </a:defRPr>
            </a:lvl2pPr>
            <a:lvl3pPr>
              <a:defRPr sz="2400" b="0">
                <a:solidFill>
                  <a:srgbClr val="B9D0DE"/>
                </a:solidFill>
                <a:latin typeface="Helvetica Neue"/>
                <a:ea typeface="Helvetica Neue"/>
                <a:cs typeface="Helvetica Neue"/>
              </a:defRPr>
            </a:lvl3pPr>
            <a:lvl4pPr>
              <a:defRPr sz="2400" b="0">
                <a:solidFill>
                  <a:srgbClr val="B9D0DE"/>
                </a:solidFill>
                <a:latin typeface="Helvetica Neue"/>
                <a:ea typeface="Helvetica Neue"/>
                <a:cs typeface="Helvetica Neue"/>
              </a:defRPr>
            </a:lvl4pPr>
            <a:lvl5pPr>
              <a:defRPr sz="2400" b="0">
                <a:solidFill>
                  <a:srgbClr val="B9D0DE"/>
                </a:solidFill>
                <a:latin typeface="Helvetica Neue"/>
                <a:ea typeface="Helvetica Neue"/>
                <a:cs typeface="Helvetica Neue"/>
              </a:defRPr>
            </a:lvl5pPr>
            <a:lvl6pPr>
              <a:defRPr sz="2400" b="0">
                <a:solidFill>
                  <a:srgbClr val="B9D0DE"/>
                </a:solidFill>
                <a:latin typeface="Helvetica Neue"/>
                <a:ea typeface="Helvetica Neue"/>
                <a:cs typeface="Helvetica Neue"/>
              </a:defRPr>
            </a:lvl6pPr>
            <a:lvl7pPr>
              <a:defRPr sz="2400" b="0">
                <a:solidFill>
                  <a:srgbClr val="B9D0DE"/>
                </a:solidFill>
                <a:latin typeface="Helvetica Neue"/>
                <a:ea typeface="Helvetica Neue"/>
                <a:cs typeface="Helvetica Neue"/>
              </a:defRPr>
            </a:lvl7pPr>
            <a:lvl8pPr>
              <a:defRPr sz="2400" b="0">
                <a:solidFill>
                  <a:srgbClr val="B9D0DE"/>
                </a:solidFill>
                <a:latin typeface="Helvetica Neue"/>
                <a:ea typeface="Helvetica Neue"/>
                <a:cs typeface="Helvetica Neue"/>
              </a:defRPr>
            </a:lvl8pPr>
            <a:lvl9pPr>
              <a:defRPr sz="2400" b="0">
                <a:solidFill>
                  <a:srgbClr val="B9D0DE"/>
                </a:solidFill>
                <a:latin typeface="Helvetica Neue"/>
                <a:ea typeface="Helvetica Neue"/>
                <a:cs typeface="Helvetica Neue"/>
              </a:defRPr>
            </a:lvl9pPr>
          </a:lstStyle>
          <a:p xmlns:a="http://schemas.openxmlformats.org/drawingml/2006/main">
            <a:pPr>
              <a:defRPr sz="2400" b="0">
                <a:solidFill>
                  <a:srgbClr val="B9D0DE"/>
                </a:solidFill>
                <a:latin typeface="Helvetica Neue"/>
                <a:ea typeface="Helvetica Neue"/>
                <a:cs typeface="Helvetica Neue"/>
              </a:defRPr>
            </a:pPr>
            <a:r>
              <a:rPr sz="2400" b="0">
                <a:solidFill>
                  <a:srgbClr val="B9D0DE"/>
                </a:solidFill>
                <a:latin typeface="Helvetica Neue"/>
                <a:ea typeface="Helvetica Neue"/>
                <a:cs typeface="Helvetica Neue"/>
              </a:rPr>
              <a:t>A merchant support teammate for clearer cases</a:t>
            </a:r>
          </a:p>
          <a:p xmlns:a="http://schemas.openxmlformats.org/drawingml/2006/main">
            <a:pPr>
              <a:defRPr sz="2400" b="0">
                <a:solidFill>
                  <a:srgbClr val="B9D0DE"/>
                </a:solidFill>
                <a:latin typeface="Helvetica Neue"/>
                <a:ea typeface="Helvetica Neue"/>
                <a:cs typeface="Helvetica Neue"/>
              </a:defRPr>
            </a:pPr>
            <a:r>
              <a:rPr sz="2400" b="0">
                <a:solidFill>
                  <a:srgbClr val="B9D0DE"/>
                </a:solidFill>
                <a:latin typeface="Helvetica Neue"/>
                <a:ea typeface="Helvetica Neue"/>
                <a:cs typeface="Helvetica Neue"/>
              </a:rPr>
              <a:t>and reviewed handoffs</a:t>
            </a:r>
          </a:p>
        </p:txBody>
      </p:sp>
      <p:sp>
        <p:nvSpPr>
          <p:cNvPr id="6" name="">
            <a:extLst xmlns:a="http://schemas.openxmlformats.org/drawingml/2006/main">
              <a:ext uri="{FF2B5EF4-FFF2-40B4-BE49-F238E27FC236}">
                <a16:creationId xmlns:a16="http://schemas.microsoft.com/office/drawing/2014/main" id="{02063B97-2E3F-4661-BFE8-CF6AA3B6B709}"/>
              </a:ext>
            </a:extLst>
          </p:cNvPr>
          <p:cNvSpPr>
            <a:spLocks xmlns:a="http://schemas.openxmlformats.org/drawingml/2006/main" noGrp="1"/>
          </p:cNvSpPr>
          <p:nvPr/>
        </p:nvSpPr>
        <p:spPr>
          <a:xfrm xmlns:a="http://schemas.openxmlformats.org/drawingml/2006/main">
            <a:off x="723900" y="48387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Gowtham Ramachandra</a:t>
            </a:r>
          </a:p>
        </p:txBody>
      </p:sp>
      <p:sp>
        <p:nvSpPr>
          <p:cNvPr id="7" name="">
            <a:extLst xmlns:a="http://schemas.openxmlformats.org/drawingml/2006/main">
              <a:ext uri="{FF2B5EF4-FFF2-40B4-BE49-F238E27FC236}">
                <a16:creationId xmlns:a16="http://schemas.microsoft.com/office/drawing/2014/main" id="{D735FC82-7163-41E2-8390-C61E66074E76}"/>
              </a:ext>
            </a:extLst>
          </p:cNvPr>
          <p:cNvSpPr>
            <a:spLocks xmlns:a="http://schemas.openxmlformats.org/drawingml/2006/main" noGrp="1"/>
          </p:cNvSpPr>
          <p:nvPr/>
        </p:nvSpPr>
        <p:spPr>
          <a:xfrm xmlns:a="http://schemas.openxmlformats.org/drawingml/2006/main">
            <a:off x="723900" y="53435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9D0DE"/>
                </a:solidFill>
                <a:latin typeface="Helvetica Neue"/>
                <a:ea typeface="Helvetica Neue"/>
                <a:cs typeface="Helvetica Neue"/>
              </a:defRPr>
            </a:defPPr>
            <a:lvl1pPr>
              <a:defRPr sz="1800" b="0">
                <a:solidFill>
                  <a:srgbClr val="B9D0DE"/>
                </a:solidFill>
                <a:latin typeface="Helvetica Neue"/>
                <a:ea typeface="Helvetica Neue"/>
                <a:cs typeface="Helvetica Neue"/>
              </a:defRPr>
            </a:lvl1pPr>
            <a:lvl2pPr>
              <a:defRPr sz="1800" b="0">
                <a:solidFill>
                  <a:srgbClr val="B9D0DE"/>
                </a:solidFill>
                <a:latin typeface="Helvetica Neue"/>
                <a:ea typeface="Helvetica Neue"/>
                <a:cs typeface="Helvetica Neue"/>
              </a:defRPr>
            </a:lvl2pPr>
            <a:lvl3pPr>
              <a:defRPr sz="1800" b="0">
                <a:solidFill>
                  <a:srgbClr val="B9D0DE"/>
                </a:solidFill>
                <a:latin typeface="Helvetica Neue"/>
                <a:ea typeface="Helvetica Neue"/>
                <a:cs typeface="Helvetica Neue"/>
              </a:defRPr>
            </a:lvl3pPr>
            <a:lvl4pPr>
              <a:defRPr sz="1800" b="0">
                <a:solidFill>
                  <a:srgbClr val="B9D0DE"/>
                </a:solidFill>
                <a:latin typeface="Helvetica Neue"/>
                <a:ea typeface="Helvetica Neue"/>
                <a:cs typeface="Helvetica Neue"/>
              </a:defRPr>
            </a:lvl4pPr>
            <a:lvl5pPr>
              <a:defRPr sz="1800" b="0">
                <a:solidFill>
                  <a:srgbClr val="B9D0DE"/>
                </a:solidFill>
                <a:latin typeface="Helvetica Neue"/>
                <a:ea typeface="Helvetica Neue"/>
                <a:cs typeface="Helvetica Neue"/>
              </a:defRPr>
            </a:lvl5pPr>
            <a:lvl6pPr>
              <a:defRPr sz="1800" b="0">
                <a:solidFill>
                  <a:srgbClr val="B9D0DE"/>
                </a:solidFill>
                <a:latin typeface="Helvetica Neue"/>
                <a:ea typeface="Helvetica Neue"/>
                <a:cs typeface="Helvetica Neue"/>
              </a:defRPr>
            </a:lvl6pPr>
            <a:lvl7pPr>
              <a:defRPr sz="1800" b="0">
                <a:solidFill>
                  <a:srgbClr val="B9D0DE"/>
                </a:solidFill>
                <a:latin typeface="Helvetica Neue"/>
                <a:ea typeface="Helvetica Neue"/>
                <a:cs typeface="Helvetica Neue"/>
              </a:defRPr>
            </a:lvl7pPr>
            <a:lvl8pPr>
              <a:defRPr sz="1800" b="0">
                <a:solidFill>
                  <a:srgbClr val="B9D0DE"/>
                </a:solidFill>
                <a:latin typeface="Helvetica Neue"/>
                <a:ea typeface="Helvetica Neue"/>
                <a:cs typeface="Helvetica Neue"/>
              </a:defRPr>
            </a:lvl8pPr>
            <a:lvl9pPr>
              <a:defRPr sz="1800" b="0">
                <a:solidFill>
                  <a:srgbClr val="B9D0DE"/>
                </a:solidFill>
                <a:latin typeface="Helvetica Neue"/>
                <a:ea typeface="Helvetica Neue"/>
                <a:cs typeface="Helvetica Neue"/>
              </a:defRPr>
            </a:lvl9pPr>
          </a:lstStyle>
          <a:p xmlns:a="http://schemas.openxmlformats.org/drawingml/2006/main">
            <a:pPr>
              <a:defRPr sz="1800" b="0">
                <a:solidFill>
                  <a:srgbClr val="B9D0DE"/>
                </a:solidFill>
                <a:latin typeface="Helvetica Neue"/>
                <a:ea typeface="Helvetica Neue"/>
                <a:cs typeface="Helvetica Neue"/>
              </a:defRPr>
            </a:pPr>
            <a:r>
              <a:rPr sz="1800" b="0">
                <a:solidFill>
                  <a:srgbClr val="B9D0DE"/>
                </a:solidFill>
                <a:latin typeface="Helvetica Neue"/>
                <a:ea typeface="Helvetica Neue"/>
                <a:cs typeface="Helvetica Neue"/>
              </a:rPr>
              <a:t>Solo participant / Track 3: Autonomous AI Teammates</a:t>
            </a:r>
          </a:p>
        </p:txBody>
      </p:sp>
      <p:sp>
        <p:nvSpPr>
          <p:cNvPr id="8" name="">
            <a:extLst xmlns:a="http://schemas.openxmlformats.org/drawingml/2006/main">
              <a:ext uri="{FF2B5EF4-FFF2-40B4-BE49-F238E27FC236}">
                <a16:creationId xmlns:a16="http://schemas.microsoft.com/office/drawing/2014/main" id="{69092AAD-D138-4698-B407-06699B22B4B2}"/>
              </a:ext>
            </a:extLst>
          </p:cNvPr>
          <p:cNvSpPr>
            <a:spLocks xmlns:a="http://schemas.openxmlformats.org/drawingml/2006/main" noGrp="1"/>
          </p:cNvSpPr>
          <p:nvPr/>
        </p:nvSpPr>
        <p:spPr>
          <a:xfrm xmlns:a="http://schemas.openxmlformats.org/drawingml/2006/main">
            <a:off x="723900" y="59055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00A9D6"/>
                </a:solidFill>
                <a:latin typeface="Helvetica Neue"/>
                <a:ea typeface="Helvetica Neue"/>
                <a:cs typeface="Helvetica Neue"/>
              </a:defRPr>
            </a:defPPr>
            <a:lvl1pPr>
              <a:defRPr sz="1650" b="1">
                <a:solidFill>
                  <a:srgbClr val="00A9D6"/>
                </a:solidFill>
                <a:latin typeface="Helvetica Neue"/>
                <a:ea typeface="Helvetica Neue"/>
                <a:cs typeface="Helvetica Neue"/>
              </a:defRPr>
            </a:lvl1pPr>
            <a:lvl2pPr>
              <a:defRPr sz="1650" b="1">
                <a:solidFill>
                  <a:srgbClr val="00A9D6"/>
                </a:solidFill>
                <a:latin typeface="Helvetica Neue"/>
                <a:ea typeface="Helvetica Neue"/>
                <a:cs typeface="Helvetica Neue"/>
              </a:defRPr>
            </a:lvl2pPr>
            <a:lvl3pPr>
              <a:defRPr sz="1650" b="1">
                <a:solidFill>
                  <a:srgbClr val="00A9D6"/>
                </a:solidFill>
                <a:latin typeface="Helvetica Neue"/>
                <a:ea typeface="Helvetica Neue"/>
                <a:cs typeface="Helvetica Neue"/>
              </a:defRPr>
            </a:lvl3pPr>
            <a:lvl4pPr>
              <a:defRPr sz="1650" b="1">
                <a:solidFill>
                  <a:srgbClr val="00A9D6"/>
                </a:solidFill>
                <a:latin typeface="Helvetica Neue"/>
                <a:ea typeface="Helvetica Neue"/>
                <a:cs typeface="Helvetica Neue"/>
              </a:defRPr>
            </a:lvl4pPr>
            <a:lvl5pPr>
              <a:defRPr sz="1650" b="1">
                <a:solidFill>
                  <a:srgbClr val="00A9D6"/>
                </a:solidFill>
                <a:latin typeface="Helvetica Neue"/>
                <a:ea typeface="Helvetica Neue"/>
                <a:cs typeface="Helvetica Neue"/>
              </a:defRPr>
            </a:lvl5pPr>
            <a:lvl6pPr>
              <a:defRPr sz="1650" b="1">
                <a:solidFill>
                  <a:srgbClr val="00A9D6"/>
                </a:solidFill>
                <a:latin typeface="Helvetica Neue"/>
                <a:ea typeface="Helvetica Neue"/>
                <a:cs typeface="Helvetica Neue"/>
              </a:defRPr>
            </a:lvl6pPr>
            <a:lvl7pPr>
              <a:defRPr sz="1650" b="1">
                <a:solidFill>
                  <a:srgbClr val="00A9D6"/>
                </a:solidFill>
                <a:latin typeface="Helvetica Neue"/>
                <a:ea typeface="Helvetica Neue"/>
                <a:cs typeface="Helvetica Neue"/>
              </a:defRPr>
            </a:lvl7pPr>
            <a:lvl8pPr>
              <a:defRPr sz="1650" b="1">
                <a:solidFill>
                  <a:srgbClr val="00A9D6"/>
                </a:solidFill>
                <a:latin typeface="Helvetica Neue"/>
                <a:ea typeface="Helvetica Neue"/>
                <a:cs typeface="Helvetica Neue"/>
              </a:defRPr>
            </a:lvl8pPr>
            <a:lvl9pPr>
              <a:defRPr sz="1650" b="1">
                <a:solidFill>
                  <a:srgbClr val="00A9D6"/>
                </a:solidFill>
                <a:latin typeface="Helvetica Neue"/>
                <a:ea typeface="Helvetica Neue"/>
                <a:cs typeface="Helvetica Neue"/>
              </a:defRPr>
            </a:lvl9pPr>
          </a:lstStyle>
          <a:p xmlns:a="http://schemas.openxmlformats.org/drawingml/2006/main">
            <a:pPr>
              <a:defRPr sz="1650" b="1">
                <a:solidFill>
                  <a:srgbClr val="00A9D6"/>
                </a:solidFill>
                <a:latin typeface="Helvetica Neue"/>
                <a:ea typeface="Helvetica Neue"/>
                <a:cs typeface="Helvetica Neue"/>
              </a:defRPr>
            </a:pPr>
            <a:r>
              <a:rPr u="sng">
                <a:solidFill>
                  <a:srgbClr val="00A9D6"/>
                </a:solidFill>
                <a:latin typeface="Helvetica Neue"/>
                <a:ea typeface="Helvetica Neue"/>
                <a:cs typeface="Helvetica Neue"/>
                <a:hlinkClick xmlns:r="http://schemas.openxmlformats.org/officeDocument/2006/relationships" r:id="R19cdbec8e56e42d2"/>
              </a:rPr>
              <a:t>Working prototype</a:t>
            </a:r>
          </a:p>
        </p:txBody>
      </p:sp>
      <p:sp>
        <p:nvSpPr>
          <p:cNvPr id="9" name="">
            <a:extLst xmlns:a="http://schemas.openxmlformats.org/drawingml/2006/main">
              <a:ext uri="{FF2B5EF4-FFF2-40B4-BE49-F238E27FC236}">
                <a16:creationId xmlns:a16="http://schemas.microsoft.com/office/drawing/2014/main" id="{5827EF73-F90F-4F28-B14F-65381D6707A7}"/>
              </a:ext>
            </a:extLst>
          </p:cNvPr>
          <p:cNvSpPr>
            <a:spLocks xmlns:a="http://schemas.openxmlformats.org/drawingml/2006/main" noGrp="1"/>
          </p:cNvSpPr>
          <p:nvPr/>
        </p:nvSpPr>
        <p:spPr>
          <a:xfrm xmlns:a="http://schemas.openxmlformats.org/drawingml/2006/main">
            <a:off x="3714750" y="59055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00A9D6"/>
                </a:solidFill>
                <a:latin typeface="Helvetica Neue"/>
                <a:ea typeface="Helvetica Neue"/>
                <a:cs typeface="Helvetica Neue"/>
              </a:defRPr>
            </a:defPPr>
            <a:lvl1pPr>
              <a:defRPr sz="1650" b="1">
                <a:solidFill>
                  <a:srgbClr val="00A9D6"/>
                </a:solidFill>
                <a:latin typeface="Helvetica Neue"/>
                <a:ea typeface="Helvetica Neue"/>
                <a:cs typeface="Helvetica Neue"/>
              </a:defRPr>
            </a:lvl1pPr>
            <a:lvl2pPr>
              <a:defRPr sz="1650" b="1">
                <a:solidFill>
                  <a:srgbClr val="00A9D6"/>
                </a:solidFill>
                <a:latin typeface="Helvetica Neue"/>
                <a:ea typeface="Helvetica Neue"/>
                <a:cs typeface="Helvetica Neue"/>
              </a:defRPr>
            </a:lvl2pPr>
            <a:lvl3pPr>
              <a:defRPr sz="1650" b="1">
                <a:solidFill>
                  <a:srgbClr val="00A9D6"/>
                </a:solidFill>
                <a:latin typeface="Helvetica Neue"/>
                <a:ea typeface="Helvetica Neue"/>
                <a:cs typeface="Helvetica Neue"/>
              </a:defRPr>
            </a:lvl3pPr>
            <a:lvl4pPr>
              <a:defRPr sz="1650" b="1">
                <a:solidFill>
                  <a:srgbClr val="00A9D6"/>
                </a:solidFill>
                <a:latin typeface="Helvetica Neue"/>
                <a:ea typeface="Helvetica Neue"/>
                <a:cs typeface="Helvetica Neue"/>
              </a:defRPr>
            </a:lvl4pPr>
            <a:lvl5pPr>
              <a:defRPr sz="1650" b="1">
                <a:solidFill>
                  <a:srgbClr val="00A9D6"/>
                </a:solidFill>
                <a:latin typeface="Helvetica Neue"/>
                <a:ea typeface="Helvetica Neue"/>
                <a:cs typeface="Helvetica Neue"/>
              </a:defRPr>
            </a:lvl5pPr>
            <a:lvl6pPr>
              <a:defRPr sz="1650" b="1">
                <a:solidFill>
                  <a:srgbClr val="00A9D6"/>
                </a:solidFill>
                <a:latin typeface="Helvetica Neue"/>
                <a:ea typeface="Helvetica Neue"/>
                <a:cs typeface="Helvetica Neue"/>
              </a:defRPr>
            </a:lvl6pPr>
            <a:lvl7pPr>
              <a:defRPr sz="1650" b="1">
                <a:solidFill>
                  <a:srgbClr val="00A9D6"/>
                </a:solidFill>
                <a:latin typeface="Helvetica Neue"/>
                <a:ea typeface="Helvetica Neue"/>
                <a:cs typeface="Helvetica Neue"/>
              </a:defRPr>
            </a:lvl7pPr>
            <a:lvl8pPr>
              <a:defRPr sz="1650" b="1">
                <a:solidFill>
                  <a:srgbClr val="00A9D6"/>
                </a:solidFill>
                <a:latin typeface="Helvetica Neue"/>
                <a:ea typeface="Helvetica Neue"/>
                <a:cs typeface="Helvetica Neue"/>
              </a:defRPr>
            </a:lvl8pPr>
            <a:lvl9pPr>
              <a:defRPr sz="1650" b="1">
                <a:solidFill>
                  <a:srgbClr val="00A9D6"/>
                </a:solidFill>
                <a:latin typeface="Helvetica Neue"/>
                <a:ea typeface="Helvetica Neue"/>
                <a:cs typeface="Helvetica Neue"/>
              </a:defRPr>
            </a:lvl9pPr>
          </a:lstStyle>
          <a:p xmlns:a="http://schemas.openxmlformats.org/drawingml/2006/main">
            <a:pPr>
              <a:defRPr sz="1650" b="1">
                <a:solidFill>
                  <a:srgbClr val="00A9D6"/>
                </a:solidFill>
                <a:latin typeface="Helvetica Neue"/>
                <a:ea typeface="Helvetica Neue"/>
                <a:cs typeface="Helvetica Neue"/>
              </a:defRPr>
            </a:pPr>
            <a:r>
              <a:rPr u="sng">
                <a:solidFill>
                  <a:srgbClr val="00A9D6"/>
                </a:solidFill>
                <a:latin typeface="Helvetica Neue"/>
                <a:ea typeface="Helvetica Neue"/>
                <a:cs typeface="Helvetica Neue"/>
                <a:hlinkClick xmlns:r="http://schemas.openxmlformats.org/officeDocument/2006/relationships" r:id="R59f456cc5c674fa8"/>
              </a:rPr>
              <a:t>Public source</a:t>
            </a:r>
          </a:p>
        </p:txBody>
      </p:sp>
    </p:spTree>
    <p:extLst>
      <p:ext uri="{BB962C8B-B14F-4D97-AF65-F5344CB8AC3E}">
        <p14:creationId xmlns:p14="http://schemas.microsoft.com/office/powerpoint/2010/main" val="506278355"/>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4C7FF1-634B-4366-82AD-54B3B23DE0CF}"/>
              </a:ext>
            </a:extLst>
          </p:cNvPr>
          <p:cNvSpPr>
            <a:spLocks xmlns:a="http://schemas.openxmlformats.org/drawingml/2006/main" noGrp="1"/>
          </p:cNvSpPr>
          <p:nvPr/>
        </p:nvSpPr>
        <p:spPr>
          <a:xfrm xmlns:a="http://schemas.openxmlformats.org/drawingml/2006/main">
            <a:off x="685800" y="5143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02F43"/>
                </a:solidFill>
                <a:latin typeface="Helvetica Neue"/>
                <a:ea typeface="Helvetica Neue"/>
                <a:cs typeface="Helvetica Neue"/>
              </a:defRPr>
            </a:defPPr>
            <a:lvl1pPr>
              <a:defRPr sz="3450" b="1">
                <a:solidFill>
                  <a:srgbClr val="102F43"/>
                </a:solidFill>
                <a:latin typeface="Helvetica Neue"/>
                <a:ea typeface="Helvetica Neue"/>
                <a:cs typeface="Helvetica Neue"/>
              </a:defRPr>
            </a:lvl1pPr>
            <a:lvl2pPr>
              <a:defRPr sz="3450" b="1">
                <a:solidFill>
                  <a:srgbClr val="102F43"/>
                </a:solidFill>
                <a:latin typeface="Helvetica Neue"/>
                <a:ea typeface="Helvetica Neue"/>
                <a:cs typeface="Helvetica Neue"/>
              </a:defRPr>
            </a:lvl2pPr>
            <a:lvl3pPr>
              <a:defRPr sz="3450" b="1">
                <a:solidFill>
                  <a:srgbClr val="102F43"/>
                </a:solidFill>
                <a:latin typeface="Helvetica Neue"/>
                <a:ea typeface="Helvetica Neue"/>
                <a:cs typeface="Helvetica Neue"/>
              </a:defRPr>
            </a:lvl3pPr>
            <a:lvl4pPr>
              <a:defRPr sz="3450" b="1">
                <a:solidFill>
                  <a:srgbClr val="102F43"/>
                </a:solidFill>
                <a:latin typeface="Helvetica Neue"/>
                <a:ea typeface="Helvetica Neue"/>
                <a:cs typeface="Helvetica Neue"/>
              </a:defRPr>
            </a:lvl4pPr>
            <a:lvl5pPr>
              <a:defRPr sz="3450" b="1">
                <a:solidFill>
                  <a:srgbClr val="102F43"/>
                </a:solidFill>
                <a:latin typeface="Helvetica Neue"/>
                <a:ea typeface="Helvetica Neue"/>
                <a:cs typeface="Helvetica Neue"/>
              </a:defRPr>
            </a:lvl5pPr>
            <a:lvl6pPr>
              <a:defRPr sz="3450" b="1">
                <a:solidFill>
                  <a:srgbClr val="102F43"/>
                </a:solidFill>
                <a:latin typeface="Helvetica Neue"/>
                <a:ea typeface="Helvetica Neue"/>
                <a:cs typeface="Helvetica Neue"/>
              </a:defRPr>
            </a:lvl6pPr>
            <a:lvl7pPr>
              <a:defRPr sz="3450" b="1">
                <a:solidFill>
                  <a:srgbClr val="102F43"/>
                </a:solidFill>
                <a:latin typeface="Helvetica Neue"/>
                <a:ea typeface="Helvetica Neue"/>
                <a:cs typeface="Helvetica Neue"/>
              </a:defRPr>
            </a:lvl7pPr>
            <a:lvl8pPr>
              <a:defRPr sz="3450" b="1">
                <a:solidFill>
                  <a:srgbClr val="102F43"/>
                </a:solidFill>
                <a:latin typeface="Helvetica Neue"/>
                <a:ea typeface="Helvetica Neue"/>
                <a:cs typeface="Helvetica Neue"/>
              </a:defRPr>
            </a:lvl8pPr>
            <a:lvl9pPr>
              <a:defRPr sz="3450" b="1">
                <a:solidFill>
                  <a:srgbClr val="102F43"/>
                </a:solidFill>
                <a:latin typeface="Helvetica Neue"/>
                <a:ea typeface="Helvetica Neue"/>
                <a:cs typeface="Helvetica Neue"/>
              </a:defRPr>
            </a:lvl9pPr>
          </a:lstStyle>
          <a:p xmlns:a="http://schemas.openxmlformats.org/drawingml/2006/main">
            <a:pPr>
              <a:defRPr sz="3450" b="1">
                <a:solidFill>
                  <a:srgbClr val="102F43"/>
                </a:solidFill>
                <a:latin typeface="Helvetica Neue"/>
                <a:ea typeface="Helvetica Neue"/>
                <a:cs typeface="Helvetica Neue"/>
              </a:defRPr>
            </a:pPr>
            <a:r>
              <a:rPr sz="3450" b="1">
                <a:solidFill>
                  <a:srgbClr val="102F43"/>
                </a:solidFill>
                <a:latin typeface="Helvetica Neue"/>
                <a:ea typeface="Helvetica Neue"/>
                <a:cs typeface="Helvetica Neue"/>
              </a:rPr>
              <a:t>Problem: unclear evidence and repeated explanations</a:t>
            </a:r>
          </a:p>
        </p:txBody>
      </p:sp>
      <p:sp>
        <p:nvSpPr>
          <p:cNvPr id="2" name="">
            <a:extLst xmlns:a="http://schemas.openxmlformats.org/drawingml/2006/main">
              <a:ext uri="{FF2B5EF4-FFF2-40B4-BE49-F238E27FC236}">
                <a16:creationId xmlns:a16="http://schemas.microsoft.com/office/drawing/2014/main" id="{9C7D8E67-121C-45CD-8AAF-FA69597E2D49}"/>
              </a:ext>
            </a:extLst>
          </p:cNvPr>
          <p:cNvSpPr>
            <a:spLocks xmlns:a="http://schemas.openxmlformats.org/drawingml/2006/main" noGrp="1"/>
          </p:cNvSpPr>
          <p:nvPr/>
        </p:nvSpPr>
        <p:spPr>
          <a:xfrm xmlns:a="http://schemas.openxmlformats.org/drawingml/2006/main">
            <a:off x="685800" y="64865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defRPr sz="1200" b="0">
                <a:solidFill>
                  <a:srgbClr val="526B7C"/>
                </a:solidFill>
                <a:latin typeface="Helvetica Neue"/>
                <a:ea typeface="Helvetica Neue"/>
                <a:cs typeface="Helvetica Neue"/>
              </a:defRPr>
            </a:lvl1pPr>
            <a:lvl2pPr>
              <a:defRPr sz="1200" b="0">
                <a:solidFill>
                  <a:srgbClr val="526B7C"/>
                </a:solidFill>
                <a:latin typeface="Helvetica Neue"/>
                <a:ea typeface="Helvetica Neue"/>
                <a:cs typeface="Helvetica Neue"/>
              </a:defRPr>
            </a:lvl2pPr>
            <a:lvl3pPr>
              <a:defRPr sz="1200" b="0">
                <a:solidFill>
                  <a:srgbClr val="526B7C"/>
                </a:solidFill>
                <a:latin typeface="Helvetica Neue"/>
                <a:ea typeface="Helvetica Neue"/>
                <a:cs typeface="Helvetica Neue"/>
              </a:defRPr>
            </a:lvl3pPr>
            <a:lvl4pPr>
              <a:defRPr sz="1200" b="0">
                <a:solidFill>
                  <a:srgbClr val="526B7C"/>
                </a:solidFill>
                <a:latin typeface="Helvetica Neue"/>
                <a:ea typeface="Helvetica Neue"/>
                <a:cs typeface="Helvetica Neue"/>
              </a:defRPr>
            </a:lvl4pPr>
            <a:lvl5pPr>
              <a:defRPr sz="1200" b="0">
                <a:solidFill>
                  <a:srgbClr val="526B7C"/>
                </a:solidFill>
                <a:latin typeface="Helvetica Neue"/>
                <a:ea typeface="Helvetica Neue"/>
                <a:cs typeface="Helvetica Neue"/>
              </a:defRPr>
            </a:lvl5pPr>
            <a:lvl6pPr>
              <a:defRPr sz="1200" b="0">
                <a:solidFill>
                  <a:srgbClr val="526B7C"/>
                </a:solidFill>
                <a:latin typeface="Helvetica Neue"/>
                <a:ea typeface="Helvetica Neue"/>
                <a:cs typeface="Helvetica Neue"/>
              </a:defRPr>
            </a:lvl6pPr>
            <a:lvl7pPr>
              <a:defRPr sz="1200" b="0">
                <a:solidFill>
                  <a:srgbClr val="526B7C"/>
                </a:solidFill>
                <a:latin typeface="Helvetica Neue"/>
                <a:ea typeface="Helvetica Neue"/>
                <a:cs typeface="Helvetica Neue"/>
              </a:defRPr>
            </a:lvl7pPr>
            <a:lvl8pPr>
              <a:defRPr sz="1200" b="0">
                <a:solidFill>
                  <a:srgbClr val="526B7C"/>
                </a:solidFill>
                <a:latin typeface="Helvetica Neue"/>
                <a:ea typeface="Helvetica Neue"/>
                <a:cs typeface="Helvetica Neue"/>
              </a:defRPr>
            </a:lvl8pPr>
            <a:lvl9pPr>
              <a:defRPr sz="1200" b="0">
                <a:solidFill>
                  <a:srgbClr val="526B7C"/>
                </a:solidFill>
                <a:latin typeface="Helvetica Neue"/>
                <a:ea typeface="Helvetica Neue"/>
                <a:cs typeface="Helvetica Neue"/>
              </a:defRPr>
            </a:lvl9pPr>
          </a:lstStyle>
          <a:p xmlns:a="http://schemas.openxmlformats.org/drawingml/2006/main">
            <a:pPr>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MerchantLens / Paytm Build for India / Stage 1</a:t>
            </a:r>
          </a:p>
        </p:txBody>
      </p:sp>
      <p:sp>
        <p:nvSpPr>
          <p:cNvPr id="3" name="">
            <a:extLst xmlns:a="http://schemas.openxmlformats.org/drawingml/2006/main">
              <a:ext uri="{FF2B5EF4-FFF2-40B4-BE49-F238E27FC236}">
                <a16:creationId xmlns:a16="http://schemas.microsoft.com/office/drawing/2014/main" id="{2DEAF9E0-1E75-4C9D-BC74-3C8922C05DBA}"/>
              </a:ext>
            </a:extLst>
          </p:cNvPr>
          <p:cNvSpPr>
            <a:spLocks xmlns:a="http://schemas.openxmlformats.org/drawingml/2006/main" noGrp="1"/>
          </p:cNvSpPr>
          <p:nvPr/>
        </p:nvSpPr>
        <p:spPr>
          <a:xfrm xmlns:a="http://schemas.openxmlformats.org/drawingml/2006/main">
            <a:off x="10953750" y="648652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defRPr sz="1200" b="0">
                <a:solidFill>
                  <a:srgbClr val="526B7C"/>
                </a:solidFill>
                <a:latin typeface="Helvetica Neue"/>
                <a:ea typeface="Helvetica Neue"/>
                <a:cs typeface="Helvetica Neue"/>
              </a:defRPr>
            </a:lvl1pPr>
            <a:lvl2pPr>
              <a:defRPr sz="1200" b="0">
                <a:solidFill>
                  <a:srgbClr val="526B7C"/>
                </a:solidFill>
                <a:latin typeface="Helvetica Neue"/>
                <a:ea typeface="Helvetica Neue"/>
                <a:cs typeface="Helvetica Neue"/>
              </a:defRPr>
            </a:lvl2pPr>
            <a:lvl3pPr>
              <a:defRPr sz="1200" b="0">
                <a:solidFill>
                  <a:srgbClr val="526B7C"/>
                </a:solidFill>
                <a:latin typeface="Helvetica Neue"/>
                <a:ea typeface="Helvetica Neue"/>
                <a:cs typeface="Helvetica Neue"/>
              </a:defRPr>
            </a:lvl3pPr>
            <a:lvl4pPr>
              <a:defRPr sz="1200" b="0">
                <a:solidFill>
                  <a:srgbClr val="526B7C"/>
                </a:solidFill>
                <a:latin typeface="Helvetica Neue"/>
                <a:ea typeface="Helvetica Neue"/>
                <a:cs typeface="Helvetica Neue"/>
              </a:defRPr>
            </a:lvl4pPr>
            <a:lvl5pPr>
              <a:defRPr sz="1200" b="0">
                <a:solidFill>
                  <a:srgbClr val="526B7C"/>
                </a:solidFill>
                <a:latin typeface="Helvetica Neue"/>
                <a:ea typeface="Helvetica Neue"/>
                <a:cs typeface="Helvetica Neue"/>
              </a:defRPr>
            </a:lvl5pPr>
            <a:lvl6pPr>
              <a:defRPr sz="1200" b="0">
                <a:solidFill>
                  <a:srgbClr val="526B7C"/>
                </a:solidFill>
                <a:latin typeface="Helvetica Neue"/>
                <a:ea typeface="Helvetica Neue"/>
                <a:cs typeface="Helvetica Neue"/>
              </a:defRPr>
            </a:lvl6pPr>
            <a:lvl7pPr>
              <a:defRPr sz="1200" b="0">
                <a:solidFill>
                  <a:srgbClr val="526B7C"/>
                </a:solidFill>
                <a:latin typeface="Helvetica Neue"/>
                <a:ea typeface="Helvetica Neue"/>
                <a:cs typeface="Helvetica Neue"/>
              </a:defRPr>
            </a:lvl7pPr>
            <a:lvl8pPr>
              <a:defRPr sz="1200" b="0">
                <a:solidFill>
                  <a:srgbClr val="526B7C"/>
                </a:solidFill>
                <a:latin typeface="Helvetica Neue"/>
                <a:ea typeface="Helvetica Neue"/>
                <a:cs typeface="Helvetica Neue"/>
              </a:defRPr>
            </a:lvl8pPr>
            <a:lvl9pPr>
              <a:defRPr sz="1200" b="0">
                <a:solidFill>
                  <a:srgbClr val="526B7C"/>
                </a:solidFill>
                <a:latin typeface="Helvetica Neue"/>
                <a:ea typeface="Helvetica Neue"/>
                <a:cs typeface="Helvetica Neue"/>
              </a:defRPr>
            </a:lvl9pPr>
          </a:lstStyle>
          <a:p xmlns:a="http://schemas.openxmlformats.org/drawingml/2006/main">
            <a:pPr>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2/7</a:t>
            </a:r>
          </a:p>
        </p:txBody>
      </p:sp>
      <p:sp>
        <p:nvSpPr>
          <p:cNvPr id="4" name="">
            <a:extLst xmlns:a="http://schemas.openxmlformats.org/drawingml/2006/main">
              <a:ext uri="{FF2B5EF4-FFF2-40B4-BE49-F238E27FC236}">
                <a16:creationId xmlns:a16="http://schemas.microsoft.com/office/drawing/2014/main" id="{EE0C6159-B0CF-4461-8945-36C00F4331C9}"/>
              </a:ext>
            </a:extLst>
          </p:cNvPr>
          <p:cNvSpPr>
            <a:spLocks xmlns:a="http://schemas.openxmlformats.org/drawingml/2006/main" noGrp="1"/>
          </p:cNvSpPr>
          <p:nvPr/>
        </p:nvSpPr>
        <p:spPr>
          <a:xfrm xmlns:a="http://schemas.openxmlformats.org/drawingml/2006/main">
            <a:off x="704850" y="15430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102F43"/>
                </a:solidFill>
                <a:latin typeface="Helvetica Neue"/>
                <a:ea typeface="Helvetica Neue"/>
                <a:cs typeface="Helvetica Neue"/>
              </a:defRPr>
            </a:defPPr>
            <a:lvl1pPr>
              <a:defRPr sz="2625" b="1">
                <a:solidFill>
                  <a:srgbClr val="102F43"/>
                </a:solidFill>
                <a:latin typeface="Helvetica Neue"/>
                <a:ea typeface="Helvetica Neue"/>
                <a:cs typeface="Helvetica Neue"/>
              </a:defRPr>
            </a:lvl1pPr>
            <a:lvl2pPr>
              <a:defRPr sz="2625" b="1">
                <a:solidFill>
                  <a:srgbClr val="102F43"/>
                </a:solidFill>
                <a:latin typeface="Helvetica Neue"/>
                <a:ea typeface="Helvetica Neue"/>
                <a:cs typeface="Helvetica Neue"/>
              </a:defRPr>
            </a:lvl2pPr>
            <a:lvl3pPr>
              <a:defRPr sz="2625" b="1">
                <a:solidFill>
                  <a:srgbClr val="102F43"/>
                </a:solidFill>
                <a:latin typeface="Helvetica Neue"/>
                <a:ea typeface="Helvetica Neue"/>
                <a:cs typeface="Helvetica Neue"/>
              </a:defRPr>
            </a:lvl3pPr>
            <a:lvl4pPr>
              <a:defRPr sz="2625" b="1">
                <a:solidFill>
                  <a:srgbClr val="102F43"/>
                </a:solidFill>
                <a:latin typeface="Helvetica Neue"/>
                <a:ea typeface="Helvetica Neue"/>
                <a:cs typeface="Helvetica Neue"/>
              </a:defRPr>
            </a:lvl4pPr>
            <a:lvl5pPr>
              <a:defRPr sz="2625" b="1">
                <a:solidFill>
                  <a:srgbClr val="102F43"/>
                </a:solidFill>
                <a:latin typeface="Helvetica Neue"/>
                <a:ea typeface="Helvetica Neue"/>
                <a:cs typeface="Helvetica Neue"/>
              </a:defRPr>
            </a:lvl5pPr>
            <a:lvl6pPr>
              <a:defRPr sz="2625" b="1">
                <a:solidFill>
                  <a:srgbClr val="102F43"/>
                </a:solidFill>
                <a:latin typeface="Helvetica Neue"/>
                <a:ea typeface="Helvetica Neue"/>
                <a:cs typeface="Helvetica Neue"/>
              </a:defRPr>
            </a:lvl6pPr>
            <a:lvl7pPr>
              <a:defRPr sz="2625" b="1">
                <a:solidFill>
                  <a:srgbClr val="102F43"/>
                </a:solidFill>
                <a:latin typeface="Helvetica Neue"/>
                <a:ea typeface="Helvetica Neue"/>
                <a:cs typeface="Helvetica Neue"/>
              </a:defRPr>
            </a:lvl7pPr>
            <a:lvl8pPr>
              <a:defRPr sz="2625" b="1">
                <a:solidFill>
                  <a:srgbClr val="102F43"/>
                </a:solidFill>
                <a:latin typeface="Helvetica Neue"/>
                <a:ea typeface="Helvetica Neue"/>
                <a:cs typeface="Helvetica Neue"/>
              </a:defRPr>
            </a:lvl8pPr>
            <a:lvl9pPr>
              <a:defRPr sz="2625" b="1">
                <a:solidFill>
                  <a:srgbClr val="102F43"/>
                </a:solidFill>
                <a:latin typeface="Helvetica Neue"/>
                <a:ea typeface="Helvetica Neue"/>
                <a:cs typeface="Helvetica Neue"/>
              </a:defRPr>
            </a:lvl9pPr>
          </a:lstStyle>
          <a:p xmlns:a="http://schemas.openxmlformats.org/drawingml/2006/main">
            <a:pPr>
              <a:defRPr sz="2625" b="1">
                <a:solidFill>
                  <a:srgbClr val="102F43"/>
                </a:solidFill>
                <a:latin typeface="Helvetica Neue"/>
                <a:ea typeface="Helvetica Neue"/>
                <a:cs typeface="Helvetica Neue"/>
              </a:defRPr>
            </a:pPr>
            <a:r>
              <a:rPr sz="2625" b="1">
                <a:solidFill>
                  <a:srgbClr val="102F43"/>
                </a:solidFill>
                <a:latin typeface="Helvetica Neue"/>
                <a:ea typeface="Helvetica Neue"/>
                <a:cs typeface="Helvetica Neue"/>
              </a:rPr>
              <a:t>“The customer paid, but my Soundbox stayed silent.”</a:t>
            </a:r>
          </a:p>
        </p:txBody>
      </p:sp>
      <p:sp>
        <p:nvSpPr>
          <p:cNvPr id="5" name="">
            <a:extLst xmlns:a="http://schemas.openxmlformats.org/drawingml/2006/main">
              <a:ext uri="{FF2B5EF4-FFF2-40B4-BE49-F238E27FC236}">
                <a16:creationId xmlns:a16="http://schemas.microsoft.com/office/drawing/2014/main" id="{8349B409-1C2F-41A0-AD1E-3B6ADBAD3E88}"/>
              </a:ext>
            </a:extLst>
          </p:cNvPr>
          <p:cNvSpPr>
            <a:spLocks xmlns:a="http://schemas.openxmlformats.org/drawingml/2006/main" noGrp="1"/>
          </p:cNvSpPr>
          <p:nvPr/>
        </p:nvSpPr>
        <p:spPr>
          <a:xfrm xmlns:a="http://schemas.openxmlformats.org/drawingml/2006/main">
            <a:off x="704850" y="2619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Three separate questions</a:t>
            </a:r>
          </a:p>
        </p:txBody>
      </p:sp>
      <p:sp>
        <p:nvSpPr>
          <p:cNvPr id="6" name="">
            <a:extLst xmlns:a="http://schemas.openxmlformats.org/drawingml/2006/main">
              <a:ext uri="{FF2B5EF4-FFF2-40B4-BE49-F238E27FC236}">
                <a16:creationId xmlns:a16="http://schemas.microsoft.com/office/drawing/2014/main" id="{BB1CCD6F-9B35-499B-8542-641A36460AB9}"/>
              </a:ext>
            </a:extLst>
          </p:cNvPr>
          <p:cNvSpPr>
            <a:spLocks xmlns:a="http://schemas.openxmlformats.org/drawingml/2006/main" noGrp="1"/>
          </p:cNvSpPr>
          <p:nvPr/>
        </p:nvSpPr>
        <p:spPr>
          <a:xfrm xmlns:a="http://schemas.openxmlformats.org/drawingml/2006/main">
            <a:off x="704850" y="309562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Did the app record the payment?</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Was bank settlement checked?</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Did the device announce it?</a:t>
            </a:r>
          </a:p>
        </p:txBody>
      </p:sp>
      <p:sp>
        <p:nvSpPr>
          <p:cNvPr id="7" name="">
            <a:extLst xmlns:a="http://schemas.openxmlformats.org/drawingml/2006/main">
              <a:ext uri="{FF2B5EF4-FFF2-40B4-BE49-F238E27FC236}">
                <a16:creationId xmlns:a16="http://schemas.microsoft.com/office/drawing/2014/main" id="{6DA1DF5B-62A3-454D-8F28-9DF2EA0AFD51}"/>
              </a:ext>
            </a:extLst>
          </p:cNvPr>
          <p:cNvSpPr>
            <a:spLocks xmlns:a="http://schemas.openxmlformats.org/drawingml/2006/main" noGrp="1"/>
          </p:cNvSpPr>
          <p:nvPr/>
        </p:nvSpPr>
        <p:spPr>
          <a:xfrm xmlns:a="http://schemas.openxmlformats.org/drawingml/2006/main">
            <a:off x="6334125" y="2619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Context gets fragmented</a:t>
            </a:r>
          </a:p>
        </p:txBody>
      </p:sp>
      <p:sp>
        <p:nvSpPr>
          <p:cNvPr id="8" name="">
            <a:extLst xmlns:a="http://schemas.openxmlformats.org/drawingml/2006/main">
              <a:ext uri="{FF2B5EF4-FFF2-40B4-BE49-F238E27FC236}">
                <a16:creationId xmlns:a16="http://schemas.microsoft.com/office/drawing/2014/main" id="{3A05A0F8-6664-4003-8A5A-C09D59CEDB09}"/>
              </a:ext>
            </a:extLst>
          </p:cNvPr>
          <p:cNvSpPr>
            <a:spLocks xmlns:a="http://schemas.openxmlformats.org/drawingml/2006/main" noGrp="1"/>
          </p:cNvSpPr>
          <p:nvPr/>
        </p:nvSpPr>
        <p:spPr>
          <a:xfrm xmlns:a="http://schemas.openxmlformats.org/drawingml/2006/main">
            <a:off x="6334125" y="309562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Earlier checks and support contacts may not travel with the case. The next reviewer needs the unresolved question and its source.</a:t>
            </a:r>
          </a:p>
        </p:txBody>
      </p:sp>
      <p:sp>
        <p:nvSpPr>
          <p:cNvPr id="9" name="">
            <a:extLst xmlns:a="http://schemas.openxmlformats.org/drawingml/2006/main">
              <a:ext uri="{FF2B5EF4-FFF2-40B4-BE49-F238E27FC236}">
                <a16:creationId xmlns:a16="http://schemas.microsoft.com/office/drawing/2014/main" id="{1E5205C1-0C14-45D2-8ADE-76B4B96FF60F}"/>
              </a:ext>
            </a:extLst>
          </p:cNvPr>
          <p:cNvSpPr>
            <a:spLocks xmlns:a="http://schemas.openxmlformats.org/drawingml/2006/main" noGrp="1"/>
          </p:cNvSpPr>
          <p:nvPr/>
        </p:nvSpPr>
        <p:spPr>
          <a:xfrm xmlns:a="http://schemas.openxmlformats.org/drawingml/2006/main">
            <a:off x="704850" y="4810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02F43"/>
                </a:solidFill>
                <a:latin typeface="Helvetica Neue"/>
                <a:ea typeface="Helvetica Neue"/>
                <a:cs typeface="Helvetica Neue"/>
              </a:defRPr>
            </a:defPPr>
            <a:lvl1pPr>
              <a:defRPr sz="2400" b="1">
                <a:solidFill>
                  <a:srgbClr val="102F43"/>
                </a:solidFill>
                <a:latin typeface="Helvetica Neue"/>
                <a:ea typeface="Helvetica Neue"/>
                <a:cs typeface="Helvetica Neue"/>
              </a:defRPr>
            </a:lvl1pPr>
            <a:lvl2pPr>
              <a:defRPr sz="2400" b="1">
                <a:solidFill>
                  <a:srgbClr val="102F43"/>
                </a:solidFill>
                <a:latin typeface="Helvetica Neue"/>
                <a:ea typeface="Helvetica Neue"/>
                <a:cs typeface="Helvetica Neue"/>
              </a:defRPr>
            </a:lvl2pPr>
            <a:lvl3pPr>
              <a:defRPr sz="2400" b="1">
                <a:solidFill>
                  <a:srgbClr val="102F43"/>
                </a:solidFill>
                <a:latin typeface="Helvetica Neue"/>
                <a:ea typeface="Helvetica Neue"/>
                <a:cs typeface="Helvetica Neue"/>
              </a:defRPr>
            </a:lvl3pPr>
            <a:lvl4pPr>
              <a:defRPr sz="2400" b="1">
                <a:solidFill>
                  <a:srgbClr val="102F43"/>
                </a:solidFill>
                <a:latin typeface="Helvetica Neue"/>
                <a:ea typeface="Helvetica Neue"/>
                <a:cs typeface="Helvetica Neue"/>
              </a:defRPr>
            </a:lvl4pPr>
            <a:lvl5pPr>
              <a:defRPr sz="2400" b="1">
                <a:solidFill>
                  <a:srgbClr val="102F43"/>
                </a:solidFill>
                <a:latin typeface="Helvetica Neue"/>
                <a:ea typeface="Helvetica Neue"/>
                <a:cs typeface="Helvetica Neue"/>
              </a:defRPr>
            </a:lvl5pPr>
            <a:lvl6pPr>
              <a:defRPr sz="2400" b="1">
                <a:solidFill>
                  <a:srgbClr val="102F43"/>
                </a:solidFill>
                <a:latin typeface="Helvetica Neue"/>
                <a:ea typeface="Helvetica Neue"/>
                <a:cs typeface="Helvetica Neue"/>
              </a:defRPr>
            </a:lvl6pPr>
            <a:lvl7pPr>
              <a:defRPr sz="2400" b="1">
                <a:solidFill>
                  <a:srgbClr val="102F43"/>
                </a:solidFill>
                <a:latin typeface="Helvetica Neue"/>
                <a:ea typeface="Helvetica Neue"/>
                <a:cs typeface="Helvetica Neue"/>
              </a:defRPr>
            </a:lvl7pPr>
            <a:lvl8pPr>
              <a:defRPr sz="2400" b="1">
                <a:solidFill>
                  <a:srgbClr val="102F43"/>
                </a:solidFill>
                <a:latin typeface="Helvetica Neue"/>
                <a:ea typeface="Helvetica Neue"/>
                <a:cs typeface="Helvetica Neue"/>
              </a:defRPr>
            </a:lvl8pPr>
            <a:lvl9pPr>
              <a:defRPr sz="2400" b="1">
                <a:solidFill>
                  <a:srgbClr val="102F43"/>
                </a:solidFill>
                <a:latin typeface="Helvetica Neue"/>
                <a:ea typeface="Helvetica Neue"/>
                <a:cs typeface="Helvetica Neue"/>
              </a:defRPr>
            </a:lvl9pPr>
          </a:lstStyle>
          <a:p xmlns:a="http://schemas.openxmlformats.org/drawingml/2006/main">
            <a:pPr>
              <a:defRPr sz="2400" b="1">
                <a:solidFill>
                  <a:srgbClr val="102F43"/>
                </a:solidFill>
                <a:latin typeface="Helvetica Neue"/>
                <a:ea typeface="Helvetica Neue"/>
                <a:cs typeface="Helvetica Neue"/>
              </a:defRPr>
            </a:pPr>
            <a:r>
              <a:rPr sz="2400" b="1">
                <a:solidFill>
                  <a:srgbClr val="102F43"/>
                </a:solidFill>
                <a:latin typeface="Helvetica Neue"/>
                <a:ea typeface="Helvetica Neue"/>
                <a:cs typeface="Helvetica Neue"/>
              </a:rPr>
              <a:t>A screenshot or a silent device cannot establish financial loss.</a:t>
            </a:r>
          </a:p>
        </p:txBody>
      </p:sp>
      <p:sp>
        <p:nvSpPr>
          <p:cNvPr id="10" name="">
            <a:extLst xmlns:a="http://schemas.openxmlformats.org/drawingml/2006/main">
              <a:ext uri="{FF2B5EF4-FFF2-40B4-BE49-F238E27FC236}">
                <a16:creationId xmlns:a16="http://schemas.microsoft.com/office/drawing/2014/main" id="{7C90D6E5-0FC9-4FA1-B9F6-6132B4C9A514}"/>
              </a:ext>
            </a:extLst>
          </p:cNvPr>
          <p:cNvSpPr>
            <a:spLocks xmlns:a="http://schemas.openxmlformats.org/drawingml/2006/main" noGrp="1"/>
          </p:cNvSpPr>
          <p:nvPr/>
        </p:nvSpPr>
        <p:spPr>
          <a:xfrm xmlns:a="http://schemas.openxmlformats.org/drawingml/2006/main">
            <a:off x="704850" y="57435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26B7C"/>
                </a:solidFill>
                <a:latin typeface="Helvetica Neue"/>
                <a:ea typeface="Helvetica Neue"/>
                <a:cs typeface="Helvetica Neue"/>
              </a:defRPr>
            </a:defPPr>
            <a:lvl1pPr>
              <a:defRPr sz="1650" b="0">
                <a:solidFill>
                  <a:srgbClr val="526B7C"/>
                </a:solidFill>
                <a:latin typeface="Helvetica Neue"/>
                <a:ea typeface="Helvetica Neue"/>
                <a:cs typeface="Helvetica Neue"/>
              </a:defRPr>
            </a:lvl1pPr>
            <a:lvl2pPr>
              <a:defRPr sz="1650" b="0">
                <a:solidFill>
                  <a:srgbClr val="526B7C"/>
                </a:solidFill>
                <a:latin typeface="Helvetica Neue"/>
                <a:ea typeface="Helvetica Neue"/>
                <a:cs typeface="Helvetica Neue"/>
              </a:defRPr>
            </a:lvl2pPr>
            <a:lvl3pPr>
              <a:defRPr sz="1650" b="0">
                <a:solidFill>
                  <a:srgbClr val="526B7C"/>
                </a:solidFill>
                <a:latin typeface="Helvetica Neue"/>
                <a:ea typeface="Helvetica Neue"/>
                <a:cs typeface="Helvetica Neue"/>
              </a:defRPr>
            </a:lvl3pPr>
            <a:lvl4pPr>
              <a:defRPr sz="1650" b="0">
                <a:solidFill>
                  <a:srgbClr val="526B7C"/>
                </a:solidFill>
                <a:latin typeface="Helvetica Neue"/>
                <a:ea typeface="Helvetica Neue"/>
                <a:cs typeface="Helvetica Neue"/>
              </a:defRPr>
            </a:lvl4pPr>
            <a:lvl5pPr>
              <a:defRPr sz="1650" b="0">
                <a:solidFill>
                  <a:srgbClr val="526B7C"/>
                </a:solidFill>
                <a:latin typeface="Helvetica Neue"/>
                <a:ea typeface="Helvetica Neue"/>
                <a:cs typeface="Helvetica Neue"/>
              </a:defRPr>
            </a:lvl5pPr>
            <a:lvl6pPr>
              <a:defRPr sz="1650" b="0">
                <a:solidFill>
                  <a:srgbClr val="526B7C"/>
                </a:solidFill>
                <a:latin typeface="Helvetica Neue"/>
                <a:ea typeface="Helvetica Neue"/>
                <a:cs typeface="Helvetica Neue"/>
              </a:defRPr>
            </a:lvl6pPr>
            <a:lvl7pPr>
              <a:defRPr sz="1650" b="0">
                <a:solidFill>
                  <a:srgbClr val="526B7C"/>
                </a:solidFill>
                <a:latin typeface="Helvetica Neue"/>
                <a:ea typeface="Helvetica Neue"/>
                <a:cs typeface="Helvetica Neue"/>
              </a:defRPr>
            </a:lvl7pPr>
            <a:lvl8pPr>
              <a:defRPr sz="1650" b="0">
                <a:solidFill>
                  <a:srgbClr val="526B7C"/>
                </a:solidFill>
                <a:latin typeface="Helvetica Neue"/>
                <a:ea typeface="Helvetica Neue"/>
                <a:cs typeface="Helvetica Neue"/>
              </a:defRPr>
            </a:lvl8pPr>
            <a:lvl9pPr>
              <a:defRPr sz="1650" b="0">
                <a:solidFill>
                  <a:srgbClr val="526B7C"/>
                </a:solidFill>
                <a:latin typeface="Helvetica Neue"/>
                <a:ea typeface="Helvetica Neue"/>
                <a:cs typeface="Helvetica Neue"/>
              </a:defRPr>
            </a:lvl9pPr>
          </a:lstStyle>
          <a:p xmlns:a="http://schemas.openxmlformats.org/drawingml/2006/main">
            <a:pPr>
              <a:defRPr sz="1650" b="0">
                <a:solidFill>
                  <a:srgbClr val="526B7C"/>
                </a:solidFill>
                <a:latin typeface="Helvetica Neue"/>
                <a:ea typeface="Helvetica Neue"/>
                <a:cs typeface="Helvetica Neue"/>
              </a:defRPr>
            </a:pPr>
            <a:r>
              <a:rPr sz="1650" b="0">
                <a:solidFill>
                  <a:srgbClr val="526B7C"/>
                </a:solidFill>
                <a:latin typeface="Helvetica Neue"/>
                <a:ea typeface="Helvetica Neue"/>
                <a:cs typeface="Helvetica Neue"/>
              </a:rPr>
              <a:t>Design hypothesis: better continuity reduces repeated clarification. Merchant impact remains to be measured.</a:t>
            </a:r>
          </a:p>
        </p:txBody>
      </p:sp>
    </p:spTree>
    <p:extLst>
      <p:ext uri="{BB962C8B-B14F-4D97-AF65-F5344CB8AC3E}">
        <p14:creationId xmlns:p14="http://schemas.microsoft.com/office/powerpoint/2010/main" val="1292245744"/>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24A167-8443-41E5-8B6B-E934372EA5F7}"/>
              </a:ext>
            </a:extLst>
          </p:cNvPr>
          <p:cNvSpPr>
            <a:spLocks xmlns:a="http://schemas.openxmlformats.org/drawingml/2006/main" noGrp="1"/>
          </p:cNvSpPr>
          <p:nvPr/>
        </p:nvSpPr>
        <p:spPr>
          <a:xfrm xmlns:a="http://schemas.openxmlformats.org/drawingml/2006/main">
            <a:off x="685800" y="5143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02F43"/>
                </a:solidFill>
                <a:latin typeface="Helvetica Neue"/>
                <a:ea typeface="Helvetica Neue"/>
                <a:cs typeface="Helvetica Neue"/>
              </a:defRPr>
            </a:defPPr>
            <a:lvl1pPr>
              <a:defRPr sz="3450" b="1">
                <a:solidFill>
                  <a:srgbClr val="102F43"/>
                </a:solidFill>
                <a:latin typeface="Helvetica Neue"/>
                <a:ea typeface="Helvetica Neue"/>
                <a:cs typeface="Helvetica Neue"/>
              </a:defRPr>
            </a:lvl1pPr>
            <a:lvl2pPr>
              <a:defRPr sz="3450" b="1">
                <a:solidFill>
                  <a:srgbClr val="102F43"/>
                </a:solidFill>
                <a:latin typeface="Helvetica Neue"/>
                <a:ea typeface="Helvetica Neue"/>
                <a:cs typeface="Helvetica Neue"/>
              </a:defRPr>
            </a:lvl2pPr>
            <a:lvl3pPr>
              <a:defRPr sz="3450" b="1">
                <a:solidFill>
                  <a:srgbClr val="102F43"/>
                </a:solidFill>
                <a:latin typeface="Helvetica Neue"/>
                <a:ea typeface="Helvetica Neue"/>
                <a:cs typeface="Helvetica Neue"/>
              </a:defRPr>
            </a:lvl3pPr>
            <a:lvl4pPr>
              <a:defRPr sz="3450" b="1">
                <a:solidFill>
                  <a:srgbClr val="102F43"/>
                </a:solidFill>
                <a:latin typeface="Helvetica Neue"/>
                <a:ea typeface="Helvetica Neue"/>
                <a:cs typeface="Helvetica Neue"/>
              </a:defRPr>
            </a:lvl4pPr>
            <a:lvl5pPr>
              <a:defRPr sz="3450" b="1">
                <a:solidFill>
                  <a:srgbClr val="102F43"/>
                </a:solidFill>
                <a:latin typeface="Helvetica Neue"/>
                <a:ea typeface="Helvetica Neue"/>
                <a:cs typeface="Helvetica Neue"/>
              </a:defRPr>
            </a:lvl5pPr>
            <a:lvl6pPr>
              <a:defRPr sz="3450" b="1">
                <a:solidFill>
                  <a:srgbClr val="102F43"/>
                </a:solidFill>
                <a:latin typeface="Helvetica Neue"/>
                <a:ea typeface="Helvetica Neue"/>
                <a:cs typeface="Helvetica Neue"/>
              </a:defRPr>
            </a:lvl6pPr>
            <a:lvl7pPr>
              <a:defRPr sz="3450" b="1">
                <a:solidFill>
                  <a:srgbClr val="102F43"/>
                </a:solidFill>
                <a:latin typeface="Helvetica Neue"/>
                <a:ea typeface="Helvetica Neue"/>
                <a:cs typeface="Helvetica Neue"/>
              </a:defRPr>
            </a:lvl7pPr>
            <a:lvl8pPr>
              <a:defRPr sz="3450" b="1">
                <a:solidFill>
                  <a:srgbClr val="102F43"/>
                </a:solidFill>
                <a:latin typeface="Helvetica Neue"/>
                <a:ea typeface="Helvetica Neue"/>
                <a:cs typeface="Helvetica Neue"/>
              </a:defRPr>
            </a:lvl8pPr>
            <a:lvl9pPr>
              <a:defRPr sz="3450" b="1">
                <a:solidFill>
                  <a:srgbClr val="102F43"/>
                </a:solidFill>
                <a:latin typeface="Helvetica Neue"/>
                <a:ea typeface="Helvetica Neue"/>
                <a:cs typeface="Helvetica Neue"/>
              </a:defRPr>
            </a:lvl9pPr>
          </a:lstStyle>
          <a:p xmlns:a="http://schemas.openxmlformats.org/drawingml/2006/main">
            <a:pPr>
              <a:defRPr sz="3450" b="1">
                <a:solidFill>
                  <a:srgbClr val="102F43"/>
                </a:solidFill>
                <a:latin typeface="Helvetica Neue"/>
                <a:ea typeface="Helvetica Neue"/>
                <a:cs typeface="Helvetica Neue"/>
              </a:defRPr>
            </a:pPr>
            <a:r>
              <a:rPr sz="3450" b="1">
                <a:solidFill>
                  <a:srgbClr val="102F43"/>
                </a:solidFill>
                <a:latin typeface="Helvetica Neue"/>
                <a:ea typeface="Helvetica Neue"/>
                <a:cs typeface="Helvetica Neue"/>
              </a:rPr>
              <a:t>Solution: a case that keeps its context</a:t>
            </a:r>
          </a:p>
        </p:txBody>
      </p:sp>
      <p:sp>
        <p:nvSpPr>
          <p:cNvPr id="2" name="">
            <a:extLst xmlns:a="http://schemas.openxmlformats.org/drawingml/2006/main">
              <a:ext uri="{FF2B5EF4-FFF2-40B4-BE49-F238E27FC236}">
                <a16:creationId xmlns:a16="http://schemas.microsoft.com/office/drawing/2014/main" id="{0C3C8A5E-B72F-462B-BD2E-B0761FED470E}"/>
              </a:ext>
            </a:extLst>
          </p:cNvPr>
          <p:cNvSpPr>
            <a:spLocks xmlns:a="http://schemas.openxmlformats.org/drawingml/2006/main" noGrp="1"/>
          </p:cNvSpPr>
          <p:nvPr/>
        </p:nvSpPr>
        <p:spPr>
          <a:xfrm xmlns:a="http://schemas.openxmlformats.org/drawingml/2006/main">
            <a:off x="685800" y="64865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defRPr sz="1200" b="0">
                <a:solidFill>
                  <a:srgbClr val="526B7C"/>
                </a:solidFill>
                <a:latin typeface="Helvetica Neue"/>
                <a:ea typeface="Helvetica Neue"/>
                <a:cs typeface="Helvetica Neue"/>
              </a:defRPr>
            </a:lvl1pPr>
            <a:lvl2pPr>
              <a:defRPr sz="1200" b="0">
                <a:solidFill>
                  <a:srgbClr val="526B7C"/>
                </a:solidFill>
                <a:latin typeface="Helvetica Neue"/>
                <a:ea typeface="Helvetica Neue"/>
                <a:cs typeface="Helvetica Neue"/>
              </a:defRPr>
            </a:lvl2pPr>
            <a:lvl3pPr>
              <a:defRPr sz="1200" b="0">
                <a:solidFill>
                  <a:srgbClr val="526B7C"/>
                </a:solidFill>
                <a:latin typeface="Helvetica Neue"/>
                <a:ea typeface="Helvetica Neue"/>
                <a:cs typeface="Helvetica Neue"/>
              </a:defRPr>
            </a:lvl3pPr>
            <a:lvl4pPr>
              <a:defRPr sz="1200" b="0">
                <a:solidFill>
                  <a:srgbClr val="526B7C"/>
                </a:solidFill>
                <a:latin typeface="Helvetica Neue"/>
                <a:ea typeface="Helvetica Neue"/>
                <a:cs typeface="Helvetica Neue"/>
              </a:defRPr>
            </a:lvl4pPr>
            <a:lvl5pPr>
              <a:defRPr sz="1200" b="0">
                <a:solidFill>
                  <a:srgbClr val="526B7C"/>
                </a:solidFill>
                <a:latin typeface="Helvetica Neue"/>
                <a:ea typeface="Helvetica Neue"/>
                <a:cs typeface="Helvetica Neue"/>
              </a:defRPr>
            </a:lvl5pPr>
            <a:lvl6pPr>
              <a:defRPr sz="1200" b="0">
                <a:solidFill>
                  <a:srgbClr val="526B7C"/>
                </a:solidFill>
                <a:latin typeface="Helvetica Neue"/>
                <a:ea typeface="Helvetica Neue"/>
                <a:cs typeface="Helvetica Neue"/>
              </a:defRPr>
            </a:lvl6pPr>
            <a:lvl7pPr>
              <a:defRPr sz="1200" b="0">
                <a:solidFill>
                  <a:srgbClr val="526B7C"/>
                </a:solidFill>
                <a:latin typeface="Helvetica Neue"/>
                <a:ea typeface="Helvetica Neue"/>
                <a:cs typeface="Helvetica Neue"/>
              </a:defRPr>
            </a:lvl7pPr>
            <a:lvl8pPr>
              <a:defRPr sz="1200" b="0">
                <a:solidFill>
                  <a:srgbClr val="526B7C"/>
                </a:solidFill>
                <a:latin typeface="Helvetica Neue"/>
                <a:ea typeface="Helvetica Neue"/>
                <a:cs typeface="Helvetica Neue"/>
              </a:defRPr>
            </a:lvl8pPr>
            <a:lvl9pPr>
              <a:defRPr sz="1200" b="0">
                <a:solidFill>
                  <a:srgbClr val="526B7C"/>
                </a:solidFill>
                <a:latin typeface="Helvetica Neue"/>
                <a:ea typeface="Helvetica Neue"/>
                <a:cs typeface="Helvetica Neue"/>
              </a:defRPr>
            </a:lvl9pPr>
          </a:lstStyle>
          <a:p xmlns:a="http://schemas.openxmlformats.org/drawingml/2006/main">
            <a:pPr>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MerchantLens / Paytm Build for India / Stage 1</a:t>
            </a:r>
          </a:p>
        </p:txBody>
      </p:sp>
      <p:sp>
        <p:nvSpPr>
          <p:cNvPr id="3" name="">
            <a:extLst xmlns:a="http://schemas.openxmlformats.org/drawingml/2006/main">
              <a:ext uri="{FF2B5EF4-FFF2-40B4-BE49-F238E27FC236}">
                <a16:creationId xmlns:a16="http://schemas.microsoft.com/office/drawing/2014/main" id="{C130D034-E1FD-4C23-A68B-C3243D222776}"/>
              </a:ext>
            </a:extLst>
          </p:cNvPr>
          <p:cNvSpPr>
            <a:spLocks xmlns:a="http://schemas.openxmlformats.org/drawingml/2006/main" noGrp="1"/>
          </p:cNvSpPr>
          <p:nvPr/>
        </p:nvSpPr>
        <p:spPr>
          <a:xfrm xmlns:a="http://schemas.openxmlformats.org/drawingml/2006/main">
            <a:off x="10953750" y="648652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defRPr sz="1200" b="0">
                <a:solidFill>
                  <a:srgbClr val="526B7C"/>
                </a:solidFill>
                <a:latin typeface="Helvetica Neue"/>
                <a:ea typeface="Helvetica Neue"/>
                <a:cs typeface="Helvetica Neue"/>
              </a:defRPr>
            </a:lvl1pPr>
            <a:lvl2pPr>
              <a:defRPr sz="1200" b="0">
                <a:solidFill>
                  <a:srgbClr val="526B7C"/>
                </a:solidFill>
                <a:latin typeface="Helvetica Neue"/>
                <a:ea typeface="Helvetica Neue"/>
                <a:cs typeface="Helvetica Neue"/>
              </a:defRPr>
            </a:lvl2pPr>
            <a:lvl3pPr>
              <a:defRPr sz="1200" b="0">
                <a:solidFill>
                  <a:srgbClr val="526B7C"/>
                </a:solidFill>
                <a:latin typeface="Helvetica Neue"/>
                <a:ea typeface="Helvetica Neue"/>
                <a:cs typeface="Helvetica Neue"/>
              </a:defRPr>
            </a:lvl3pPr>
            <a:lvl4pPr>
              <a:defRPr sz="1200" b="0">
                <a:solidFill>
                  <a:srgbClr val="526B7C"/>
                </a:solidFill>
                <a:latin typeface="Helvetica Neue"/>
                <a:ea typeface="Helvetica Neue"/>
                <a:cs typeface="Helvetica Neue"/>
              </a:defRPr>
            </a:lvl4pPr>
            <a:lvl5pPr>
              <a:defRPr sz="1200" b="0">
                <a:solidFill>
                  <a:srgbClr val="526B7C"/>
                </a:solidFill>
                <a:latin typeface="Helvetica Neue"/>
                <a:ea typeface="Helvetica Neue"/>
                <a:cs typeface="Helvetica Neue"/>
              </a:defRPr>
            </a:lvl5pPr>
            <a:lvl6pPr>
              <a:defRPr sz="1200" b="0">
                <a:solidFill>
                  <a:srgbClr val="526B7C"/>
                </a:solidFill>
                <a:latin typeface="Helvetica Neue"/>
                <a:ea typeface="Helvetica Neue"/>
                <a:cs typeface="Helvetica Neue"/>
              </a:defRPr>
            </a:lvl6pPr>
            <a:lvl7pPr>
              <a:defRPr sz="1200" b="0">
                <a:solidFill>
                  <a:srgbClr val="526B7C"/>
                </a:solidFill>
                <a:latin typeface="Helvetica Neue"/>
                <a:ea typeface="Helvetica Neue"/>
                <a:cs typeface="Helvetica Neue"/>
              </a:defRPr>
            </a:lvl7pPr>
            <a:lvl8pPr>
              <a:defRPr sz="1200" b="0">
                <a:solidFill>
                  <a:srgbClr val="526B7C"/>
                </a:solidFill>
                <a:latin typeface="Helvetica Neue"/>
                <a:ea typeface="Helvetica Neue"/>
                <a:cs typeface="Helvetica Neue"/>
              </a:defRPr>
            </a:lvl8pPr>
            <a:lvl9pPr>
              <a:defRPr sz="1200" b="0">
                <a:solidFill>
                  <a:srgbClr val="526B7C"/>
                </a:solidFill>
                <a:latin typeface="Helvetica Neue"/>
                <a:ea typeface="Helvetica Neue"/>
                <a:cs typeface="Helvetica Neue"/>
              </a:defRPr>
            </a:lvl9pPr>
          </a:lstStyle>
          <a:p xmlns:a="http://schemas.openxmlformats.org/drawingml/2006/main">
            <a:pPr>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3/7</a:t>
            </a:r>
          </a:p>
        </p:txBody>
      </p:sp>
      <p:sp>
        <p:nvSpPr>
          <p:cNvPr id="4" name="">
            <a:extLst xmlns:a="http://schemas.openxmlformats.org/drawingml/2006/main">
              <a:ext uri="{FF2B5EF4-FFF2-40B4-BE49-F238E27FC236}">
                <a16:creationId xmlns:a16="http://schemas.microsoft.com/office/drawing/2014/main" id="{8197EC4E-3FDE-46A0-A423-4EEED464D58C}"/>
              </a:ext>
            </a:extLst>
          </p:cNvPr>
          <p:cNvSpPr>
            <a:spLocks xmlns:a="http://schemas.openxmlformats.org/drawingml/2006/main" noGrp="1"/>
          </p:cNvSpPr>
          <p:nvPr/>
        </p:nvSpPr>
        <p:spPr>
          <a:xfrm xmlns:a="http://schemas.openxmlformats.org/drawingml/2006/main">
            <a:off x="70485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Voice or text intake, optional photos and reviewed next steps</a:t>
            </a:r>
          </a:p>
        </p:txBody>
      </p:sp>
      <p:sp>
        <p:nvSpPr>
          <p:cNvPr id="5" name="">
            <a:extLst xmlns:a="http://schemas.openxmlformats.org/drawingml/2006/main">
              <a:ext uri="{FF2B5EF4-FFF2-40B4-BE49-F238E27FC236}">
                <a16:creationId xmlns:a16="http://schemas.microsoft.com/office/drawing/2014/main" id="{93D7A2A5-A5EB-46CD-9D04-B2763817992D}"/>
              </a:ext>
            </a:extLst>
          </p:cNvPr>
          <p:cNvSpPr>
            <a:spLocks xmlns:a="http://schemas.openxmlformats.org/drawingml/2006/main" noGrp="1"/>
          </p:cNvSpPr>
          <p:nvPr/>
        </p:nvSpPr>
        <p:spPr>
          <a:xfrm xmlns:a="http://schemas.openxmlformats.org/drawingml/2006/main">
            <a:off x="704850" y="22764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0A9D6"/>
                </a:solidFill>
                <a:latin typeface="Helvetica Neue"/>
                <a:ea typeface="Helvetica Neue"/>
                <a:cs typeface="Helvetica Neue"/>
              </a:defRPr>
            </a:defPPr>
            <a:lvl1pPr>
              <a:defRPr sz="2250" b="1">
                <a:solidFill>
                  <a:srgbClr val="00A9D6"/>
                </a:solidFill>
                <a:latin typeface="Helvetica Neue"/>
                <a:ea typeface="Helvetica Neue"/>
                <a:cs typeface="Helvetica Neue"/>
              </a:defRPr>
            </a:lvl1pPr>
            <a:lvl2pPr>
              <a:defRPr sz="2250" b="1">
                <a:solidFill>
                  <a:srgbClr val="00A9D6"/>
                </a:solidFill>
                <a:latin typeface="Helvetica Neue"/>
                <a:ea typeface="Helvetica Neue"/>
                <a:cs typeface="Helvetica Neue"/>
              </a:defRPr>
            </a:lvl2pPr>
            <a:lvl3pPr>
              <a:defRPr sz="2250" b="1">
                <a:solidFill>
                  <a:srgbClr val="00A9D6"/>
                </a:solidFill>
                <a:latin typeface="Helvetica Neue"/>
                <a:ea typeface="Helvetica Neue"/>
                <a:cs typeface="Helvetica Neue"/>
              </a:defRPr>
            </a:lvl3pPr>
            <a:lvl4pPr>
              <a:defRPr sz="2250" b="1">
                <a:solidFill>
                  <a:srgbClr val="00A9D6"/>
                </a:solidFill>
                <a:latin typeface="Helvetica Neue"/>
                <a:ea typeface="Helvetica Neue"/>
                <a:cs typeface="Helvetica Neue"/>
              </a:defRPr>
            </a:lvl4pPr>
            <a:lvl5pPr>
              <a:defRPr sz="2250" b="1">
                <a:solidFill>
                  <a:srgbClr val="00A9D6"/>
                </a:solidFill>
                <a:latin typeface="Helvetica Neue"/>
                <a:ea typeface="Helvetica Neue"/>
                <a:cs typeface="Helvetica Neue"/>
              </a:defRPr>
            </a:lvl5pPr>
            <a:lvl6pPr>
              <a:defRPr sz="2250" b="1">
                <a:solidFill>
                  <a:srgbClr val="00A9D6"/>
                </a:solidFill>
                <a:latin typeface="Helvetica Neue"/>
                <a:ea typeface="Helvetica Neue"/>
                <a:cs typeface="Helvetica Neue"/>
              </a:defRPr>
            </a:lvl6pPr>
            <a:lvl7pPr>
              <a:defRPr sz="2250" b="1">
                <a:solidFill>
                  <a:srgbClr val="00A9D6"/>
                </a:solidFill>
                <a:latin typeface="Helvetica Neue"/>
                <a:ea typeface="Helvetica Neue"/>
                <a:cs typeface="Helvetica Neue"/>
              </a:defRPr>
            </a:lvl7pPr>
            <a:lvl8pPr>
              <a:defRPr sz="2250" b="1">
                <a:solidFill>
                  <a:srgbClr val="00A9D6"/>
                </a:solidFill>
                <a:latin typeface="Helvetica Neue"/>
                <a:ea typeface="Helvetica Neue"/>
                <a:cs typeface="Helvetica Neue"/>
              </a:defRPr>
            </a:lvl8pPr>
            <a:lvl9pPr>
              <a:defRPr sz="2250" b="1">
                <a:solidFill>
                  <a:srgbClr val="00A9D6"/>
                </a:solidFill>
                <a:latin typeface="Helvetica Neue"/>
                <a:ea typeface="Helvetica Neue"/>
                <a:cs typeface="Helvetica Neue"/>
              </a:defRPr>
            </a:lvl9pPr>
          </a:lstStyle>
          <a:p xmlns:a="http://schemas.openxmlformats.org/drawingml/2006/main">
            <a:pPr>
              <a:defRPr sz="2250" b="1">
                <a:solidFill>
                  <a:srgbClr val="00A9D6"/>
                </a:solidFill>
                <a:latin typeface="Helvetica Neue"/>
                <a:ea typeface="Helvetica Neue"/>
                <a:cs typeface="Helvetica Neue"/>
              </a:defRPr>
            </a:pPr>
            <a:r>
              <a:rPr sz="2250" b="1">
                <a:solidFill>
                  <a:srgbClr val="00A9D6"/>
                </a:solidFill>
                <a:latin typeface="Helvetica Neue"/>
                <a:ea typeface="Helvetica Neue"/>
                <a:cs typeface="Helvetica Neue"/>
              </a:rPr>
              <a:t>Eight optional support stages</a:t>
            </a:r>
          </a:p>
        </p:txBody>
      </p:sp>
      <p:sp>
        <p:nvSpPr>
          <p:cNvPr id="6" name="">
            <a:extLst xmlns:a="http://schemas.openxmlformats.org/drawingml/2006/main">
              <a:ext uri="{FF2B5EF4-FFF2-40B4-BE49-F238E27FC236}">
                <a16:creationId xmlns:a16="http://schemas.microsoft.com/office/drawing/2014/main" id="{F49B2A9E-3ACB-4B2B-BDD5-18CF48285021}"/>
              </a:ext>
            </a:extLst>
          </p:cNvPr>
          <p:cNvSpPr>
            <a:spLocks xmlns:a="http://schemas.openxmlformats.org/drawingml/2006/main" noGrp="1"/>
          </p:cNvSpPr>
          <p:nvPr/>
        </p:nvSpPr>
        <p:spPr>
          <a:xfrm xmlns:a="http://schemas.openxmlformats.org/drawingml/2006/main">
            <a:off x="704850" y="2867025"/>
            <a:ext cx="4905375"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02F43"/>
                </a:solidFill>
                <a:latin typeface="Helvetica Neue"/>
                <a:ea typeface="Helvetica Neue"/>
                <a:cs typeface="Helvetica Neue"/>
              </a:defRPr>
            </a:defPPr>
            <a:lvl1pPr>
              <a:defRPr sz="1950" b="0">
                <a:solidFill>
                  <a:srgbClr val="102F43"/>
                </a:solidFill>
                <a:latin typeface="Helvetica Neue"/>
                <a:ea typeface="Helvetica Neue"/>
                <a:cs typeface="Helvetica Neue"/>
              </a:defRPr>
            </a:lvl1pPr>
            <a:lvl2pPr>
              <a:defRPr sz="1950" b="0">
                <a:solidFill>
                  <a:srgbClr val="102F43"/>
                </a:solidFill>
                <a:latin typeface="Helvetica Neue"/>
                <a:ea typeface="Helvetica Neue"/>
                <a:cs typeface="Helvetica Neue"/>
              </a:defRPr>
            </a:lvl2pPr>
            <a:lvl3pPr>
              <a:defRPr sz="1950" b="0">
                <a:solidFill>
                  <a:srgbClr val="102F43"/>
                </a:solidFill>
                <a:latin typeface="Helvetica Neue"/>
                <a:ea typeface="Helvetica Neue"/>
                <a:cs typeface="Helvetica Neue"/>
              </a:defRPr>
            </a:lvl3pPr>
            <a:lvl4pPr>
              <a:defRPr sz="1950" b="0">
                <a:solidFill>
                  <a:srgbClr val="102F43"/>
                </a:solidFill>
                <a:latin typeface="Helvetica Neue"/>
                <a:ea typeface="Helvetica Neue"/>
                <a:cs typeface="Helvetica Neue"/>
              </a:defRPr>
            </a:lvl4pPr>
            <a:lvl5pPr>
              <a:defRPr sz="1950" b="0">
                <a:solidFill>
                  <a:srgbClr val="102F43"/>
                </a:solidFill>
                <a:latin typeface="Helvetica Neue"/>
                <a:ea typeface="Helvetica Neue"/>
                <a:cs typeface="Helvetica Neue"/>
              </a:defRPr>
            </a:lvl5pPr>
            <a:lvl6pPr>
              <a:defRPr sz="1950" b="0">
                <a:solidFill>
                  <a:srgbClr val="102F43"/>
                </a:solidFill>
                <a:latin typeface="Helvetica Neue"/>
                <a:ea typeface="Helvetica Neue"/>
                <a:cs typeface="Helvetica Neue"/>
              </a:defRPr>
            </a:lvl6pPr>
            <a:lvl7pPr>
              <a:defRPr sz="1950" b="0">
                <a:solidFill>
                  <a:srgbClr val="102F43"/>
                </a:solidFill>
                <a:latin typeface="Helvetica Neue"/>
                <a:ea typeface="Helvetica Neue"/>
                <a:cs typeface="Helvetica Neue"/>
              </a:defRPr>
            </a:lvl7pPr>
            <a:lvl8pPr>
              <a:defRPr sz="1950" b="0">
                <a:solidFill>
                  <a:srgbClr val="102F43"/>
                </a:solidFill>
                <a:latin typeface="Helvetica Neue"/>
                <a:ea typeface="Helvetica Neue"/>
                <a:cs typeface="Helvetica Neue"/>
              </a:defRPr>
            </a:lvl8pPr>
            <a:lvl9pPr>
              <a:defRPr sz="1950" b="0">
                <a:solidFill>
                  <a:srgbClr val="102F43"/>
                </a:solidFill>
                <a:latin typeface="Helvetica Neue"/>
                <a:ea typeface="Helvetica Neue"/>
                <a:cs typeface="Helvetica Neue"/>
              </a:defRPr>
            </a:lvl9pPr>
          </a:lstStyle>
          <a:p xmlns:a="http://schemas.openxmlformats.org/drawingml/2006/main">
            <a:pPr>
              <a:defRPr sz="1950" b="0">
                <a:solidFill>
                  <a:srgbClr val="102F43"/>
                </a:solidFill>
                <a:latin typeface="Helvetica Neue"/>
                <a:ea typeface="Helvetica Neue"/>
                <a:cs typeface="Helvetica Neue"/>
              </a:defRPr>
            </a:pPr>
            <a:r>
              <a:rPr sz="1950" b="0">
                <a:solidFill>
                  <a:srgbClr val="102F43"/>
                </a:solidFill>
                <a:latin typeface="Helvetica Neue"/>
                <a:ea typeface="Helvetica Neue"/>
                <a:cs typeface="Helvetica Neue"/>
              </a:rPr>
              <a:t>1  Clarify the report</a:t>
            </a:r>
          </a:p>
          <a:p xmlns:a="http://schemas.openxmlformats.org/drawingml/2006/main">
            <a:pPr>
              <a:defRPr sz="1950" b="0">
                <a:solidFill>
                  <a:srgbClr val="102F43"/>
                </a:solidFill>
                <a:latin typeface="Helvetica Neue"/>
                <a:ea typeface="Helvetica Neue"/>
                <a:cs typeface="Helvetica Neue"/>
              </a:defRPr>
            </a:pPr>
            <a:r>
              <a:rPr sz="1950" b="0">
                <a:solidFill>
                  <a:srgbClr val="102F43"/>
                </a:solidFill>
                <a:latin typeface="Helvetica Neue"/>
                <a:ea typeface="Helvetica Neue"/>
                <a:cs typeface="Helvetica Neue"/>
              </a:rPr>
              <a:t>2  Review payment evidence</a:t>
            </a:r>
          </a:p>
          <a:p xmlns:a="http://schemas.openxmlformats.org/drawingml/2006/main">
            <a:pPr>
              <a:defRPr sz="1950" b="0">
                <a:solidFill>
                  <a:srgbClr val="102F43"/>
                </a:solidFill>
                <a:latin typeface="Helvetica Neue"/>
                <a:ea typeface="Helvetica Neue"/>
                <a:cs typeface="Helvetica Neue"/>
              </a:defRPr>
            </a:pPr>
            <a:r>
              <a:rPr sz="1950" b="0">
                <a:solidFill>
                  <a:srgbClr val="102F43"/>
                </a:solidFill>
                <a:latin typeface="Helvetica Neue"/>
                <a:ea typeface="Helvetica Neue"/>
                <a:cs typeface="Helvetica Neue"/>
              </a:rPr>
              <a:t>3  Add a supporting photo</a:t>
            </a:r>
          </a:p>
          <a:p xmlns:a="http://schemas.openxmlformats.org/drawingml/2006/main">
            <a:pPr>
              <a:defRPr sz="1950" b="0">
                <a:solidFill>
                  <a:srgbClr val="102F43"/>
                </a:solidFill>
                <a:latin typeface="Helvetica Neue"/>
                <a:ea typeface="Helvetica Neue"/>
                <a:cs typeface="Helvetica Neue"/>
              </a:defRPr>
            </a:pPr>
            <a:r>
              <a:rPr sz="1950" b="0">
                <a:solidFill>
                  <a:srgbClr val="102F43"/>
                </a:solidFill>
                <a:latin typeface="Helvetica Neue"/>
                <a:ea typeface="Helvetica Neue"/>
                <a:cs typeface="Helvetica Neue"/>
              </a:rPr>
              <a:t>4  Review visual findings</a:t>
            </a:r>
          </a:p>
          <a:p xmlns:a="http://schemas.openxmlformats.org/drawingml/2006/main">
            <a:pPr>
              <a:defRPr sz="1950" b="0">
                <a:solidFill>
                  <a:srgbClr val="102F43"/>
                </a:solidFill>
                <a:latin typeface="Helvetica Neue"/>
                <a:ea typeface="Helvetica Neue"/>
                <a:cs typeface="Helvetica Neue"/>
              </a:defRPr>
            </a:pPr>
            <a:r>
              <a:rPr sz="1950" b="0">
                <a:solidFill>
                  <a:srgbClr val="102F43"/>
                </a:solidFill>
                <a:latin typeface="Helvetica Neue"/>
                <a:ea typeface="Helvetica Neue"/>
                <a:cs typeface="Helvetica Neue"/>
              </a:rPr>
              <a:t>5  Record self-service checks</a:t>
            </a:r>
          </a:p>
          <a:p xmlns:a="http://schemas.openxmlformats.org/drawingml/2006/main">
            <a:pPr>
              <a:defRPr sz="1950" b="0">
                <a:solidFill>
                  <a:srgbClr val="102F43"/>
                </a:solidFill>
                <a:latin typeface="Helvetica Neue"/>
                <a:ea typeface="Helvetica Neue"/>
                <a:cs typeface="Helvetica Neue"/>
              </a:defRPr>
            </a:pPr>
            <a:r>
              <a:rPr sz="1950" b="0">
                <a:solidFill>
                  <a:srgbClr val="102F43"/>
                </a:solidFill>
                <a:latin typeface="Helvetica Neue"/>
                <a:ea typeface="Helvetica Neue"/>
                <a:cs typeface="Helvetica Neue"/>
              </a:rPr>
              <a:t>6  Capture previous contact</a:t>
            </a:r>
          </a:p>
          <a:p xmlns:a="http://schemas.openxmlformats.org/drawingml/2006/main">
            <a:pPr>
              <a:defRPr sz="1950" b="0">
                <a:solidFill>
                  <a:srgbClr val="102F43"/>
                </a:solidFill>
                <a:latin typeface="Helvetica Neue"/>
                <a:ea typeface="Helvetica Neue"/>
                <a:cs typeface="Helvetica Neue"/>
              </a:defRPr>
            </a:pPr>
            <a:r>
              <a:rPr sz="1950" b="0">
                <a:solidFill>
                  <a:srgbClr val="102F43"/>
                </a:solidFill>
                <a:latin typeface="Helvetica Neue"/>
                <a:ea typeface="Helvetica Neue"/>
                <a:cs typeface="Helvetica Neue"/>
              </a:rPr>
              <a:t>7  Prepare human handoff</a:t>
            </a:r>
          </a:p>
          <a:p xmlns:a="http://schemas.openxmlformats.org/drawingml/2006/main">
            <a:pPr>
              <a:defRPr sz="1950" b="0">
                <a:solidFill>
                  <a:srgbClr val="102F43"/>
                </a:solidFill>
                <a:latin typeface="Helvetica Neue"/>
                <a:ea typeface="Helvetica Neue"/>
                <a:cs typeface="Helvetica Neue"/>
              </a:defRPr>
            </a:pPr>
            <a:r>
              <a:rPr sz="1950" b="0">
                <a:solidFill>
                  <a:srgbClr val="102F43"/>
                </a:solidFill>
                <a:latin typeface="Helvetica Neue"/>
                <a:ea typeface="Helvetica Neue"/>
                <a:cs typeface="Helvetica Neue"/>
              </a:rPr>
              <a:t>8  Follow up on the outcome</a:t>
            </a:r>
          </a:p>
        </p:txBody>
      </p:sp>
      <p:pic>
        <p:nvPicPr>
          <p:cNvPr id="7" name="">
            <a:extLst xmlns:a="http://schemas.openxmlformats.org/drawingml/2006/main">
              <a:ext uri="{FF2B5EF4-FFF2-40B4-BE49-F238E27FC236}">
                <a16:creationId xmlns:a16="http://schemas.microsoft.com/office/drawing/2014/main" id="{6953EE65-BC4D-4B61-9167-D60825563964}"/>
              </a:ext>
            </a:extLst>
          </p:cNvPr>
          <p:cNvPicPr>
            <a:picLocks xmlns:a="http://schemas.openxmlformats.org/drawingml/2006/main" noChangeAspect="1"/>
          </p:cNvPicPr>
          <p:nvPr/>
        </p:nvPicPr>
        <p:blipFill>
          <a:blip xmlns:r="http://schemas.openxmlformats.org/officeDocument/2006/relationships" xmlns:a="http://schemas.openxmlformats.org/drawingml/2006/main" r:embed="R08a8547ee0eb4798"/>
          <a:stretch xmlns:a="http://schemas.openxmlformats.org/drawingml/2006/main"/>
        </p:blipFill>
        <p:spPr>
          <a:xfrm xmlns:a="http://schemas.openxmlformats.org/drawingml/2006/main">
            <a:off x="6191250" y="2603869"/>
            <a:ext cx="5334000" cy="215508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4634739-BCC3-4C4D-B931-A98275F91FEF}"/>
              </a:ext>
            </a:extLst>
          </p:cNvPr>
          <p:cNvSpPr>
            <a:spLocks xmlns:a="http://schemas.openxmlformats.org/drawingml/2006/main" noGrp="1"/>
          </p:cNvSpPr>
          <p:nvPr/>
        </p:nvSpPr>
        <p:spPr>
          <a:xfrm xmlns:a="http://schemas.openxmlformats.org/drawingml/2006/main">
            <a:off x="6334125" y="5257800"/>
            <a:ext cx="5095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Human help stays available immediately.</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Every stage can be skipped.</a:t>
            </a:r>
          </a:p>
        </p:txBody>
      </p:sp>
    </p:spTree>
    <p:extLst>
      <p:ext uri="{BB962C8B-B14F-4D97-AF65-F5344CB8AC3E}">
        <p14:creationId xmlns:p14="http://schemas.microsoft.com/office/powerpoint/2010/main" val="83127983"/>
      </p:ext>
    </p:extLst>
  </p:cSld>
</p:sld>
</file>

<file path=ppt/slides/slide4.xml><?xml version="1.0" encoding="utf-8"?>
<p:sld xmlns:p="http://schemas.openxmlformats.org/presentationml/2006/main">
  <p:cSld>
    <p:bg>
      <p:bgPr>
        <a:solidFill xmlns:a="http://schemas.openxmlformats.org/drawingml/2006/main">
          <a:srgbClr val="0B203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C7E6806-727E-4427-850E-D1C69DC5B7FD}"/>
              </a:ext>
            </a:extLst>
          </p:cNvPr>
          <p:cNvSpPr>
            <a:spLocks xmlns:a="http://schemas.openxmlformats.org/drawingml/2006/main" noGrp="1"/>
          </p:cNvSpPr>
          <p:nvPr/>
        </p:nvSpPr>
        <p:spPr>
          <a:xfrm xmlns:a="http://schemas.openxmlformats.org/drawingml/2006/main">
            <a:off x="685800" y="5143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Helvetica Neue"/>
                <a:ea typeface="Helvetica Neue"/>
                <a:cs typeface="Helvetica Neue"/>
              </a:defRPr>
            </a:defPPr>
            <a:lvl1pPr>
              <a:defRPr sz="3450" b="1">
                <a:solidFill>
                  <a:srgbClr val="FFFFFF"/>
                </a:solidFill>
                <a:latin typeface="Helvetica Neue"/>
                <a:ea typeface="Helvetica Neue"/>
                <a:cs typeface="Helvetica Neue"/>
              </a:defRPr>
            </a:lvl1pPr>
            <a:lvl2pPr>
              <a:defRPr sz="3450" b="1">
                <a:solidFill>
                  <a:srgbClr val="FFFFFF"/>
                </a:solidFill>
                <a:latin typeface="Helvetica Neue"/>
                <a:ea typeface="Helvetica Neue"/>
                <a:cs typeface="Helvetica Neue"/>
              </a:defRPr>
            </a:lvl2pPr>
            <a:lvl3pPr>
              <a:defRPr sz="3450" b="1">
                <a:solidFill>
                  <a:srgbClr val="FFFFFF"/>
                </a:solidFill>
                <a:latin typeface="Helvetica Neue"/>
                <a:ea typeface="Helvetica Neue"/>
                <a:cs typeface="Helvetica Neue"/>
              </a:defRPr>
            </a:lvl3pPr>
            <a:lvl4pPr>
              <a:defRPr sz="3450" b="1">
                <a:solidFill>
                  <a:srgbClr val="FFFFFF"/>
                </a:solidFill>
                <a:latin typeface="Helvetica Neue"/>
                <a:ea typeface="Helvetica Neue"/>
                <a:cs typeface="Helvetica Neue"/>
              </a:defRPr>
            </a:lvl4pPr>
            <a:lvl5pPr>
              <a:defRPr sz="3450" b="1">
                <a:solidFill>
                  <a:srgbClr val="FFFFFF"/>
                </a:solidFill>
                <a:latin typeface="Helvetica Neue"/>
                <a:ea typeface="Helvetica Neue"/>
                <a:cs typeface="Helvetica Neue"/>
              </a:defRPr>
            </a:lvl5pPr>
            <a:lvl6pPr>
              <a:defRPr sz="3450" b="1">
                <a:solidFill>
                  <a:srgbClr val="FFFFFF"/>
                </a:solidFill>
                <a:latin typeface="Helvetica Neue"/>
                <a:ea typeface="Helvetica Neue"/>
                <a:cs typeface="Helvetica Neue"/>
              </a:defRPr>
            </a:lvl6pPr>
            <a:lvl7pPr>
              <a:defRPr sz="3450" b="1">
                <a:solidFill>
                  <a:srgbClr val="FFFFFF"/>
                </a:solidFill>
                <a:latin typeface="Helvetica Neue"/>
                <a:ea typeface="Helvetica Neue"/>
                <a:cs typeface="Helvetica Neue"/>
              </a:defRPr>
            </a:lvl7pPr>
            <a:lvl8pPr>
              <a:defRPr sz="3450" b="1">
                <a:solidFill>
                  <a:srgbClr val="FFFFFF"/>
                </a:solidFill>
                <a:latin typeface="Helvetica Neue"/>
                <a:ea typeface="Helvetica Neue"/>
                <a:cs typeface="Helvetica Neue"/>
              </a:defRPr>
            </a:lvl8pPr>
            <a:lvl9pPr>
              <a:defRPr sz="3450" b="1">
                <a:solidFill>
                  <a:srgbClr val="FFFFFF"/>
                </a:solidFill>
                <a:latin typeface="Helvetica Neue"/>
                <a:ea typeface="Helvetica Neue"/>
                <a:cs typeface="Helvetica Neue"/>
              </a:defRPr>
            </a:lvl9pPr>
          </a:lstStyle>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Technology and agent execution</a:t>
            </a:r>
          </a:p>
        </p:txBody>
      </p:sp>
      <p:sp>
        <p:nvSpPr>
          <p:cNvPr id="2" name="">
            <a:extLst xmlns:a="http://schemas.openxmlformats.org/drawingml/2006/main">
              <a:ext uri="{FF2B5EF4-FFF2-40B4-BE49-F238E27FC236}">
                <a16:creationId xmlns:a16="http://schemas.microsoft.com/office/drawing/2014/main" id="{E13A2D99-F132-4F1D-805C-133F197051AA}"/>
              </a:ext>
            </a:extLst>
          </p:cNvPr>
          <p:cNvSpPr>
            <a:spLocks xmlns:a="http://schemas.openxmlformats.org/drawingml/2006/main" noGrp="1"/>
          </p:cNvSpPr>
          <p:nvPr/>
        </p:nvSpPr>
        <p:spPr>
          <a:xfrm xmlns:a="http://schemas.openxmlformats.org/drawingml/2006/main">
            <a:off x="685800" y="64865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9D0DE"/>
                </a:solidFill>
                <a:latin typeface="Helvetica Neue"/>
                <a:ea typeface="Helvetica Neue"/>
                <a:cs typeface="Helvetica Neue"/>
              </a:defRPr>
            </a:defPPr>
            <a:lvl1pPr>
              <a:defRPr sz="1200" b="0">
                <a:solidFill>
                  <a:srgbClr val="B9D0DE"/>
                </a:solidFill>
                <a:latin typeface="Helvetica Neue"/>
                <a:ea typeface="Helvetica Neue"/>
                <a:cs typeface="Helvetica Neue"/>
              </a:defRPr>
            </a:lvl1pPr>
            <a:lvl2pPr>
              <a:defRPr sz="1200" b="0">
                <a:solidFill>
                  <a:srgbClr val="B9D0DE"/>
                </a:solidFill>
                <a:latin typeface="Helvetica Neue"/>
                <a:ea typeface="Helvetica Neue"/>
                <a:cs typeface="Helvetica Neue"/>
              </a:defRPr>
            </a:lvl2pPr>
            <a:lvl3pPr>
              <a:defRPr sz="1200" b="0">
                <a:solidFill>
                  <a:srgbClr val="B9D0DE"/>
                </a:solidFill>
                <a:latin typeface="Helvetica Neue"/>
                <a:ea typeface="Helvetica Neue"/>
                <a:cs typeface="Helvetica Neue"/>
              </a:defRPr>
            </a:lvl3pPr>
            <a:lvl4pPr>
              <a:defRPr sz="1200" b="0">
                <a:solidFill>
                  <a:srgbClr val="B9D0DE"/>
                </a:solidFill>
                <a:latin typeface="Helvetica Neue"/>
                <a:ea typeface="Helvetica Neue"/>
                <a:cs typeface="Helvetica Neue"/>
              </a:defRPr>
            </a:lvl4pPr>
            <a:lvl5pPr>
              <a:defRPr sz="1200" b="0">
                <a:solidFill>
                  <a:srgbClr val="B9D0DE"/>
                </a:solidFill>
                <a:latin typeface="Helvetica Neue"/>
                <a:ea typeface="Helvetica Neue"/>
                <a:cs typeface="Helvetica Neue"/>
              </a:defRPr>
            </a:lvl5pPr>
            <a:lvl6pPr>
              <a:defRPr sz="1200" b="0">
                <a:solidFill>
                  <a:srgbClr val="B9D0DE"/>
                </a:solidFill>
                <a:latin typeface="Helvetica Neue"/>
                <a:ea typeface="Helvetica Neue"/>
                <a:cs typeface="Helvetica Neue"/>
              </a:defRPr>
            </a:lvl6pPr>
            <a:lvl7pPr>
              <a:defRPr sz="1200" b="0">
                <a:solidFill>
                  <a:srgbClr val="B9D0DE"/>
                </a:solidFill>
                <a:latin typeface="Helvetica Neue"/>
                <a:ea typeface="Helvetica Neue"/>
                <a:cs typeface="Helvetica Neue"/>
              </a:defRPr>
            </a:lvl7pPr>
            <a:lvl8pPr>
              <a:defRPr sz="1200" b="0">
                <a:solidFill>
                  <a:srgbClr val="B9D0DE"/>
                </a:solidFill>
                <a:latin typeface="Helvetica Neue"/>
                <a:ea typeface="Helvetica Neue"/>
                <a:cs typeface="Helvetica Neue"/>
              </a:defRPr>
            </a:lvl8pPr>
            <a:lvl9pPr>
              <a:defRPr sz="1200" b="0">
                <a:solidFill>
                  <a:srgbClr val="B9D0DE"/>
                </a:solidFill>
                <a:latin typeface="Helvetica Neue"/>
                <a:ea typeface="Helvetica Neue"/>
                <a:cs typeface="Helvetica Neue"/>
              </a:defRPr>
            </a:lvl9pPr>
          </a:lstStyle>
          <a:p xmlns:a="http://schemas.openxmlformats.org/drawingml/2006/main">
            <a:pPr>
              <a:defRPr sz="1200" b="0">
                <a:solidFill>
                  <a:srgbClr val="B9D0DE"/>
                </a:solidFill>
                <a:latin typeface="Helvetica Neue"/>
                <a:ea typeface="Helvetica Neue"/>
                <a:cs typeface="Helvetica Neue"/>
              </a:defRPr>
            </a:pPr>
            <a:r>
              <a:rPr sz="1200" b="0">
                <a:solidFill>
                  <a:srgbClr val="B9D0DE"/>
                </a:solidFill>
                <a:latin typeface="Helvetica Neue"/>
                <a:ea typeface="Helvetica Neue"/>
                <a:cs typeface="Helvetica Neue"/>
              </a:rPr>
              <a:t>MerchantLens / Paytm Build for India / Stage 1</a:t>
            </a:r>
          </a:p>
        </p:txBody>
      </p:sp>
      <p:sp>
        <p:nvSpPr>
          <p:cNvPr id="3" name="">
            <a:extLst xmlns:a="http://schemas.openxmlformats.org/drawingml/2006/main">
              <a:ext uri="{FF2B5EF4-FFF2-40B4-BE49-F238E27FC236}">
                <a16:creationId xmlns:a16="http://schemas.microsoft.com/office/drawing/2014/main" id="{73D6B048-654E-4E8B-A9CA-BB44A3DECA5A}"/>
              </a:ext>
            </a:extLst>
          </p:cNvPr>
          <p:cNvSpPr>
            <a:spLocks xmlns:a="http://schemas.openxmlformats.org/drawingml/2006/main" noGrp="1"/>
          </p:cNvSpPr>
          <p:nvPr/>
        </p:nvSpPr>
        <p:spPr>
          <a:xfrm xmlns:a="http://schemas.openxmlformats.org/drawingml/2006/main">
            <a:off x="10953750" y="648652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9D0DE"/>
                </a:solidFill>
                <a:latin typeface="Helvetica Neue"/>
                <a:ea typeface="Helvetica Neue"/>
                <a:cs typeface="Helvetica Neue"/>
              </a:defRPr>
            </a:defPPr>
            <a:lvl1pPr>
              <a:defRPr sz="1200" b="0">
                <a:solidFill>
                  <a:srgbClr val="B9D0DE"/>
                </a:solidFill>
                <a:latin typeface="Helvetica Neue"/>
                <a:ea typeface="Helvetica Neue"/>
                <a:cs typeface="Helvetica Neue"/>
              </a:defRPr>
            </a:lvl1pPr>
            <a:lvl2pPr>
              <a:defRPr sz="1200" b="0">
                <a:solidFill>
                  <a:srgbClr val="B9D0DE"/>
                </a:solidFill>
                <a:latin typeface="Helvetica Neue"/>
                <a:ea typeface="Helvetica Neue"/>
                <a:cs typeface="Helvetica Neue"/>
              </a:defRPr>
            </a:lvl2pPr>
            <a:lvl3pPr>
              <a:defRPr sz="1200" b="0">
                <a:solidFill>
                  <a:srgbClr val="B9D0DE"/>
                </a:solidFill>
                <a:latin typeface="Helvetica Neue"/>
                <a:ea typeface="Helvetica Neue"/>
                <a:cs typeface="Helvetica Neue"/>
              </a:defRPr>
            </a:lvl3pPr>
            <a:lvl4pPr>
              <a:defRPr sz="1200" b="0">
                <a:solidFill>
                  <a:srgbClr val="B9D0DE"/>
                </a:solidFill>
                <a:latin typeface="Helvetica Neue"/>
                <a:ea typeface="Helvetica Neue"/>
                <a:cs typeface="Helvetica Neue"/>
              </a:defRPr>
            </a:lvl4pPr>
            <a:lvl5pPr>
              <a:defRPr sz="1200" b="0">
                <a:solidFill>
                  <a:srgbClr val="B9D0DE"/>
                </a:solidFill>
                <a:latin typeface="Helvetica Neue"/>
                <a:ea typeface="Helvetica Neue"/>
                <a:cs typeface="Helvetica Neue"/>
              </a:defRPr>
            </a:lvl5pPr>
            <a:lvl6pPr>
              <a:defRPr sz="1200" b="0">
                <a:solidFill>
                  <a:srgbClr val="B9D0DE"/>
                </a:solidFill>
                <a:latin typeface="Helvetica Neue"/>
                <a:ea typeface="Helvetica Neue"/>
                <a:cs typeface="Helvetica Neue"/>
              </a:defRPr>
            </a:lvl6pPr>
            <a:lvl7pPr>
              <a:defRPr sz="1200" b="0">
                <a:solidFill>
                  <a:srgbClr val="B9D0DE"/>
                </a:solidFill>
                <a:latin typeface="Helvetica Neue"/>
                <a:ea typeface="Helvetica Neue"/>
                <a:cs typeface="Helvetica Neue"/>
              </a:defRPr>
            </a:lvl7pPr>
            <a:lvl8pPr>
              <a:defRPr sz="1200" b="0">
                <a:solidFill>
                  <a:srgbClr val="B9D0DE"/>
                </a:solidFill>
                <a:latin typeface="Helvetica Neue"/>
                <a:ea typeface="Helvetica Neue"/>
                <a:cs typeface="Helvetica Neue"/>
              </a:defRPr>
            </a:lvl8pPr>
            <a:lvl9pPr>
              <a:defRPr sz="1200" b="0">
                <a:solidFill>
                  <a:srgbClr val="B9D0DE"/>
                </a:solidFill>
                <a:latin typeface="Helvetica Neue"/>
                <a:ea typeface="Helvetica Neue"/>
                <a:cs typeface="Helvetica Neue"/>
              </a:defRPr>
            </a:lvl9pPr>
          </a:lstStyle>
          <a:p xmlns:a="http://schemas.openxmlformats.org/drawingml/2006/main">
            <a:pPr>
              <a:defRPr sz="1200" b="0">
                <a:solidFill>
                  <a:srgbClr val="B9D0DE"/>
                </a:solidFill>
                <a:latin typeface="Helvetica Neue"/>
                <a:ea typeface="Helvetica Neue"/>
                <a:cs typeface="Helvetica Neue"/>
              </a:defRPr>
            </a:pPr>
            <a:r>
              <a:rPr sz="1200" b="0">
                <a:solidFill>
                  <a:srgbClr val="B9D0DE"/>
                </a:solidFill>
                <a:latin typeface="Helvetica Neue"/>
                <a:ea typeface="Helvetica Neue"/>
                <a:cs typeface="Helvetica Neue"/>
              </a:rPr>
              <a:t>4/7</a:t>
            </a:r>
          </a:p>
        </p:txBody>
      </p:sp>
      <p:sp>
        <p:nvSpPr>
          <p:cNvPr id="4" name="">
            <a:extLst xmlns:a="http://schemas.openxmlformats.org/drawingml/2006/main">
              <a:ext uri="{FF2B5EF4-FFF2-40B4-BE49-F238E27FC236}">
                <a16:creationId xmlns:a16="http://schemas.microsoft.com/office/drawing/2014/main" id="{56072AE5-2771-499B-B7ED-2DCC44DEF5D1}"/>
              </a:ext>
            </a:extLst>
          </p:cNvPr>
          <p:cNvSpPr>
            <a:spLocks xmlns:a="http://schemas.openxmlformats.org/drawingml/2006/main" noGrp="1"/>
          </p:cNvSpPr>
          <p:nvPr/>
        </p:nvSpPr>
        <p:spPr>
          <a:xfrm xmlns:a="http://schemas.openxmlformats.org/drawingml/2006/main">
            <a:off x="704850" y="16287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Helvetica Neue"/>
                <a:ea typeface="Helvetica Neue"/>
                <a:cs typeface="Helvetica Neue"/>
              </a:defRPr>
            </a:defPPr>
            <a:lvl1pPr>
              <a:defRPr sz="2175" b="1">
                <a:solidFill>
                  <a:srgbClr val="FFFFFF"/>
                </a:solidFill>
                <a:latin typeface="Helvetica Neue"/>
                <a:ea typeface="Helvetica Neue"/>
                <a:cs typeface="Helvetica Neue"/>
              </a:defRPr>
            </a:lvl1pPr>
            <a:lvl2pPr>
              <a:defRPr sz="2175" b="1">
                <a:solidFill>
                  <a:srgbClr val="FFFFFF"/>
                </a:solidFill>
                <a:latin typeface="Helvetica Neue"/>
                <a:ea typeface="Helvetica Neue"/>
                <a:cs typeface="Helvetica Neue"/>
              </a:defRPr>
            </a:lvl2pPr>
            <a:lvl3pPr>
              <a:defRPr sz="2175" b="1">
                <a:solidFill>
                  <a:srgbClr val="FFFFFF"/>
                </a:solidFill>
                <a:latin typeface="Helvetica Neue"/>
                <a:ea typeface="Helvetica Neue"/>
                <a:cs typeface="Helvetica Neue"/>
              </a:defRPr>
            </a:lvl3pPr>
            <a:lvl4pPr>
              <a:defRPr sz="2175" b="1">
                <a:solidFill>
                  <a:srgbClr val="FFFFFF"/>
                </a:solidFill>
                <a:latin typeface="Helvetica Neue"/>
                <a:ea typeface="Helvetica Neue"/>
                <a:cs typeface="Helvetica Neue"/>
              </a:defRPr>
            </a:lvl4pPr>
            <a:lvl5pPr>
              <a:defRPr sz="2175" b="1">
                <a:solidFill>
                  <a:srgbClr val="FFFFFF"/>
                </a:solidFill>
                <a:latin typeface="Helvetica Neue"/>
                <a:ea typeface="Helvetica Neue"/>
                <a:cs typeface="Helvetica Neue"/>
              </a:defRPr>
            </a:lvl5pPr>
            <a:lvl6pPr>
              <a:defRPr sz="2175" b="1">
                <a:solidFill>
                  <a:srgbClr val="FFFFFF"/>
                </a:solidFill>
                <a:latin typeface="Helvetica Neue"/>
                <a:ea typeface="Helvetica Neue"/>
                <a:cs typeface="Helvetica Neue"/>
              </a:defRPr>
            </a:lvl6pPr>
            <a:lvl7pPr>
              <a:defRPr sz="2175" b="1">
                <a:solidFill>
                  <a:srgbClr val="FFFFFF"/>
                </a:solidFill>
                <a:latin typeface="Helvetica Neue"/>
                <a:ea typeface="Helvetica Neue"/>
                <a:cs typeface="Helvetica Neue"/>
              </a:defRPr>
            </a:lvl7pPr>
            <a:lvl8pPr>
              <a:defRPr sz="2175" b="1">
                <a:solidFill>
                  <a:srgbClr val="FFFFFF"/>
                </a:solidFill>
                <a:latin typeface="Helvetica Neue"/>
                <a:ea typeface="Helvetica Neue"/>
                <a:cs typeface="Helvetica Neue"/>
              </a:defRPr>
            </a:lvl8pPr>
            <a:lvl9pPr>
              <a:defRPr sz="2175" b="1">
                <a:solidFill>
                  <a:srgbClr val="FFFFFF"/>
                </a:solidFill>
                <a:latin typeface="Helvetica Neue"/>
                <a:ea typeface="Helvetica Neue"/>
                <a:cs typeface="Helvetica Neue"/>
              </a:defRPr>
            </a:lvl9pPr>
          </a:lstStyle>
          <a:p xmlns:a="http://schemas.openxmlformats.org/drawingml/2006/main">
            <a:pP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Interface and voice</a:t>
            </a:r>
          </a:p>
        </p:txBody>
      </p:sp>
      <p:sp>
        <p:nvSpPr>
          <p:cNvPr id="5" name="">
            <a:extLst xmlns:a="http://schemas.openxmlformats.org/drawingml/2006/main">
              <a:ext uri="{FF2B5EF4-FFF2-40B4-BE49-F238E27FC236}">
                <a16:creationId xmlns:a16="http://schemas.microsoft.com/office/drawing/2014/main" id="{A0DDAB56-50AF-4A95-9327-585D9E6FAF93}"/>
              </a:ext>
            </a:extLst>
          </p:cNvPr>
          <p:cNvSpPr>
            <a:spLocks xmlns:a="http://schemas.openxmlformats.org/drawingml/2006/main" noGrp="1"/>
          </p:cNvSpPr>
          <p:nvPr/>
        </p:nvSpPr>
        <p:spPr>
          <a:xfrm xmlns:a="http://schemas.openxmlformats.org/drawingml/2006/main">
            <a:off x="704850" y="210502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9D0DE"/>
                </a:solidFill>
                <a:latin typeface="Helvetica Neue"/>
                <a:ea typeface="Helvetica Neue"/>
                <a:cs typeface="Helvetica Neue"/>
              </a:defRPr>
            </a:defPPr>
            <a:lvl1pPr>
              <a:defRPr sz="1875" b="0">
                <a:solidFill>
                  <a:srgbClr val="B9D0DE"/>
                </a:solidFill>
                <a:latin typeface="Helvetica Neue"/>
                <a:ea typeface="Helvetica Neue"/>
                <a:cs typeface="Helvetica Neue"/>
              </a:defRPr>
            </a:lvl1pPr>
            <a:lvl2pPr>
              <a:defRPr sz="1875" b="0">
                <a:solidFill>
                  <a:srgbClr val="B9D0DE"/>
                </a:solidFill>
                <a:latin typeface="Helvetica Neue"/>
                <a:ea typeface="Helvetica Neue"/>
                <a:cs typeface="Helvetica Neue"/>
              </a:defRPr>
            </a:lvl2pPr>
            <a:lvl3pPr>
              <a:defRPr sz="1875" b="0">
                <a:solidFill>
                  <a:srgbClr val="B9D0DE"/>
                </a:solidFill>
                <a:latin typeface="Helvetica Neue"/>
                <a:ea typeface="Helvetica Neue"/>
                <a:cs typeface="Helvetica Neue"/>
              </a:defRPr>
            </a:lvl3pPr>
            <a:lvl4pPr>
              <a:defRPr sz="1875" b="0">
                <a:solidFill>
                  <a:srgbClr val="B9D0DE"/>
                </a:solidFill>
                <a:latin typeface="Helvetica Neue"/>
                <a:ea typeface="Helvetica Neue"/>
                <a:cs typeface="Helvetica Neue"/>
              </a:defRPr>
            </a:lvl4pPr>
            <a:lvl5pPr>
              <a:defRPr sz="1875" b="0">
                <a:solidFill>
                  <a:srgbClr val="B9D0DE"/>
                </a:solidFill>
                <a:latin typeface="Helvetica Neue"/>
                <a:ea typeface="Helvetica Neue"/>
                <a:cs typeface="Helvetica Neue"/>
              </a:defRPr>
            </a:lvl5pPr>
            <a:lvl6pPr>
              <a:defRPr sz="1875" b="0">
                <a:solidFill>
                  <a:srgbClr val="B9D0DE"/>
                </a:solidFill>
                <a:latin typeface="Helvetica Neue"/>
                <a:ea typeface="Helvetica Neue"/>
                <a:cs typeface="Helvetica Neue"/>
              </a:defRPr>
            </a:lvl6pPr>
            <a:lvl7pPr>
              <a:defRPr sz="1875" b="0">
                <a:solidFill>
                  <a:srgbClr val="B9D0DE"/>
                </a:solidFill>
                <a:latin typeface="Helvetica Neue"/>
                <a:ea typeface="Helvetica Neue"/>
                <a:cs typeface="Helvetica Neue"/>
              </a:defRPr>
            </a:lvl7pPr>
            <a:lvl8pPr>
              <a:defRPr sz="1875" b="0">
                <a:solidFill>
                  <a:srgbClr val="B9D0DE"/>
                </a:solidFill>
                <a:latin typeface="Helvetica Neue"/>
                <a:ea typeface="Helvetica Neue"/>
                <a:cs typeface="Helvetica Neue"/>
              </a:defRPr>
            </a:lvl8pPr>
            <a:lvl9pPr>
              <a:defRPr sz="1875" b="0">
                <a:solidFill>
                  <a:srgbClr val="B9D0DE"/>
                </a:solidFill>
                <a:latin typeface="Helvetica Neue"/>
                <a:ea typeface="Helvetica Neue"/>
                <a:cs typeface="Helvetica Neue"/>
              </a:defRPr>
            </a:lvl9pPr>
          </a:lstStyle>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React, TypeScript and Vinext</a:t>
            </a:r>
          </a:p>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Gemini transcription and speech</a:t>
            </a:r>
          </a:p>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English, Hindi, Kannada, Hinglish</a:t>
            </a:r>
          </a:p>
        </p:txBody>
      </p:sp>
      <p:sp>
        <p:nvSpPr>
          <p:cNvPr id="6" name="">
            <a:extLst xmlns:a="http://schemas.openxmlformats.org/drawingml/2006/main">
              <a:ext uri="{FF2B5EF4-FFF2-40B4-BE49-F238E27FC236}">
                <a16:creationId xmlns:a16="http://schemas.microsoft.com/office/drawing/2014/main" id="{8B6B3A27-248B-40C0-AE6E-E32C09E9534D}"/>
              </a:ext>
            </a:extLst>
          </p:cNvPr>
          <p:cNvSpPr>
            <a:spLocks xmlns:a="http://schemas.openxmlformats.org/drawingml/2006/main" noGrp="1"/>
          </p:cNvSpPr>
          <p:nvPr/>
        </p:nvSpPr>
        <p:spPr>
          <a:xfrm xmlns:a="http://schemas.openxmlformats.org/drawingml/2006/main">
            <a:off x="6334125" y="16287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Helvetica Neue"/>
                <a:ea typeface="Helvetica Neue"/>
                <a:cs typeface="Helvetica Neue"/>
              </a:defRPr>
            </a:defPPr>
            <a:lvl1pPr>
              <a:defRPr sz="2175" b="1">
                <a:solidFill>
                  <a:srgbClr val="FFFFFF"/>
                </a:solidFill>
                <a:latin typeface="Helvetica Neue"/>
                <a:ea typeface="Helvetica Neue"/>
                <a:cs typeface="Helvetica Neue"/>
              </a:defRPr>
            </a:lvl1pPr>
            <a:lvl2pPr>
              <a:defRPr sz="2175" b="1">
                <a:solidFill>
                  <a:srgbClr val="FFFFFF"/>
                </a:solidFill>
                <a:latin typeface="Helvetica Neue"/>
                <a:ea typeface="Helvetica Neue"/>
                <a:cs typeface="Helvetica Neue"/>
              </a:defRPr>
            </a:lvl2pPr>
            <a:lvl3pPr>
              <a:defRPr sz="2175" b="1">
                <a:solidFill>
                  <a:srgbClr val="FFFFFF"/>
                </a:solidFill>
                <a:latin typeface="Helvetica Neue"/>
                <a:ea typeface="Helvetica Neue"/>
                <a:cs typeface="Helvetica Neue"/>
              </a:defRPr>
            </a:lvl3pPr>
            <a:lvl4pPr>
              <a:defRPr sz="2175" b="1">
                <a:solidFill>
                  <a:srgbClr val="FFFFFF"/>
                </a:solidFill>
                <a:latin typeface="Helvetica Neue"/>
                <a:ea typeface="Helvetica Neue"/>
                <a:cs typeface="Helvetica Neue"/>
              </a:defRPr>
            </a:lvl4pPr>
            <a:lvl5pPr>
              <a:defRPr sz="2175" b="1">
                <a:solidFill>
                  <a:srgbClr val="FFFFFF"/>
                </a:solidFill>
                <a:latin typeface="Helvetica Neue"/>
                <a:ea typeface="Helvetica Neue"/>
                <a:cs typeface="Helvetica Neue"/>
              </a:defRPr>
            </a:lvl5pPr>
            <a:lvl6pPr>
              <a:defRPr sz="2175" b="1">
                <a:solidFill>
                  <a:srgbClr val="FFFFFF"/>
                </a:solidFill>
                <a:latin typeface="Helvetica Neue"/>
                <a:ea typeface="Helvetica Neue"/>
                <a:cs typeface="Helvetica Neue"/>
              </a:defRPr>
            </a:lvl6pPr>
            <a:lvl7pPr>
              <a:defRPr sz="2175" b="1">
                <a:solidFill>
                  <a:srgbClr val="FFFFFF"/>
                </a:solidFill>
                <a:latin typeface="Helvetica Neue"/>
                <a:ea typeface="Helvetica Neue"/>
                <a:cs typeface="Helvetica Neue"/>
              </a:defRPr>
            </a:lvl7pPr>
            <a:lvl8pPr>
              <a:defRPr sz="2175" b="1">
                <a:solidFill>
                  <a:srgbClr val="FFFFFF"/>
                </a:solidFill>
                <a:latin typeface="Helvetica Neue"/>
                <a:ea typeface="Helvetica Neue"/>
                <a:cs typeface="Helvetica Neue"/>
              </a:defRPr>
            </a:lvl8pPr>
            <a:lvl9pPr>
              <a:defRPr sz="2175" b="1">
                <a:solidFill>
                  <a:srgbClr val="FFFFFF"/>
                </a:solidFill>
                <a:latin typeface="Helvetica Neue"/>
                <a:ea typeface="Helvetica Neue"/>
                <a:cs typeface="Helvetica Neue"/>
              </a:defRPr>
            </a:lvl9pPr>
          </a:lstStyle>
          <a:p xmlns:a="http://schemas.openxmlformats.org/drawingml/2006/main">
            <a:pP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Bounded agent workflow</a:t>
            </a:r>
          </a:p>
        </p:txBody>
      </p:sp>
      <p:sp>
        <p:nvSpPr>
          <p:cNvPr id="7" name="">
            <a:extLst xmlns:a="http://schemas.openxmlformats.org/drawingml/2006/main">
              <a:ext uri="{FF2B5EF4-FFF2-40B4-BE49-F238E27FC236}">
                <a16:creationId xmlns:a16="http://schemas.microsoft.com/office/drawing/2014/main" id="{1370F1E6-D8D0-41F4-B116-4CB409C26AE0}"/>
              </a:ext>
            </a:extLst>
          </p:cNvPr>
          <p:cNvSpPr>
            <a:spLocks xmlns:a="http://schemas.openxmlformats.org/drawingml/2006/main" noGrp="1"/>
          </p:cNvSpPr>
          <p:nvPr/>
        </p:nvSpPr>
        <p:spPr>
          <a:xfrm xmlns:a="http://schemas.openxmlformats.org/drawingml/2006/main">
            <a:off x="6334125" y="210502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9D0DE"/>
                </a:solidFill>
                <a:latin typeface="Helvetica Neue"/>
                <a:ea typeface="Helvetica Neue"/>
                <a:cs typeface="Helvetica Neue"/>
              </a:defRPr>
            </a:defPPr>
            <a:lvl1pPr>
              <a:defRPr sz="1875" b="0">
                <a:solidFill>
                  <a:srgbClr val="B9D0DE"/>
                </a:solidFill>
                <a:latin typeface="Helvetica Neue"/>
                <a:ea typeface="Helvetica Neue"/>
                <a:cs typeface="Helvetica Neue"/>
              </a:defRPr>
            </a:lvl1pPr>
            <a:lvl2pPr>
              <a:defRPr sz="1875" b="0">
                <a:solidFill>
                  <a:srgbClr val="B9D0DE"/>
                </a:solidFill>
                <a:latin typeface="Helvetica Neue"/>
                <a:ea typeface="Helvetica Neue"/>
                <a:cs typeface="Helvetica Neue"/>
              </a:defRPr>
            </a:lvl2pPr>
            <a:lvl3pPr>
              <a:defRPr sz="1875" b="0">
                <a:solidFill>
                  <a:srgbClr val="B9D0DE"/>
                </a:solidFill>
                <a:latin typeface="Helvetica Neue"/>
                <a:ea typeface="Helvetica Neue"/>
                <a:cs typeface="Helvetica Neue"/>
              </a:defRPr>
            </a:lvl3pPr>
            <a:lvl4pPr>
              <a:defRPr sz="1875" b="0">
                <a:solidFill>
                  <a:srgbClr val="B9D0DE"/>
                </a:solidFill>
                <a:latin typeface="Helvetica Neue"/>
                <a:ea typeface="Helvetica Neue"/>
                <a:cs typeface="Helvetica Neue"/>
              </a:defRPr>
            </a:lvl4pPr>
            <a:lvl5pPr>
              <a:defRPr sz="1875" b="0">
                <a:solidFill>
                  <a:srgbClr val="B9D0DE"/>
                </a:solidFill>
                <a:latin typeface="Helvetica Neue"/>
                <a:ea typeface="Helvetica Neue"/>
                <a:cs typeface="Helvetica Neue"/>
              </a:defRPr>
            </a:lvl5pPr>
            <a:lvl6pPr>
              <a:defRPr sz="1875" b="0">
                <a:solidFill>
                  <a:srgbClr val="B9D0DE"/>
                </a:solidFill>
                <a:latin typeface="Helvetica Neue"/>
                <a:ea typeface="Helvetica Neue"/>
                <a:cs typeface="Helvetica Neue"/>
              </a:defRPr>
            </a:lvl6pPr>
            <a:lvl7pPr>
              <a:defRPr sz="1875" b="0">
                <a:solidFill>
                  <a:srgbClr val="B9D0DE"/>
                </a:solidFill>
                <a:latin typeface="Helvetica Neue"/>
                <a:ea typeface="Helvetica Neue"/>
                <a:cs typeface="Helvetica Neue"/>
              </a:defRPr>
            </a:lvl7pPr>
            <a:lvl8pPr>
              <a:defRPr sz="1875" b="0">
                <a:solidFill>
                  <a:srgbClr val="B9D0DE"/>
                </a:solidFill>
                <a:latin typeface="Helvetica Neue"/>
                <a:ea typeface="Helvetica Neue"/>
                <a:cs typeface="Helvetica Neue"/>
              </a:defRPr>
            </a:lvl8pPr>
            <a:lvl9pPr>
              <a:defRPr sz="1875" b="0">
                <a:solidFill>
                  <a:srgbClr val="B9D0DE"/>
                </a:solidFill>
                <a:latin typeface="Helvetica Neue"/>
                <a:ea typeface="Helvetica Neue"/>
                <a:cs typeface="Helvetica Neue"/>
              </a:defRPr>
            </a:lvl9pPr>
          </a:lstStyle>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Extractor proposes source-linked claims.</a:t>
            </a:r>
          </a:p>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Critic challenges interpretation.</a:t>
            </a:r>
          </a:p>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Planner selects the next question.</a:t>
            </a:r>
          </a:p>
        </p:txBody>
      </p:sp>
      <p:sp>
        <p:nvSpPr>
          <p:cNvPr id="8" name="">
            <a:extLst xmlns:a="http://schemas.openxmlformats.org/drawingml/2006/main">
              <a:ext uri="{FF2B5EF4-FFF2-40B4-BE49-F238E27FC236}">
                <a16:creationId xmlns:a16="http://schemas.microsoft.com/office/drawing/2014/main" id="{BF9DE9B2-399B-460E-8361-066662D554DE}"/>
              </a:ext>
            </a:extLst>
          </p:cNvPr>
          <p:cNvSpPr>
            <a:spLocks xmlns:a="http://schemas.openxmlformats.org/drawingml/2006/main" noGrp="1"/>
          </p:cNvSpPr>
          <p:nvPr/>
        </p:nvSpPr>
        <p:spPr>
          <a:xfrm xmlns:a="http://schemas.openxmlformats.org/drawingml/2006/main">
            <a:off x="704850" y="37909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Helvetica Neue"/>
                <a:ea typeface="Helvetica Neue"/>
                <a:cs typeface="Helvetica Neue"/>
              </a:defRPr>
            </a:defPPr>
            <a:lvl1pPr>
              <a:defRPr sz="2175" b="1">
                <a:solidFill>
                  <a:srgbClr val="FFFFFF"/>
                </a:solidFill>
                <a:latin typeface="Helvetica Neue"/>
                <a:ea typeface="Helvetica Neue"/>
                <a:cs typeface="Helvetica Neue"/>
              </a:defRPr>
            </a:lvl1pPr>
            <a:lvl2pPr>
              <a:defRPr sz="2175" b="1">
                <a:solidFill>
                  <a:srgbClr val="FFFFFF"/>
                </a:solidFill>
                <a:latin typeface="Helvetica Neue"/>
                <a:ea typeface="Helvetica Neue"/>
                <a:cs typeface="Helvetica Neue"/>
              </a:defRPr>
            </a:lvl2pPr>
            <a:lvl3pPr>
              <a:defRPr sz="2175" b="1">
                <a:solidFill>
                  <a:srgbClr val="FFFFFF"/>
                </a:solidFill>
                <a:latin typeface="Helvetica Neue"/>
                <a:ea typeface="Helvetica Neue"/>
                <a:cs typeface="Helvetica Neue"/>
              </a:defRPr>
            </a:lvl3pPr>
            <a:lvl4pPr>
              <a:defRPr sz="2175" b="1">
                <a:solidFill>
                  <a:srgbClr val="FFFFFF"/>
                </a:solidFill>
                <a:latin typeface="Helvetica Neue"/>
                <a:ea typeface="Helvetica Neue"/>
                <a:cs typeface="Helvetica Neue"/>
              </a:defRPr>
            </a:lvl4pPr>
            <a:lvl5pPr>
              <a:defRPr sz="2175" b="1">
                <a:solidFill>
                  <a:srgbClr val="FFFFFF"/>
                </a:solidFill>
                <a:latin typeface="Helvetica Neue"/>
                <a:ea typeface="Helvetica Neue"/>
                <a:cs typeface="Helvetica Neue"/>
              </a:defRPr>
            </a:lvl5pPr>
            <a:lvl6pPr>
              <a:defRPr sz="2175" b="1">
                <a:solidFill>
                  <a:srgbClr val="FFFFFF"/>
                </a:solidFill>
                <a:latin typeface="Helvetica Neue"/>
                <a:ea typeface="Helvetica Neue"/>
                <a:cs typeface="Helvetica Neue"/>
              </a:defRPr>
            </a:lvl6pPr>
            <a:lvl7pPr>
              <a:defRPr sz="2175" b="1">
                <a:solidFill>
                  <a:srgbClr val="FFFFFF"/>
                </a:solidFill>
                <a:latin typeface="Helvetica Neue"/>
                <a:ea typeface="Helvetica Neue"/>
                <a:cs typeface="Helvetica Neue"/>
              </a:defRPr>
            </a:lvl7pPr>
            <a:lvl8pPr>
              <a:defRPr sz="2175" b="1">
                <a:solidFill>
                  <a:srgbClr val="FFFFFF"/>
                </a:solidFill>
                <a:latin typeface="Helvetica Neue"/>
                <a:ea typeface="Helvetica Neue"/>
                <a:cs typeface="Helvetica Neue"/>
              </a:defRPr>
            </a:lvl8pPr>
            <a:lvl9pPr>
              <a:defRPr sz="2175" b="1">
                <a:solidFill>
                  <a:srgbClr val="FFFFFF"/>
                </a:solidFill>
                <a:latin typeface="Helvetica Neue"/>
                <a:ea typeface="Helvetica Neue"/>
                <a:cs typeface="Helvetica Neue"/>
              </a:defRPr>
            </a:lvl9pPr>
          </a:lstStyle>
          <a:p xmlns:a="http://schemas.openxmlformats.org/drawingml/2006/main">
            <a:pP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Code controls authority</a:t>
            </a:r>
          </a:p>
        </p:txBody>
      </p:sp>
      <p:sp>
        <p:nvSpPr>
          <p:cNvPr id="9" name="">
            <a:extLst xmlns:a="http://schemas.openxmlformats.org/drawingml/2006/main">
              <a:ext uri="{FF2B5EF4-FFF2-40B4-BE49-F238E27FC236}">
                <a16:creationId xmlns:a16="http://schemas.microsoft.com/office/drawing/2014/main" id="{0E3595F2-A1F1-4C90-8629-5882F409FEAA}"/>
              </a:ext>
            </a:extLst>
          </p:cNvPr>
          <p:cNvSpPr>
            <a:spLocks xmlns:a="http://schemas.openxmlformats.org/drawingml/2006/main" noGrp="1"/>
          </p:cNvSpPr>
          <p:nvPr/>
        </p:nvSpPr>
        <p:spPr>
          <a:xfrm xmlns:a="http://schemas.openxmlformats.org/drawingml/2006/main">
            <a:off x="704850" y="42672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9D0DE"/>
                </a:solidFill>
                <a:latin typeface="Helvetica Neue"/>
                <a:ea typeface="Helvetica Neue"/>
                <a:cs typeface="Helvetica Neue"/>
              </a:defRPr>
            </a:defPPr>
            <a:lvl1pPr>
              <a:defRPr sz="1875" b="0">
                <a:solidFill>
                  <a:srgbClr val="B9D0DE"/>
                </a:solidFill>
                <a:latin typeface="Helvetica Neue"/>
                <a:ea typeface="Helvetica Neue"/>
                <a:cs typeface="Helvetica Neue"/>
              </a:defRPr>
            </a:lvl1pPr>
            <a:lvl2pPr>
              <a:defRPr sz="1875" b="0">
                <a:solidFill>
                  <a:srgbClr val="B9D0DE"/>
                </a:solidFill>
                <a:latin typeface="Helvetica Neue"/>
                <a:ea typeface="Helvetica Neue"/>
                <a:cs typeface="Helvetica Neue"/>
              </a:defRPr>
            </a:lvl2pPr>
            <a:lvl3pPr>
              <a:defRPr sz="1875" b="0">
                <a:solidFill>
                  <a:srgbClr val="B9D0DE"/>
                </a:solidFill>
                <a:latin typeface="Helvetica Neue"/>
                <a:ea typeface="Helvetica Neue"/>
                <a:cs typeface="Helvetica Neue"/>
              </a:defRPr>
            </a:lvl3pPr>
            <a:lvl4pPr>
              <a:defRPr sz="1875" b="0">
                <a:solidFill>
                  <a:srgbClr val="B9D0DE"/>
                </a:solidFill>
                <a:latin typeface="Helvetica Neue"/>
                <a:ea typeface="Helvetica Neue"/>
                <a:cs typeface="Helvetica Neue"/>
              </a:defRPr>
            </a:lvl4pPr>
            <a:lvl5pPr>
              <a:defRPr sz="1875" b="0">
                <a:solidFill>
                  <a:srgbClr val="B9D0DE"/>
                </a:solidFill>
                <a:latin typeface="Helvetica Neue"/>
                <a:ea typeface="Helvetica Neue"/>
                <a:cs typeface="Helvetica Neue"/>
              </a:defRPr>
            </a:lvl5pPr>
            <a:lvl6pPr>
              <a:defRPr sz="1875" b="0">
                <a:solidFill>
                  <a:srgbClr val="B9D0DE"/>
                </a:solidFill>
                <a:latin typeface="Helvetica Neue"/>
                <a:ea typeface="Helvetica Neue"/>
                <a:cs typeface="Helvetica Neue"/>
              </a:defRPr>
            </a:lvl6pPr>
            <a:lvl7pPr>
              <a:defRPr sz="1875" b="0">
                <a:solidFill>
                  <a:srgbClr val="B9D0DE"/>
                </a:solidFill>
                <a:latin typeface="Helvetica Neue"/>
                <a:ea typeface="Helvetica Neue"/>
                <a:cs typeface="Helvetica Neue"/>
              </a:defRPr>
            </a:lvl7pPr>
            <a:lvl8pPr>
              <a:defRPr sz="1875" b="0">
                <a:solidFill>
                  <a:srgbClr val="B9D0DE"/>
                </a:solidFill>
                <a:latin typeface="Helvetica Neue"/>
                <a:ea typeface="Helvetica Neue"/>
                <a:cs typeface="Helvetica Neue"/>
              </a:defRPr>
            </a:lvl8pPr>
            <a:lvl9pPr>
              <a:defRPr sz="1875" b="0">
                <a:solidFill>
                  <a:srgbClr val="B9D0DE"/>
                </a:solidFill>
                <a:latin typeface="Helvetica Neue"/>
                <a:ea typeface="Helvetica Neue"/>
                <a:cs typeface="Helvetica Neue"/>
              </a:defRPr>
            </a:lvl9pPr>
          </a:lstStyle>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Exact quote and source checks</a:t>
            </a:r>
          </a:p>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Up to 4 model calls and 3 local tools</a:t>
            </a:r>
          </a:p>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One repair and a 55-second deadline</a:t>
            </a:r>
          </a:p>
        </p:txBody>
      </p:sp>
      <p:sp>
        <p:nvSpPr>
          <p:cNvPr id="10" name="">
            <a:extLst xmlns:a="http://schemas.openxmlformats.org/drawingml/2006/main">
              <a:ext uri="{FF2B5EF4-FFF2-40B4-BE49-F238E27FC236}">
                <a16:creationId xmlns:a16="http://schemas.microsoft.com/office/drawing/2014/main" id="{E17F62C1-3CBE-4973-80C2-801FD12B4A55}"/>
              </a:ext>
            </a:extLst>
          </p:cNvPr>
          <p:cNvSpPr>
            <a:spLocks xmlns:a="http://schemas.openxmlformats.org/drawingml/2006/main" noGrp="1"/>
          </p:cNvSpPr>
          <p:nvPr/>
        </p:nvSpPr>
        <p:spPr>
          <a:xfrm xmlns:a="http://schemas.openxmlformats.org/drawingml/2006/main">
            <a:off x="6334125" y="37909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Helvetica Neue"/>
                <a:ea typeface="Helvetica Neue"/>
                <a:cs typeface="Helvetica Neue"/>
              </a:defRPr>
            </a:defPPr>
            <a:lvl1pPr>
              <a:defRPr sz="2175" b="1">
                <a:solidFill>
                  <a:srgbClr val="FFFFFF"/>
                </a:solidFill>
                <a:latin typeface="Helvetica Neue"/>
                <a:ea typeface="Helvetica Neue"/>
                <a:cs typeface="Helvetica Neue"/>
              </a:defRPr>
            </a:lvl1pPr>
            <a:lvl2pPr>
              <a:defRPr sz="2175" b="1">
                <a:solidFill>
                  <a:srgbClr val="FFFFFF"/>
                </a:solidFill>
                <a:latin typeface="Helvetica Neue"/>
                <a:ea typeface="Helvetica Neue"/>
                <a:cs typeface="Helvetica Neue"/>
              </a:defRPr>
            </a:lvl2pPr>
            <a:lvl3pPr>
              <a:defRPr sz="2175" b="1">
                <a:solidFill>
                  <a:srgbClr val="FFFFFF"/>
                </a:solidFill>
                <a:latin typeface="Helvetica Neue"/>
                <a:ea typeface="Helvetica Neue"/>
                <a:cs typeface="Helvetica Neue"/>
              </a:defRPr>
            </a:lvl3pPr>
            <a:lvl4pPr>
              <a:defRPr sz="2175" b="1">
                <a:solidFill>
                  <a:srgbClr val="FFFFFF"/>
                </a:solidFill>
                <a:latin typeface="Helvetica Neue"/>
                <a:ea typeface="Helvetica Neue"/>
                <a:cs typeface="Helvetica Neue"/>
              </a:defRPr>
            </a:lvl4pPr>
            <a:lvl5pPr>
              <a:defRPr sz="2175" b="1">
                <a:solidFill>
                  <a:srgbClr val="FFFFFF"/>
                </a:solidFill>
                <a:latin typeface="Helvetica Neue"/>
                <a:ea typeface="Helvetica Neue"/>
                <a:cs typeface="Helvetica Neue"/>
              </a:defRPr>
            </a:lvl5pPr>
            <a:lvl6pPr>
              <a:defRPr sz="2175" b="1">
                <a:solidFill>
                  <a:srgbClr val="FFFFFF"/>
                </a:solidFill>
                <a:latin typeface="Helvetica Neue"/>
                <a:ea typeface="Helvetica Neue"/>
                <a:cs typeface="Helvetica Neue"/>
              </a:defRPr>
            </a:lvl6pPr>
            <a:lvl7pPr>
              <a:defRPr sz="2175" b="1">
                <a:solidFill>
                  <a:srgbClr val="FFFFFF"/>
                </a:solidFill>
                <a:latin typeface="Helvetica Neue"/>
                <a:ea typeface="Helvetica Neue"/>
                <a:cs typeface="Helvetica Neue"/>
              </a:defRPr>
            </a:lvl7pPr>
            <a:lvl8pPr>
              <a:defRPr sz="2175" b="1">
                <a:solidFill>
                  <a:srgbClr val="FFFFFF"/>
                </a:solidFill>
                <a:latin typeface="Helvetica Neue"/>
                <a:ea typeface="Helvetica Neue"/>
                <a:cs typeface="Helvetica Neue"/>
              </a:defRPr>
            </a:lvl8pPr>
            <a:lvl9pPr>
              <a:defRPr sz="2175" b="1">
                <a:solidFill>
                  <a:srgbClr val="FFFFFF"/>
                </a:solidFill>
                <a:latin typeface="Helvetica Neue"/>
                <a:ea typeface="Helvetica Neue"/>
                <a:cs typeface="Helvetica Neue"/>
              </a:defRPr>
            </a:lvl9pPr>
          </a:lstStyle>
          <a:p xmlns:a="http://schemas.openxmlformats.org/drawingml/2006/main">
            <a:pP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Runtime and review</a:t>
            </a:r>
          </a:p>
        </p:txBody>
      </p:sp>
      <p:sp>
        <p:nvSpPr>
          <p:cNvPr id="11" name="">
            <a:extLst xmlns:a="http://schemas.openxmlformats.org/drawingml/2006/main">
              <a:ext uri="{FF2B5EF4-FFF2-40B4-BE49-F238E27FC236}">
                <a16:creationId xmlns:a16="http://schemas.microsoft.com/office/drawing/2014/main" id="{B0CBDA99-EC33-477B-8E4F-173FEFB449A3}"/>
              </a:ext>
            </a:extLst>
          </p:cNvPr>
          <p:cNvSpPr>
            <a:spLocks xmlns:a="http://schemas.openxmlformats.org/drawingml/2006/main" noGrp="1"/>
          </p:cNvSpPr>
          <p:nvPr/>
        </p:nvSpPr>
        <p:spPr>
          <a:xfrm xmlns:a="http://schemas.openxmlformats.org/drawingml/2006/main">
            <a:off x="6334125" y="42672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9D0DE"/>
                </a:solidFill>
                <a:latin typeface="Helvetica Neue"/>
                <a:ea typeface="Helvetica Neue"/>
                <a:cs typeface="Helvetica Neue"/>
              </a:defRPr>
            </a:defPPr>
            <a:lvl1pPr>
              <a:defRPr sz="1875" b="0">
                <a:solidFill>
                  <a:srgbClr val="B9D0DE"/>
                </a:solidFill>
                <a:latin typeface="Helvetica Neue"/>
                <a:ea typeface="Helvetica Neue"/>
                <a:cs typeface="Helvetica Neue"/>
              </a:defRPr>
            </a:lvl1pPr>
            <a:lvl2pPr>
              <a:defRPr sz="1875" b="0">
                <a:solidFill>
                  <a:srgbClr val="B9D0DE"/>
                </a:solidFill>
                <a:latin typeface="Helvetica Neue"/>
                <a:ea typeface="Helvetica Neue"/>
                <a:cs typeface="Helvetica Neue"/>
              </a:defRPr>
            </a:lvl2pPr>
            <a:lvl3pPr>
              <a:defRPr sz="1875" b="0">
                <a:solidFill>
                  <a:srgbClr val="B9D0DE"/>
                </a:solidFill>
                <a:latin typeface="Helvetica Neue"/>
                <a:ea typeface="Helvetica Neue"/>
                <a:cs typeface="Helvetica Neue"/>
              </a:defRPr>
            </a:lvl3pPr>
            <a:lvl4pPr>
              <a:defRPr sz="1875" b="0">
                <a:solidFill>
                  <a:srgbClr val="B9D0DE"/>
                </a:solidFill>
                <a:latin typeface="Helvetica Neue"/>
                <a:ea typeface="Helvetica Neue"/>
                <a:cs typeface="Helvetica Neue"/>
              </a:defRPr>
            </a:lvl4pPr>
            <a:lvl5pPr>
              <a:defRPr sz="1875" b="0">
                <a:solidFill>
                  <a:srgbClr val="B9D0DE"/>
                </a:solidFill>
                <a:latin typeface="Helvetica Neue"/>
                <a:ea typeface="Helvetica Neue"/>
                <a:cs typeface="Helvetica Neue"/>
              </a:defRPr>
            </a:lvl5pPr>
            <a:lvl6pPr>
              <a:defRPr sz="1875" b="0">
                <a:solidFill>
                  <a:srgbClr val="B9D0DE"/>
                </a:solidFill>
                <a:latin typeface="Helvetica Neue"/>
                <a:ea typeface="Helvetica Neue"/>
                <a:cs typeface="Helvetica Neue"/>
              </a:defRPr>
            </a:lvl6pPr>
            <a:lvl7pPr>
              <a:defRPr sz="1875" b="0">
                <a:solidFill>
                  <a:srgbClr val="B9D0DE"/>
                </a:solidFill>
                <a:latin typeface="Helvetica Neue"/>
                <a:ea typeface="Helvetica Neue"/>
                <a:cs typeface="Helvetica Neue"/>
              </a:defRPr>
            </a:lvl7pPr>
            <a:lvl8pPr>
              <a:defRPr sz="1875" b="0">
                <a:solidFill>
                  <a:srgbClr val="B9D0DE"/>
                </a:solidFill>
                <a:latin typeface="Helvetica Neue"/>
                <a:ea typeface="Helvetica Neue"/>
                <a:cs typeface="Helvetica Neue"/>
              </a:defRPr>
            </a:lvl8pPr>
            <a:lvl9pPr>
              <a:defRPr sz="1875" b="0">
                <a:solidFill>
                  <a:srgbClr val="B9D0DE"/>
                </a:solidFill>
                <a:latin typeface="Helvetica Neue"/>
                <a:ea typeface="Helvetica Neue"/>
                <a:cs typeface="Helvetica Neue"/>
              </a:defRPr>
            </a:lvl9pPr>
          </a:lstStyle>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Node on Google Cloud Run</a:t>
            </a:r>
          </a:p>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Browser-local cases in public demo</a:t>
            </a:r>
          </a:p>
          <a:p xmlns:a="http://schemas.openxmlformats.org/drawingml/2006/main">
            <a:pPr>
              <a:defRPr sz="1875" b="0">
                <a:solidFill>
                  <a:srgbClr val="B9D0DE"/>
                </a:solidFill>
                <a:latin typeface="Helvetica Neue"/>
                <a:ea typeface="Helvetica Neue"/>
                <a:cs typeface="Helvetica Neue"/>
              </a:defRPr>
            </a:pPr>
            <a:r>
              <a:rPr sz="1875" b="0">
                <a:solidFill>
                  <a:srgbClr val="B9D0DE"/>
                </a:solidFill>
                <a:latin typeface="Helvetica Neue"/>
                <a:ea typeface="Helvetica Neue"/>
                <a:cs typeface="Helvetica Neue"/>
              </a:rPr>
              <a:t>Edits invalidate both export approvals</a:t>
            </a:r>
          </a:p>
        </p:txBody>
      </p:sp>
      <p:sp>
        <p:nvSpPr>
          <p:cNvPr id="12" name="">
            <a:extLst xmlns:a="http://schemas.openxmlformats.org/drawingml/2006/main">
              <a:ext uri="{FF2B5EF4-FFF2-40B4-BE49-F238E27FC236}">
                <a16:creationId xmlns:a16="http://schemas.microsoft.com/office/drawing/2014/main" id="{D451EF23-4B12-46B9-A726-8E9B20D27A39}"/>
              </a:ext>
            </a:extLst>
          </p:cNvPr>
          <p:cNvSpPr>
            <a:spLocks xmlns:a="http://schemas.openxmlformats.org/drawingml/2006/main" noGrp="1"/>
          </p:cNvSpPr>
          <p:nvPr/>
        </p:nvSpPr>
        <p:spPr>
          <a:xfrm xmlns:a="http://schemas.openxmlformats.org/drawingml/2006/main">
            <a:off x="704850" y="59150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0A9D6"/>
                </a:solidFill>
                <a:latin typeface="Helvetica Neue"/>
                <a:ea typeface="Helvetica Neue"/>
                <a:cs typeface="Helvetica Neue"/>
              </a:defRPr>
            </a:defPPr>
            <a:lvl1pPr>
              <a:defRPr sz="1725" b="1">
                <a:solidFill>
                  <a:srgbClr val="00A9D6"/>
                </a:solidFill>
                <a:latin typeface="Helvetica Neue"/>
                <a:ea typeface="Helvetica Neue"/>
                <a:cs typeface="Helvetica Neue"/>
              </a:defRPr>
            </a:lvl1pPr>
            <a:lvl2pPr>
              <a:defRPr sz="1725" b="1">
                <a:solidFill>
                  <a:srgbClr val="00A9D6"/>
                </a:solidFill>
                <a:latin typeface="Helvetica Neue"/>
                <a:ea typeface="Helvetica Neue"/>
                <a:cs typeface="Helvetica Neue"/>
              </a:defRPr>
            </a:lvl2pPr>
            <a:lvl3pPr>
              <a:defRPr sz="1725" b="1">
                <a:solidFill>
                  <a:srgbClr val="00A9D6"/>
                </a:solidFill>
                <a:latin typeface="Helvetica Neue"/>
                <a:ea typeface="Helvetica Neue"/>
                <a:cs typeface="Helvetica Neue"/>
              </a:defRPr>
            </a:lvl3pPr>
            <a:lvl4pPr>
              <a:defRPr sz="1725" b="1">
                <a:solidFill>
                  <a:srgbClr val="00A9D6"/>
                </a:solidFill>
                <a:latin typeface="Helvetica Neue"/>
                <a:ea typeface="Helvetica Neue"/>
                <a:cs typeface="Helvetica Neue"/>
              </a:defRPr>
            </a:lvl4pPr>
            <a:lvl5pPr>
              <a:defRPr sz="1725" b="1">
                <a:solidFill>
                  <a:srgbClr val="00A9D6"/>
                </a:solidFill>
                <a:latin typeface="Helvetica Neue"/>
                <a:ea typeface="Helvetica Neue"/>
                <a:cs typeface="Helvetica Neue"/>
              </a:defRPr>
            </a:lvl5pPr>
            <a:lvl6pPr>
              <a:defRPr sz="1725" b="1">
                <a:solidFill>
                  <a:srgbClr val="00A9D6"/>
                </a:solidFill>
                <a:latin typeface="Helvetica Neue"/>
                <a:ea typeface="Helvetica Neue"/>
                <a:cs typeface="Helvetica Neue"/>
              </a:defRPr>
            </a:lvl6pPr>
            <a:lvl7pPr>
              <a:defRPr sz="1725" b="1">
                <a:solidFill>
                  <a:srgbClr val="00A9D6"/>
                </a:solidFill>
                <a:latin typeface="Helvetica Neue"/>
                <a:ea typeface="Helvetica Neue"/>
                <a:cs typeface="Helvetica Neue"/>
              </a:defRPr>
            </a:lvl7pPr>
            <a:lvl8pPr>
              <a:defRPr sz="1725" b="1">
                <a:solidFill>
                  <a:srgbClr val="00A9D6"/>
                </a:solidFill>
                <a:latin typeface="Helvetica Neue"/>
                <a:ea typeface="Helvetica Neue"/>
                <a:cs typeface="Helvetica Neue"/>
              </a:defRPr>
            </a:lvl8pPr>
            <a:lvl9pPr>
              <a:defRPr sz="1725" b="1">
                <a:solidFill>
                  <a:srgbClr val="00A9D6"/>
                </a:solidFill>
                <a:latin typeface="Helvetica Neue"/>
                <a:ea typeface="Helvetica Neue"/>
                <a:cs typeface="Helvetica Neue"/>
              </a:defRPr>
            </a:lvl9pPr>
          </a:lstStyle>
          <a:p xmlns:a="http://schemas.openxmlformats.org/drawingml/2006/main">
            <a:pPr>
              <a:defRPr sz="1725" b="1">
                <a:solidFill>
                  <a:srgbClr val="00A9D6"/>
                </a:solidFill>
                <a:latin typeface="Helvetica Neue"/>
                <a:ea typeface="Helvetica Neue"/>
                <a:cs typeface="Helvetica Neue"/>
              </a:defRPr>
            </a:pPr>
            <a:r>
              <a:rPr sz="1725" b="1">
                <a:solidFill>
                  <a:srgbClr val="00A9D6"/>
                </a:solidFill>
                <a:latin typeface="Helvetica Neue"/>
                <a:ea typeface="Helvetica Neue"/>
                <a:cs typeface="Helvetica Neue"/>
              </a:rPr>
              <a:t>67 automated tests pass. Seven guided probes are separate from live-model accuracy testing.</a:t>
            </a:r>
          </a:p>
        </p:txBody>
      </p:sp>
    </p:spTree>
    <p:extLst>
      <p:ext uri="{BB962C8B-B14F-4D97-AF65-F5344CB8AC3E}">
        <p14:creationId xmlns:p14="http://schemas.microsoft.com/office/powerpoint/2010/main" val="155101057"/>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7776E9-8CE7-4CB2-B742-49287CABCBA6}"/>
              </a:ext>
            </a:extLst>
          </p:cNvPr>
          <p:cNvSpPr>
            <a:spLocks xmlns:a="http://schemas.openxmlformats.org/drawingml/2006/main" noGrp="1"/>
          </p:cNvSpPr>
          <p:nvPr/>
        </p:nvSpPr>
        <p:spPr>
          <a:xfrm xmlns:a="http://schemas.openxmlformats.org/drawingml/2006/main">
            <a:off x="685800" y="5143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02F43"/>
                </a:solidFill>
                <a:latin typeface="Helvetica Neue"/>
                <a:ea typeface="Helvetica Neue"/>
                <a:cs typeface="Helvetica Neue"/>
              </a:defRPr>
            </a:defPPr>
            <a:lvl1pPr>
              <a:defRPr sz="3450" b="1">
                <a:solidFill>
                  <a:srgbClr val="102F43"/>
                </a:solidFill>
                <a:latin typeface="Helvetica Neue"/>
                <a:ea typeface="Helvetica Neue"/>
                <a:cs typeface="Helvetica Neue"/>
              </a:defRPr>
            </a:lvl1pPr>
            <a:lvl2pPr>
              <a:defRPr sz="3450" b="1">
                <a:solidFill>
                  <a:srgbClr val="102F43"/>
                </a:solidFill>
                <a:latin typeface="Helvetica Neue"/>
                <a:ea typeface="Helvetica Neue"/>
                <a:cs typeface="Helvetica Neue"/>
              </a:defRPr>
            </a:lvl2pPr>
            <a:lvl3pPr>
              <a:defRPr sz="3450" b="1">
                <a:solidFill>
                  <a:srgbClr val="102F43"/>
                </a:solidFill>
                <a:latin typeface="Helvetica Neue"/>
                <a:ea typeface="Helvetica Neue"/>
                <a:cs typeface="Helvetica Neue"/>
              </a:defRPr>
            </a:lvl3pPr>
            <a:lvl4pPr>
              <a:defRPr sz="3450" b="1">
                <a:solidFill>
                  <a:srgbClr val="102F43"/>
                </a:solidFill>
                <a:latin typeface="Helvetica Neue"/>
                <a:ea typeface="Helvetica Neue"/>
                <a:cs typeface="Helvetica Neue"/>
              </a:defRPr>
            </a:lvl4pPr>
            <a:lvl5pPr>
              <a:defRPr sz="3450" b="1">
                <a:solidFill>
                  <a:srgbClr val="102F43"/>
                </a:solidFill>
                <a:latin typeface="Helvetica Neue"/>
                <a:ea typeface="Helvetica Neue"/>
                <a:cs typeface="Helvetica Neue"/>
              </a:defRPr>
            </a:lvl5pPr>
            <a:lvl6pPr>
              <a:defRPr sz="3450" b="1">
                <a:solidFill>
                  <a:srgbClr val="102F43"/>
                </a:solidFill>
                <a:latin typeface="Helvetica Neue"/>
                <a:ea typeface="Helvetica Neue"/>
                <a:cs typeface="Helvetica Neue"/>
              </a:defRPr>
            </a:lvl6pPr>
            <a:lvl7pPr>
              <a:defRPr sz="3450" b="1">
                <a:solidFill>
                  <a:srgbClr val="102F43"/>
                </a:solidFill>
                <a:latin typeface="Helvetica Neue"/>
                <a:ea typeface="Helvetica Neue"/>
                <a:cs typeface="Helvetica Neue"/>
              </a:defRPr>
            </a:lvl7pPr>
            <a:lvl8pPr>
              <a:defRPr sz="3450" b="1">
                <a:solidFill>
                  <a:srgbClr val="102F43"/>
                </a:solidFill>
                <a:latin typeface="Helvetica Neue"/>
                <a:ea typeface="Helvetica Neue"/>
                <a:cs typeface="Helvetica Neue"/>
              </a:defRPr>
            </a:lvl8pPr>
            <a:lvl9pPr>
              <a:defRPr sz="3450" b="1">
                <a:solidFill>
                  <a:srgbClr val="102F43"/>
                </a:solidFill>
                <a:latin typeface="Helvetica Neue"/>
                <a:ea typeface="Helvetica Neue"/>
                <a:cs typeface="Helvetica Neue"/>
              </a:defRPr>
            </a:lvl9pPr>
          </a:lstStyle>
          <a:p xmlns:a="http://schemas.openxmlformats.org/drawingml/2006/main">
            <a:pPr>
              <a:defRPr sz="3450" b="1">
                <a:solidFill>
                  <a:srgbClr val="102F43"/>
                </a:solidFill>
                <a:latin typeface="Helvetica Neue"/>
                <a:ea typeface="Helvetica Neue"/>
                <a:cs typeface="Helvetica Neue"/>
              </a:defRPr>
            </a:pPr>
            <a:r>
              <a:rPr sz="3450" b="1">
                <a:solidFill>
                  <a:srgbClr val="102F43"/>
                </a:solidFill>
                <a:latin typeface="Helvetica Neue"/>
                <a:ea typeface="Helvetica Neue"/>
                <a:cs typeface="Helvetica Neue"/>
              </a:rPr>
              <a:t>USP: useful evidence survives the handoff</a:t>
            </a:r>
          </a:p>
        </p:txBody>
      </p:sp>
      <p:sp>
        <p:nvSpPr>
          <p:cNvPr id="2" name="">
            <a:extLst xmlns:a="http://schemas.openxmlformats.org/drawingml/2006/main">
              <a:ext uri="{FF2B5EF4-FFF2-40B4-BE49-F238E27FC236}">
                <a16:creationId xmlns:a16="http://schemas.microsoft.com/office/drawing/2014/main" id="{5117EFE8-DE1D-4715-8CA1-8ACB2839510F}"/>
              </a:ext>
            </a:extLst>
          </p:cNvPr>
          <p:cNvSpPr>
            <a:spLocks xmlns:a="http://schemas.openxmlformats.org/drawingml/2006/main" noGrp="1"/>
          </p:cNvSpPr>
          <p:nvPr/>
        </p:nvSpPr>
        <p:spPr>
          <a:xfrm xmlns:a="http://schemas.openxmlformats.org/drawingml/2006/main">
            <a:off x="685800" y="64865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defRPr sz="1200" b="0">
                <a:solidFill>
                  <a:srgbClr val="526B7C"/>
                </a:solidFill>
                <a:latin typeface="Helvetica Neue"/>
                <a:ea typeface="Helvetica Neue"/>
                <a:cs typeface="Helvetica Neue"/>
              </a:defRPr>
            </a:lvl1pPr>
            <a:lvl2pPr>
              <a:defRPr sz="1200" b="0">
                <a:solidFill>
                  <a:srgbClr val="526B7C"/>
                </a:solidFill>
                <a:latin typeface="Helvetica Neue"/>
                <a:ea typeface="Helvetica Neue"/>
                <a:cs typeface="Helvetica Neue"/>
              </a:defRPr>
            </a:lvl2pPr>
            <a:lvl3pPr>
              <a:defRPr sz="1200" b="0">
                <a:solidFill>
                  <a:srgbClr val="526B7C"/>
                </a:solidFill>
                <a:latin typeface="Helvetica Neue"/>
                <a:ea typeface="Helvetica Neue"/>
                <a:cs typeface="Helvetica Neue"/>
              </a:defRPr>
            </a:lvl3pPr>
            <a:lvl4pPr>
              <a:defRPr sz="1200" b="0">
                <a:solidFill>
                  <a:srgbClr val="526B7C"/>
                </a:solidFill>
                <a:latin typeface="Helvetica Neue"/>
                <a:ea typeface="Helvetica Neue"/>
                <a:cs typeface="Helvetica Neue"/>
              </a:defRPr>
            </a:lvl4pPr>
            <a:lvl5pPr>
              <a:defRPr sz="1200" b="0">
                <a:solidFill>
                  <a:srgbClr val="526B7C"/>
                </a:solidFill>
                <a:latin typeface="Helvetica Neue"/>
                <a:ea typeface="Helvetica Neue"/>
                <a:cs typeface="Helvetica Neue"/>
              </a:defRPr>
            </a:lvl5pPr>
            <a:lvl6pPr>
              <a:defRPr sz="1200" b="0">
                <a:solidFill>
                  <a:srgbClr val="526B7C"/>
                </a:solidFill>
                <a:latin typeface="Helvetica Neue"/>
                <a:ea typeface="Helvetica Neue"/>
                <a:cs typeface="Helvetica Neue"/>
              </a:defRPr>
            </a:lvl6pPr>
            <a:lvl7pPr>
              <a:defRPr sz="1200" b="0">
                <a:solidFill>
                  <a:srgbClr val="526B7C"/>
                </a:solidFill>
                <a:latin typeface="Helvetica Neue"/>
                <a:ea typeface="Helvetica Neue"/>
                <a:cs typeface="Helvetica Neue"/>
              </a:defRPr>
            </a:lvl7pPr>
            <a:lvl8pPr>
              <a:defRPr sz="1200" b="0">
                <a:solidFill>
                  <a:srgbClr val="526B7C"/>
                </a:solidFill>
                <a:latin typeface="Helvetica Neue"/>
                <a:ea typeface="Helvetica Neue"/>
                <a:cs typeface="Helvetica Neue"/>
              </a:defRPr>
            </a:lvl8pPr>
            <a:lvl9pPr>
              <a:defRPr sz="1200" b="0">
                <a:solidFill>
                  <a:srgbClr val="526B7C"/>
                </a:solidFill>
                <a:latin typeface="Helvetica Neue"/>
                <a:ea typeface="Helvetica Neue"/>
                <a:cs typeface="Helvetica Neue"/>
              </a:defRPr>
            </a:lvl9pPr>
          </a:lstStyle>
          <a:p xmlns:a="http://schemas.openxmlformats.org/drawingml/2006/main">
            <a:pPr>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MerchantLens / Paytm Build for India / Stage 1</a:t>
            </a:r>
          </a:p>
        </p:txBody>
      </p:sp>
      <p:sp>
        <p:nvSpPr>
          <p:cNvPr id="3" name="">
            <a:extLst xmlns:a="http://schemas.openxmlformats.org/drawingml/2006/main">
              <a:ext uri="{FF2B5EF4-FFF2-40B4-BE49-F238E27FC236}">
                <a16:creationId xmlns:a16="http://schemas.microsoft.com/office/drawing/2014/main" id="{B0220881-8A5D-4780-AB5C-94E3706411EE}"/>
              </a:ext>
            </a:extLst>
          </p:cNvPr>
          <p:cNvSpPr>
            <a:spLocks xmlns:a="http://schemas.openxmlformats.org/drawingml/2006/main" noGrp="1"/>
          </p:cNvSpPr>
          <p:nvPr/>
        </p:nvSpPr>
        <p:spPr>
          <a:xfrm xmlns:a="http://schemas.openxmlformats.org/drawingml/2006/main">
            <a:off x="10953750" y="648652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defRPr sz="1200" b="0">
                <a:solidFill>
                  <a:srgbClr val="526B7C"/>
                </a:solidFill>
                <a:latin typeface="Helvetica Neue"/>
                <a:ea typeface="Helvetica Neue"/>
                <a:cs typeface="Helvetica Neue"/>
              </a:defRPr>
            </a:lvl1pPr>
            <a:lvl2pPr>
              <a:defRPr sz="1200" b="0">
                <a:solidFill>
                  <a:srgbClr val="526B7C"/>
                </a:solidFill>
                <a:latin typeface="Helvetica Neue"/>
                <a:ea typeface="Helvetica Neue"/>
                <a:cs typeface="Helvetica Neue"/>
              </a:defRPr>
            </a:lvl2pPr>
            <a:lvl3pPr>
              <a:defRPr sz="1200" b="0">
                <a:solidFill>
                  <a:srgbClr val="526B7C"/>
                </a:solidFill>
                <a:latin typeface="Helvetica Neue"/>
                <a:ea typeface="Helvetica Neue"/>
                <a:cs typeface="Helvetica Neue"/>
              </a:defRPr>
            </a:lvl3pPr>
            <a:lvl4pPr>
              <a:defRPr sz="1200" b="0">
                <a:solidFill>
                  <a:srgbClr val="526B7C"/>
                </a:solidFill>
                <a:latin typeface="Helvetica Neue"/>
                <a:ea typeface="Helvetica Neue"/>
                <a:cs typeface="Helvetica Neue"/>
              </a:defRPr>
            </a:lvl4pPr>
            <a:lvl5pPr>
              <a:defRPr sz="1200" b="0">
                <a:solidFill>
                  <a:srgbClr val="526B7C"/>
                </a:solidFill>
                <a:latin typeface="Helvetica Neue"/>
                <a:ea typeface="Helvetica Neue"/>
                <a:cs typeface="Helvetica Neue"/>
              </a:defRPr>
            </a:lvl5pPr>
            <a:lvl6pPr>
              <a:defRPr sz="1200" b="0">
                <a:solidFill>
                  <a:srgbClr val="526B7C"/>
                </a:solidFill>
                <a:latin typeface="Helvetica Neue"/>
                <a:ea typeface="Helvetica Neue"/>
                <a:cs typeface="Helvetica Neue"/>
              </a:defRPr>
            </a:lvl6pPr>
            <a:lvl7pPr>
              <a:defRPr sz="1200" b="0">
                <a:solidFill>
                  <a:srgbClr val="526B7C"/>
                </a:solidFill>
                <a:latin typeface="Helvetica Neue"/>
                <a:ea typeface="Helvetica Neue"/>
                <a:cs typeface="Helvetica Neue"/>
              </a:defRPr>
            </a:lvl7pPr>
            <a:lvl8pPr>
              <a:defRPr sz="1200" b="0">
                <a:solidFill>
                  <a:srgbClr val="526B7C"/>
                </a:solidFill>
                <a:latin typeface="Helvetica Neue"/>
                <a:ea typeface="Helvetica Neue"/>
                <a:cs typeface="Helvetica Neue"/>
              </a:defRPr>
            </a:lvl8pPr>
            <a:lvl9pPr>
              <a:defRPr sz="1200" b="0">
                <a:solidFill>
                  <a:srgbClr val="526B7C"/>
                </a:solidFill>
                <a:latin typeface="Helvetica Neue"/>
                <a:ea typeface="Helvetica Neue"/>
                <a:cs typeface="Helvetica Neue"/>
              </a:defRPr>
            </a:lvl9pPr>
          </a:lstStyle>
          <a:p xmlns:a="http://schemas.openxmlformats.org/drawingml/2006/main">
            <a:pPr>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5/7</a:t>
            </a:r>
          </a:p>
        </p:txBody>
      </p:sp>
      <p:sp>
        <p:nvSpPr>
          <p:cNvPr id="4" name="">
            <a:extLst xmlns:a="http://schemas.openxmlformats.org/drawingml/2006/main">
              <a:ext uri="{FF2B5EF4-FFF2-40B4-BE49-F238E27FC236}">
                <a16:creationId xmlns:a16="http://schemas.microsoft.com/office/drawing/2014/main" id="{D5BD3CE1-196E-49DD-83B2-586A43B14283}"/>
              </a:ext>
            </a:extLst>
          </p:cNvPr>
          <p:cNvSpPr>
            <a:spLocks xmlns:a="http://schemas.openxmlformats.org/drawingml/2006/main" noGrp="1"/>
          </p:cNvSpPr>
          <p:nvPr/>
        </p:nvSpPr>
        <p:spPr>
          <a:xfrm xmlns:a="http://schemas.openxmlformats.org/drawingml/2006/main">
            <a:off x="704850" y="16954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Traceable observations</a:t>
            </a:r>
          </a:p>
        </p:txBody>
      </p:sp>
      <p:sp>
        <p:nvSpPr>
          <p:cNvPr id="5" name="">
            <a:extLst xmlns:a="http://schemas.openxmlformats.org/drawingml/2006/main">
              <a:ext uri="{FF2B5EF4-FFF2-40B4-BE49-F238E27FC236}">
                <a16:creationId xmlns:a16="http://schemas.microsoft.com/office/drawing/2014/main" id="{D50D4544-6C36-4370-A07F-8D7ACAE3CA27}"/>
              </a:ext>
            </a:extLst>
          </p:cNvPr>
          <p:cNvSpPr>
            <a:spLocks xmlns:a="http://schemas.openxmlformats.org/drawingml/2006/main" noGrp="1"/>
          </p:cNvSpPr>
          <p:nvPr/>
        </p:nvSpPr>
        <p:spPr>
          <a:xfrm xmlns:a="http://schemas.openxmlformats.org/drawingml/2006/main">
            <a:off x="704850" y="21717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Each claim links to received words.</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Unknowns remain explicit.</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Corrections supersede earlier claims.</a:t>
            </a:r>
          </a:p>
        </p:txBody>
      </p:sp>
      <p:sp>
        <p:nvSpPr>
          <p:cNvPr id="6" name="">
            <a:extLst xmlns:a="http://schemas.openxmlformats.org/drawingml/2006/main">
              <a:ext uri="{FF2B5EF4-FFF2-40B4-BE49-F238E27FC236}">
                <a16:creationId xmlns:a16="http://schemas.microsoft.com/office/drawing/2014/main" id="{E386DBC8-E84D-45C3-9155-D06C897AF440}"/>
              </a:ext>
            </a:extLst>
          </p:cNvPr>
          <p:cNvSpPr>
            <a:spLocks xmlns:a="http://schemas.openxmlformats.org/drawingml/2006/main" noGrp="1"/>
          </p:cNvSpPr>
          <p:nvPr/>
        </p:nvSpPr>
        <p:spPr>
          <a:xfrm xmlns:a="http://schemas.openxmlformats.org/drawingml/2006/main">
            <a:off x="6334125" y="16954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Pictures with merchant control</a:t>
            </a:r>
          </a:p>
        </p:txBody>
      </p:sp>
      <p:sp>
        <p:nvSpPr>
          <p:cNvPr id="7" name="">
            <a:extLst xmlns:a="http://schemas.openxmlformats.org/drawingml/2006/main">
              <a:ext uri="{FF2B5EF4-FFF2-40B4-BE49-F238E27FC236}">
                <a16:creationId xmlns:a16="http://schemas.microsoft.com/office/drawing/2014/main" id="{2644F48B-1CA1-44D2-9DE4-E459D92CD24B}"/>
              </a:ext>
            </a:extLst>
          </p:cNvPr>
          <p:cNvSpPr>
            <a:spLocks xmlns:a="http://schemas.openxmlformats.org/drawingml/2006/main" noGrp="1"/>
          </p:cNvSpPr>
          <p:nvPr/>
        </p:nvSpPr>
        <p:spPr>
          <a:xfrm xmlns:a="http://schemas.openxmlformats.org/drawingml/2006/main">
            <a:off x="6334125" y="21717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Cover details before external analysis.</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Review the provisional note.</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Retain no raw image in the case.</a:t>
            </a:r>
          </a:p>
        </p:txBody>
      </p:sp>
      <p:sp>
        <p:nvSpPr>
          <p:cNvPr id="8" name="">
            <a:extLst xmlns:a="http://schemas.openxmlformats.org/drawingml/2006/main">
              <a:ext uri="{FF2B5EF4-FFF2-40B4-BE49-F238E27FC236}">
                <a16:creationId xmlns:a16="http://schemas.microsoft.com/office/drawing/2014/main" id="{F2539CB9-A704-4BEF-BA9A-26ACD20F1325}"/>
              </a:ext>
            </a:extLst>
          </p:cNvPr>
          <p:cNvSpPr>
            <a:spLocks xmlns:a="http://schemas.openxmlformats.org/drawingml/2006/main" noGrp="1"/>
          </p:cNvSpPr>
          <p:nvPr/>
        </p:nvSpPr>
        <p:spPr>
          <a:xfrm xmlns:a="http://schemas.openxmlformats.org/drawingml/2006/main">
            <a:off x="704850" y="39338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Prior attempts stay attached</a:t>
            </a:r>
          </a:p>
        </p:txBody>
      </p:sp>
      <p:sp>
        <p:nvSpPr>
          <p:cNvPr id="9" name="">
            <a:extLst xmlns:a="http://schemas.openxmlformats.org/drawingml/2006/main">
              <a:ext uri="{FF2B5EF4-FFF2-40B4-BE49-F238E27FC236}">
                <a16:creationId xmlns:a16="http://schemas.microsoft.com/office/drawing/2014/main" id="{FF6F96AC-7226-475A-86AF-5729C804FBCE}"/>
              </a:ext>
            </a:extLst>
          </p:cNvPr>
          <p:cNvSpPr>
            <a:spLocks xmlns:a="http://schemas.openxmlformats.org/drawingml/2006/main" noGrp="1"/>
          </p:cNvSpPr>
          <p:nvPr/>
        </p:nvSpPr>
        <p:spPr>
          <a:xfrm xmlns:a="http://schemas.openxmlformats.org/drawingml/2006/main">
            <a:off x="704850" y="441007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Record the previous action and result.</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Recommend review after repeated failure.</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Carry history into the internal brief.</a:t>
            </a:r>
          </a:p>
        </p:txBody>
      </p:sp>
      <p:sp>
        <p:nvSpPr>
          <p:cNvPr id="10" name="">
            <a:extLst xmlns:a="http://schemas.openxmlformats.org/drawingml/2006/main">
              <a:ext uri="{FF2B5EF4-FFF2-40B4-BE49-F238E27FC236}">
                <a16:creationId xmlns:a16="http://schemas.microsoft.com/office/drawing/2014/main" id="{61B5C79F-1BB1-454F-8D19-058F2E009025}"/>
              </a:ext>
            </a:extLst>
          </p:cNvPr>
          <p:cNvSpPr>
            <a:spLocks xmlns:a="http://schemas.openxmlformats.org/drawingml/2006/main" noGrp="1"/>
          </p:cNvSpPr>
          <p:nvPr/>
        </p:nvSpPr>
        <p:spPr>
          <a:xfrm xmlns:a="http://schemas.openxmlformats.org/drawingml/2006/main">
            <a:off x="6334125" y="39338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Different audiences, fresh approval</a:t>
            </a:r>
          </a:p>
        </p:txBody>
      </p:sp>
      <p:sp>
        <p:nvSpPr>
          <p:cNvPr id="11" name="">
            <a:extLst xmlns:a="http://schemas.openxmlformats.org/drawingml/2006/main">
              <a:ext uri="{FF2B5EF4-FFF2-40B4-BE49-F238E27FC236}">
                <a16:creationId xmlns:a16="http://schemas.microsoft.com/office/drawing/2014/main" id="{422175FC-6B83-419C-8003-69A82BA15799}"/>
              </a:ext>
            </a:extLst>
          </p:cNvPr>
          <p:cNvSpPr>
            <a:spLocks xmlns:a="http://schemas.openxmlformats.org/drawingml/2006/main" noGrp="1"/>
          </p:cNvSpPr>
          <p:nvPr/>
        </p:nvSpPr>
        <p:spPr>
          <a:xfrm xmlns:a="http://schemas.openxmlformats.org/drawingml/2006/main">
            <a:off x="6334125" y="441007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Internal brief includes reviewed history.</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Public export omits image notes.</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Changes invalidate previous approvals.</a:t>
            </a:r>
          </a:p>
        </p:txBody>
      </p:sp>
    </p:spTree>
    <p:extLst>
      <p:ext uri="{BB962C8B-B14F-4D97-AF65-F5344CB8AC3E}">
        <p14:creationId xmlns:p14="http://schemas.microsoft.com/office/powerpoint/2010/main" val="648917590"/>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16C419-9873-4A68-AD72-341B648AB04F}"/>
              </a:ext>
            </a:extLst>
          </p:cNvPr>
          <p:cNvSpPr>
            <a:spLocks xmlns:a="http://schemas.openxmlformats.org/drawingml/2006/main" noGrp="1"/>
          </p:cNvSpPr>
          <p:nvPr/>
        </p:nvSpPr>
        <p:spPr>
          <a:xfrm xmlns:a="http://schemas.openxmlformats.org/drawingml/2006/main">
            <a:off x="685800" y="5143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02F43"/>
                </a:solidFill>
                <a:latin typeface="Helvetica Neue"/>
                <a:ea typeface="Helvetica Neue"/>
                <a:cs typeface="Helvetica Neue"/>
              </a:defRPr>
            </a:defPPr>
            <a:lvl1pPr>
              <a:defRPr sz="3450" b="1">
                <a:solidFill>
                  <a:srgbClr val="102F43"/>
                </a:solidFill>
                <a:latin typeface="Helvetica Neue"/>
                <a:ea typeface="Helvetica Neue"/>
                <a:cs typeface="Helvetica Neue"/>
              </a:defRPr>
            </a:lvl1pPr>
            <a:lvl2pPr>
              <a:defRPr sz="3450" b="1">
                <a:solidFill>
                  <a:srgbClr val="102F43"/>
                </a:solidFill>
                <a:latin typeface="Helvetica Neue"/>
                <a:ea typeface="Helvetica Neue"/>
                <a:cs typeface="Helvetica Neue"/>
              </a:defRPr>
            </a:lvl2pPr>
            <a:lvl3pPr>
              <a:defRPr sz="3450" b="1">
                <a:solidFill>
                  <a:srgbClr val="102F43"/>
                </a:solidFill>
                <a:latin typeface="Helvetica Neue"/>
                <a:ea typeface="Helvetica Neue"/>
                <a:cs typeface="Helvetica Neue"/>
              </a:defRPr>
            </a:lvl3pPr>
            <a:lvl4pPr>
              <a:defRPr sz="3450" b="1">
                <a:solidFill>
                  <a:srgbClr val="102F43"/>
                </a:solidFill>
                <a:latin typeface="Helvetica Neue"/>
                <a:ea typeface="Helvetica Neue"/>
                <a:cs typeface="Helvetica Neue"/>
              </a:defRPr>
            </a:lvl4pPr>
            <a:lvl5pPr>
              <a:defRPr sz="3450" b="1">
                <a:solidFill>
                  <a:srgbClr val="102F43"/>
                </a:solidFill>
                <a:latin typeface="Helvetica Neue"/>
                <a:ea typeface="Helvetica Neue"/>
                <a:cs typeface="Helvetica Neue"/>
              </a:defRPr>
            </a:lvl5pPr>
            <a:lvl6pPr>
              <a:defRPr sz="3450" b="1">
                <a:solidFill>
                  <a:srgbClr val="102F43"/>
                </a:solidFill>
                <a:latin typeface="Helvetica Neue"/>
                <a:ea typeface="Helvetica Neue"/>
                <a:cs typeface="Helvetica Neue"/>
              </a:defRPr>
            </a:lvl6pPr>
            <a:lvl7pPr>
              <a:defRPr sz="3450" b="1">
                <a:solidFill>
                  <a:srgbClr val="102F43"/>
                </a:solidFill>
                <a:latin typeface="Helvetica Neue"/>
                <a:ea typeface="Helvetica Neue"/>
                <a:cs typeface="Helvetica Neue"/>
              </a:defRPr>
            </a:lvl7pPr>
            <a:lvl8pPr>
              <a:defRPr sz="3450" b="1">
                <a:solidFill>
                  <a:srgbClr val="102F43"/>
                </a:solidFill>
                <a:latin typeface="Helvetica Neue"/>
                <a:ea typeface="Helvetica Neue"/>
                <a:cs typeface="Helvetica Neue"/>
              </a:defRPr>
            </a:lvl8pPr>
            <a:lvl9pPr>
              <a:defRPr sz="3450" b="1">
                <a:solidFill>
                  <a:srgbClr val="102F43"/>
                </a:solidFill>
                <a:latin typeface="Helvetica Neue"/>
                <a:ea typeface="Helvetica Neue"/>
                <a:cs typeface="Helvetica Neue"/>
              </a:defRPr>
            </a:lvl9pPr>
          </a:lstStyle>
          <a:p xmlns:a="http://schemas.openxmlformats.org/drawingml/2006/main">
            <a:pPr>
              <a:defRPr sz="3450" b="1">
                <a:solidFill>
                  <a:srgbClr val="102F43"/>
                </a:solidFill>
                <a:latin typeface="Helvetica Neue"/>
                <a:ea typeface="Helvetica Neue"/>
                <a:cs typeface="Helvetica Neue"/>
              </a:defRPr>
            </a:pPr>
            <a:r>
              <a:rPr sz="3450" b="1">
                <a:solidFill>
                  <a:srgbClr val="102F43"/>
                </a:solidFill>
                <a:latin typeface="Helvetica Neue"/>
                <a:ea typeface="Helvetica Neue"/>
                <a:cs typeface="Helvetica Neue"/>
              </a:rPr>
              <a:t>Impact and pilot measurement</a:t>
            </a:r>
          </a:p>
        </p:txBody>
      </p:sp>
      <p:sp>
        <p:nvSpPr>
          <p:cNvPr id="2" name="">
            <a:extLst xmlns:a="http://schemas.openxmlformats.org/drawingml/2006/main">
              <a:ext uri="{FF2B5EF4-FFF2-40B4-BE49-F238E27FC236}">
                <a16:creationId xmlns:a16="http://schemas.microsoft.com/office/drawing/2014/main" id="{32F00EB1-FEB8-49A6-B1C5-FAF03525A2F3}"/>
              </a:ext>
            </a:extLst>
          </p:cNvPr>
          <p:cNvSpPr>
            <a:spLocks xmlns:a="http://schemas.openxmlformats.org/drawingml/2006/main" noGrp="1"/>
          </p:cNvSpPr>
          <p:nvPr/>
        </p:nvSpPr>
        <p:spPr>
          <a:xfrm xmlns:a="http://schemas.openxmlformats.org/drawingml/2006/main">
            <a:off x="685800" y="64865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defRPr sz="1200" b="0">
                <a:solidFill>
                  <a:srgbClr val="526B7C"/>
                </a:solidFill>
                <a:latin typeface="Helvetica Neue"/>
                <a:ea typeface="Helvetica Neue"/>
                <a:cs typeface="Helvetica Neue"/>
              </a:defRPr>
            </a:lvl1pPr>
            <a:lvl2pPr>
              <a:defRPr sz="1200" b="0">
                <a:solidFill>
                  <a:srgbClr val="526B7C"/>
                </a:solidFill>
                <a:latin typeface="Helvetica Neue"/>
                <a:ea typeface="Helvetica Neue"/>
                <a:cs typeface="Helvetica Neue"/>
              </a:defRPr>
            </a:lvl2pPr>
            <a:lvl3pPr>
              <a:defRPr sz="1200" b="0">
                <a:solidFill>
                  <a:srgbClr val="526B7C"/>
                </a:solidFill>
                <a:latin typeface="Helvetica Neue"/>
                <a:ea typeface="Helvetica Neue"/>
                <a:cs typeface="Helvetica Neue"/>
              </a:defRPr>
            </a:lvl3pPr>
            <a:lvl4pPr>
              <a:defRPr sz="1200" b="0">
                <a:solidFill>
                  <a:srgbClr val="526B7C"/>
                </a:solidFill>
                <a:latin typeface="Helvetica Neue"/>
                <a:ea typeface="Helvetica Neue"/>
                <a:cs typeface="Helvetica Neue"/>
              </a:defRPr>
            </a:lvl4pPr>
            <a:lvl5pPr>
              <a:defRPr sz="1200" b="0">
                <a:solidFill>
                  <a:srgbClr val="526B7C"/>
                </a:solidFill>
                <a:latin typeface="Helvetica Neue"/>
                <a:ea typeface="Helvetica Neue"/>
                <a:cs typeface="Helvetica Neue"/>
              </a:defRPr>
            </a:lvl5pPr>
            <a:lvl6pPr>
              <a:defRPr sz="1200" b="0">
                <a:solidFill>
                  <a:srgbClr val="526B7C"/>
                </a:solidFill>
                <a:latin typeface="Helvetica Neue"/>
                <a:ea typeface="Helvetica Neue"/>
                <a:cs typeface="Helvetica Neue"/>
              </a:defRPr>
            </a:lvl6pPr>
            <a:lvl7pPr>
              <a:defRPr sz="1200" b="0">
                <a:solidFill>
                  <a:srgbClr val="526B7C"/>
                </a:solidFill>
                <a:latin typeface="Helvetica Neue"/>
                <a:ea typeface="Helvetica Neue"/>
                <a:cs typeface="Helvetica Neue"/>
              </a:defRPr>
            </a:lvl7pPr>
            <a:lvl8pPr>
              <a:defRPr sz="1200" b="0">
                <a:solidFill>
                  <a:srgbClr val="526B7C"/>
                </a:solidFill>
                <a:latin typeface="Helvetica Neue"/>
                <a:ea typeface="Helvetica Neue"/>
                <a:cs typeface="Helvetica Neue"/>
              </a:defRPr>
            </a:lvl8pPr>
            <a:lvl9pPr>
              <a:defRPr sz="1200" b="0">
                <a:solidFill>
                  <a:srgbClr val="526B7C"/>
                </a:solidFill>
                <a:latin typeface="Helvetica Neue"/>
                <a:ea typeface="Helvetica Neue"/>
                <a:cs typeface="Helvetica Neue"/>
              </a:defRPr>
            </a:lvl9pPr>
          </a:lstStyle>
          <a:p xmlns:a="http://schemas.openxmlformats.org/drawingml/2006/main">
            <a:pPr>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MerchantLens / Paytm Build for India / Stage 1</a:t>
            </a:r>
          </a:p>
        </p:txBody>
      </p:sp>
      <p:sp>
        <p:nvSpPr>
          <p:cNvPr id="3" name="">
            <a:extLst xmlns:a="http://schemas.openxmlformats.org/drawingml/2006/main">
              <a:ext uri="{FF2B5EF4-FFF2-40B4-BE49-F238E27FC236}">
                <a16:creationId xmlns:a16="http://schemas.microsoft.com/office/drawing/2014/main" id="{78A8C262-1DA9-43AA-99A2-E59A419B929D}"/>
              </a:ext>
            </a:extLst>
          </p:cNvPr>
          <p:cNvSpPr>
            <a:spLocks xmlns:a="http://schemas.openxmlformats.org/drawingml/2006/main" noGrp="1"/>
          </p:cNvSpPr>
          <p:nvPr/>
        </p:nvSpPr>
        <p:spPr>
          <a:xfrm xmlns:a="http://schemas.openxmlformats.org/drawingml/2006/main">
            <a:off x="10953750" y="648652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defRPr sz="1200" b="0">
                <a:solidFill>
                  <a:srgbClr val="526B7C"/>
                </a:solidFill>
                <a:latin typeface="Helvetica Neue"/>
                <a:ea typeface="Helvetica Neue"/>
                <a:cs typeface="Helvetica Neue"/>
              </a:defRPr>
            </a:lvl1pPr>
            <a:lvl2pPr>
              <a:defRPr sz="1200" b="0">
                <a:solidFill>
                  <a:srgbClr val="526B7C"/>
                </a:solidFill>
                <a:latin typeface="Helvetica Neue"/>
                <a:ea typeface="Helvetica Neue"/>
                <a:cs typeface="Helvetica Neue"/>
              </a:defRPr>
            </a:lvl2pPr>
            <a:lvl3pPr>
              <a:defRPr sz="1200" b="0">
                <a:solidFill>
                  <a:srgbClr val="526B7C"/>
                </a:solidFill>
                <a:latin typeface="Helvetica Neue"/>
                <a:ea typeface="Helvetica Neue"/>
                <a:cs typeface="Helvetica Neue"/>
              </a:defRPr>
            </a:lvl3pPr>
            <a:lvl4pPr>
              <a:defRPr sz="1200" b="0">
                <a:solidFill>
                  <a:srgbClr val="526B7C"/>
                </a:solidFill>
                <a:latin typeface="Helvetica Neue"/>
                <a:ea typeface="Helvetica Neue"/>
                <a:cs typeface="Helvetica Neue"/>
              </a:defRPr>
            </a:lvl4pPr>
            <a:lvl5pPr>
              <a:defRPr sz="1200" b="0">
                <a:solidFill>
                  <a:srgbClr val="526B7C"/>
                </a:solidFill>
                <a:latin typeface="Helvetica Neue"/>
                <a:ea typeface="Helvetica Neue"/>
                <a:cs typeface="Helvetica Neue"/>
              </a:defRPr>
            </a:lvl5pPr>
            <a:lvl6pPr>
              <a:defRPr sz="1200" b="0">
                <a:solidFill>
                  <a:srgbClr val="526B7C"/>
                </a:solidFill>
                <a:latin typeface="Helvetica Neue"/>
                <a:ea typeface="Helvetica Neue"/>
                <a:cs typeface="Helvetica Neue"/>
              </a:defRPr>
            </a:lvl6pPr>
            <a:lvl7pPr>
              <a:defRPr sz="1200" b="0">
                <a:solidFill>
                  <a:srgbClr val="526B7C"/>
                </a:solidFill>
                <a:latin typeface="Helvetica Neue"/>
                <a:ea typeface="Helvetica Neue"/>
                <a:cs typeface="Helvetica Neue"/>
              </a:defRPr>
            </a:lvl7pPr>
            <a:lvl8pPr>
              <a:defRPr sz="1200" b="0">
                <a:solidFill>
                  <a:srgbClr val="526B7C"/>
                </a:solidFill>
                <a:latin typeface="Helvetica Neue"/>
                <a:ea typeface="Helvetica Neue"/>
                <a:cs typeface="Helvetica Neue"/>
              </a:defRPr>
            </a:lvl8pPr>
            <a:lvl9pPr>
              <a:defRPr sz="1200" b="0">
                <a:solidFill>
                  <a:srgbClr val="526B7C"/>
                </a:solidFill>
                <a:latin typeface="Helvetica Neue"/>
                <a:ea typeface="Helvetica Neue"/>
                <a:cs typeface="Helvetica Neue"/>
              </a:defRPr>
            </a:lvl9pPr>
          </a:lstStyle>
          <a:p xmlns:a="http://schemas.openxmlformats.org/drawingml/2006/main">
            <a:pPr>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6/7</a:t>
            </a:r>
          </a:p>
        </p:txBody>
      </p:sp>
      <p:sp>
        <p:nvSpPr>
          <p:cNvPr id="4" name="">
            <a:extLst xmlns:a="http://schemas.openxmlformats.org/drawingml/2006/main">
              <a:ext uri="{FF2B5EF4-FFF2-40B4-BE49-F238E27FC236}">
                <a16:creationId xmlns:a16="http://schemas.microsoft.com/office/drawing/2014/main" id="{32E38195-49CF-433D-8310-42E217089A40}"/>
              </a:ext>
            </a:extLst>
          </p:cNvPr>
          <p:cNvSpPr>
            <a:spLocks xmlns:a="http://schemas.openxmlformats.org/drawingml/2006/main" noGrp="1"/>
          </p:cNvSpPr>
          <p:nvPr/>
        </p:nvSpPr>
        <p:spPr>
          <a:xfrm xmlns:a="http://schemas.openxmlformats.org/drawingml/2006/main">
            <a:off x="704850" y="1514475"/>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02F43"/>
                </a:solidFill>
                <a:latin typeface="Helvetica Neue"/>
                <a:ea typeface="Helvetica Neue"/>
                <a:cs typeface="Helvetica Neue"/>
              </a:defRPr>
            </a:defPPr>
            <a:lvl1pPr>
              <a:defRPr sz="2400" b="1">
                <a:solidFill>
                  <a:srgbClr val="102F43"/>
                </a:solidFill>
                <a:latin typeface="Helvetica Neue"/>
                <a:ea typeface="Helvetica Neue"/>
                <a:cs typeface="Helvetica Neue"/>
              </a:defRPr>
            </a:lvl1pPr>
            <a:lvl2pPr>
              <a:defRPr sz="2400" b="1">
                <a:solidFill>
                  <a:srgbClr val="102F43"/>
                </a:solidFill>
                <a:latin typeface="Helvetica Neue"/>
                <a:ea typeface="Helvetica Neue"/>
                <a:cs typeface="Helvetica Neue"/>
              </a:defRPr>
            </a:lvl2pPr>
            <a:lvl3pPr>
              <a:defRPr sz="2400" b="1">
                <a:solidFill>
                  <a:srgbClr val="102F43"/>
                </a:solidFill>
                <a:latin typeface="Helvetica Neue"/>
                <a:ea typeface="Helvetica Neue"/>
                <a:cs typeface="Helvetica Neue"/>
              </a:defRPr>
            </a:lvl3pPr>
            <a:lvl4pPr>
              <a:defRPr sz="2400" b="1">
                <a:solidFill>
                  <a:srgbClr val="102F43"/>
                </a:solidFill>
                <a:latin typeface="Helvetica Neue"/>
                <a:ea typeface="Helvetica Neue"/>
                <a:cs typeface="Helvetica Neue"/>
              </a:defRPr>
            </a:lvl4pPr>
            <a:lvl5pPr>
              <a:defRPr sz="2400" b="1">
                <a:solidFill>
                  <a:srgbClr val="102F43"/>
                </a:solidFill>
                <a:latin typeface="Helvetica Neue"/>
                <a:ea typeface="Helvetica Neue"/>
                <a:cs typeface="Helvetica Neue"/>
              </a:defRPr>
            </a:lvl5pPr>
            <a:lvl6pPr>
              <a:defRPr sz="2400" b="1">
                <a:solidFill>
                  <a:srgbClr val="102F43"/>
                </a:solidFill>
                <a:latin typeface="Helvetica Neue"/>
                <a:ea typeface="Helvetica Neue"/>
                <a:cs typeface="Helvetica Neue"/>
              </a:defRPr>
            </a:lvl6pPr>
            <a:lvl7pPr>
              <a:defRPr sz="2400" b="1">
                <a:solidFill>
                  <a:srgbClr val="102F43"/>
                </a:solidFill>
                <a:latin typeface="Helvetica Neue"/>
                <a:ea typeface="Helvetica Neue"/>
                <a:cs typeface="Helvetica Neue"/>
              </a:defRPr>
            </a:lvl7pPr>
            <a:lvl8pPr>
              <a:defRPr sz="2400" b="1">
                <a:solidFill>
                  <a:srgbClr val="102F43"/>
                </a:solidFill>
                <a:latin typeface="Helvetica Neue"/>
                <a:ea typeface="Helvetica Neue"/>
                <a:cs typeface="Helvetica Neue"/>
              </a:defRPr>
            </a:lvl8pPr>
            <a:lvl9pPr>
              <a:defRPr sz="2400" b="1">
                <a:solidFill>
                  <a:srgbClr val="102F43"/>
                </a:solidFill>
                <a:latin typeface="Helvetica Neue"/>
                <a:ea typeface="Helvetica Neue"/>
                <a:cs typeface="Helvetica Neue"/>
              </a:defRPr>
            </a:lvl9pPr>
          </a:lstStyle>
          <a:p xmlns:a="http://schemas.openxmlformats.org/drawingml/2006/main">
            <a:pPr>
              <a:defRPr sz="2400" b="1">
                <a:solidFill>
                  <a:srgbClr val="102F43"/>
                </a:solidFill>
                <a:latin typeface="Helvetica Neue"/>
                <a:ea typeface="Helvetica Neue"/>
                <a:cs typeface="Helvetica Neue"/>
              </a:defRPr>
            </a:pPr>
            <a:r>
              <a:rPr sz="2400" b="1">
                <a:solidFill>
                  <a:srgbClr val="102F43"/>
                </a:solidFill>
                <a:latin typeface="Helvetica Neue"/>
                <a:ea typeface="Helvetica Neue"/>
                <a:cs typeface="Helvetica Neue"/>
              </a:rPr>
              <a:t>Primary goal: less merchant effort, with useful human handoffs</a:t>
            </a:r>
          </a:p>
        </p:txBody>
      </p:sp>
      <p:sp>
        <p:nvSpPr>
          <p:cNvPr id="5" name="">
            <a:extLst xmlns:a="http://schemas.openxmlformats.org/drawingml/2006/main">
              <a:ext uri="{FF2B5EF4-FFF2-40B4-BE49-F238E27FC236}">
                <a16:creationId xmlns:a16="http://schemas.microsoft.com/office/drawing/2014/main" id="{517A74B4-0751-453F-B95E-68E6D68C382E}"/>
              </a:ext>
            </a:extLst>
          </p:cNvPr>
          <p:cNvSpPr>
            <a:spLocks xmlns:a="http://schemas.openxmlformats.org/drawingml/2006/main" noGrp="1"/>
          </p:cNvSpPr>
          <p:nvPr/>
        </p:nvSpPr>
        <p:spPr>
          <a:xfrm xmlns:a="http://schemas.openxmlformats.org/drawingml/2006/main">
            <a:off x="704850" y="27241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Merchant outcomes</a:t>
            </a:r>
          </a:p>
        </p:txBody>
      </p:sp>
      <p:sp>
        <p:nvSpPr>
          <p:cNvPr id="6" name="">
            <a:extLst xmlns:a="http://schemas.openxmlformats.org/drawingml/2006/main">
              <a:ext uri="{FF2B5EF4-FFF2-40B4-BE49-F238E27FC236}">
                <a16:creationId xmlns:a16="http://schemas.microsoft.com/office/drawing/2014/main" id="{A32DBC4D-5C08-4E88-9B40-EE640441C18E}"/>
              </a:ext>
            </a:extLst>
          </p:cNvPr>
          <p:cNvSpPr>
            <a:spLocks xmlns:a="http://schemas.openxmlformats.org/drawingml/2006/main" noGrp="1"/>
          </p:cNvSpPr>
          <p:nvPr/>
        </p:nvSpPr>
        <p:spPr>
          <a:xfrm xmlns:a="http://schemas.openxmlformats.org/drawingml/2006/main">
            <a:off x="704850" y="32004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Fewer repeated explanations</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Less time spent on the case</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Clear status and remaining unknowns</a:t>
            </a:r>
          </a:p>
        </p:txBody>
      </p:sp>
      <p:sp>
        <p:nvSpPr>
          <p:cNvPr id="7" name="">
            <a:extLst xmlns:a="http://schemas.openxmlformats.org/drawingml/2006/main">
              <a:ext uri="{FF2B5EF4-FFF2-40B4-BE49-F238E27FC236}">
                <a16:creationId xmlns:a16="http://schemas.microsoft.com/office/drawing/2014/main" id="{CEE656B1-9050-460B-877B-7FF74775CC74}"/>
              </a:ext>
            </a:extLst>
          </p:cNvPr>
          <p:cNvSpPr>
            <a:spLocks xmlns:a="http://schemas.openxmlformats.org/drawingml/2006/main" noGrp="1"/>
          </p:cNvSpPr>
          <p:nvPr/>
        </p:nvSpPr>
        <p:spPr>
          <a:xfrm xmlns:a="http://schemas.openxmlformats.org/drawingml/2006/main">
            <a:off x="6334125" y="27241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Operations outcomes</a:t>
            </a:r>
          </a:p>
        </p:txBody>
      </p:sp>
      <p:sp>
        <p:nvSpPr>
          <p:cNvPr id="8" name="">
            <a:extLst xmlns:a="http://schemas.openxmlformats.org/drawingml/2006/main">
              <a:ext uri="{FF2B5EF4-FFF2-40B4-BE49-F238E27FC236}">
                <a16:creationId xmlns:a16="http://schemas.microsoft.com/office/drawing/2014/main" id="{7A1BABCC-0984-4299-B61F-3E9958F945D9}"/>
              </a:ext>
            </a:extLst>
          </p:cNvPr>
          <p:cNvSpPr>
            <a:spLocks xmlns:a="http://schemas.openxmlformats.org/drawingml/2006/main" noGrp="1"/>
          </p:cNvSpPr>
          <p:nvPr/>
        </p:nvSpPr>
        <p:spPr>
          <a:xfrm xmlns:a="http://schemas.openxmlformats.org/drawingml/2006/main">
            <a:off x="6334125" y="32004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Reviewer handling time</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Handoff completeness</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Incorrect routing and recontacts</a:t>
            </a:r>
          </a:p>
        </p:txBody>
      </p:sp>
      <p:sp>
        <p:nvSpPr>
          <p:cNvPr id="9" name="">
            <a:extLst xmlns:a="http://schemas.openxmlformats.org/drawingml/2006/main">
              <a:ext uri="{FF2B5EF4-FFF2-40B4-BE49-F238E27FC236}">
                <a16:creationId xmlns:a16="http://schemas.microsoft.com/office/drawing/2014/main" id="{559AAD2E-D2AE-437C-8518-7273D8AE5159}"/>
              </a:ext>
            </a:extLst>
          </p:cNvPr>
          <p:cNvSpPr>
            <a:spLocks xmlns:a="http://schemas.openxmlformats.org/drawingml/2006/main" noGrp="1"/>
          </p:cNvSpPr>
          <p:nvPr/>
        </p:nvSpPr>
        <p:spPr>
          <a:xfrm xmlns:a="http://schemas.openxmlformats.org/drawingml/2006/main">
            <a:off x="704850" y="47053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0A9D6"/>
                </a:solidFill>
                <a:latin typeface="Helvetica Neue"/>
                <a:ea typeface="Helvetica Neue"/>
                <a:cs typeface="Helvetica Neue"/>
              </a:defRPr>
            </a:defPPr>
            <a:lvl1pPr>
              <a:defRPr sz="2250" b="1">
                <a:solidFill>
                  <a:srgbClr val="00A9D6"/>
                </a:solidFill>
                <a:latin typeface="Helvetica Neue"/>
                <a:ea typeface="Helvetica Neue"/>
                <a:cs typeface="Helvetica Neue"/>
              </a:defRPr>
            </a:lvl1pPr>
            <a:lvl2pPr>
              <a:defRPr sz="2250" b="1">
                <a:solidFill>
                  <a:srgbClr val="00A9D6"/>
                </a:solidFill>
                <a:latin typeface="Helvetica Neue"/>
                <a:ea typeface="Helvetica Neue"/>
                <a:cs typeface="Helvetica Neue"/>
              </a:defRPr>
            </a:lvl2pPr>
            <a:lvl3pPr>
              <a:defRPr sz="2250" b="1">
                <a:solidFill>
                  <a:srgbClr val="00A9D6"/>
                </a:solidFill>
                <a:latin typeface="Helvetica Neue"/>
                <a:ea typeface="Helvetica Neue"/>
                <a:cs typeface="Helvetica Neue"/>
              </a:defRPr>
            </a:lvl3pPr>
            <a:lvl4pPr>
              <a:defRPr sz="2250" b="1">
                <a:solidFill>
                  <a:srgbClr val="00A9D6"/>
                </a:solidFill>
                <a:latin typeface="Helvetica Neue"/>
                <a:ea typeface="Helvetica Neue"/>
                <a:cs typeface="Helvetica Neue"/>
              </a:defRPr>
            </a:lvl4pPr>
            <a:lvl5pPr>
              <a:defRPr sz="2250" b="1">
                <a:solidFill>
                  <a:srgbClr val="00A9D6"/>
                </a:solidFill>
                <a:latin typeface="Helvetica Neue"/>
                <a:ea typeface="Helvetica Neue"/>
                <a:cs typeface="Helvetica Neue"/>
              </a:defRPr>
            </a:lvl5pPr>
            <a:lvl6pPr>
              <a:defRPr sz="2250" b="1">
                <a:solidFill>
                  <a:srgbClr val="00A9D6"/>
                </a:solidFill>
                <a:latin typeface="Helvetica Neue"/>
                <a:ea typeface="Helvetica Neue"/>
                <a:cs typeface="Helvetica Neue"/>
              </a:defRPr>
            </a:lvl6pPr>
            <a:lvl7pPr>
              <a:defRPr sz="2250" b="1">
                <a:solidFill>
                  <a:srgbClr val="00A9D6"/>
                </a:solidFill>
                <a:latin typeface="Helvetica Neue"/>
                <a:ea typeface="Helvetica Neue"/>
                <a:cs typeface="Helvetica Neue"/>
              </a:defRPr>
            </a:lvl7pPr>
            <a:lvl8pPr>
              <a:defRPr sz="2250" b="1">
                <a:solidFill>
                  <a:srgbClr val="00A9D6"/>
                </a:solidFill>
                <a:latin typeface="Helvetica Neue"/>
                <a:ea typeface="Helvetica Neue"/>
                <a:cs typeface="Helvetica Neue"/>
              </a:defRPr>
            </a:lvl8pPr>
            <a:lvl9pPr>
              <a:defRPr sz="2250" b="1">
                <a:solidFill>
                  <a:srgbClr val="00A9D6"/>
                </a:solidFill>
                <a:latin typeface="Helvetica Neue"/>
                <a:ea typeface="Helvetica Neue"/>
                <a:cs typeface="Helvetica Neue"/>
              </a:defRPr>
            </a:lvl9pPr>
          </a:lstStyle>
          <a:p xmlns:a="http://schemas.openxmlformats.org/drawingml/2006/main">
            <a:pPr>
              <a:defRPr sz="2250" b="1">
                <a:solidFill>
                  <a:srgbClr val="00A9D6"/>
                </a:solidFill>
                <a:latin typeface="Helvetica Neue"/>
                <a:ea typeface="Helvetica Neue"/>
                <a:cs typeface="Helvetica Neue"/>
              </a:defRPr>
            </a:pPr>
            <a:r>
              <a:rPr sz="2250" b="1">
                <a:solidFill>
                  <a:srgbClr val="00A9D6"/>
                </a:solidFill>
                <a:latin typeface="Helvetica Neue"/>
                <a:ea typeface="Helvetica Neue"/>
                <a:cs typeface="Helvetica Neue"/>
              </a:rPr>
              <a:t>Proposed pilot: 10 consenting merchants with operations reviewers</a:t>
            </a:r>
          </a:p>
        </p:txBody>
      </p:sp>
      <p:sp>
        <p:nvSpPr>
          <p:cNvPr id="10" name="">
            <a:extLst xmlns:a="http://schemas.openxmlformats.org/drawingml/2006/main">
              <a:ext uri="{FF2B5EF4-FFF2-40B4-BE49-F238E27FC236}">
                <a16:creationId xmlns:a16="http://schemas.microsoft.com/office/drawing/2014/main" id="{F93BBA6A-5A29-4A67-B14D-589A74F06AF1}"/>
              </a:ext>
            </a:extLst>
          </p:cNvPr>
          <p:cNvSpPr>
            <a:spLocks xmlns:a="http://schemas.openxmlformats.org/drawingml/2006/main" noGrp="1"/>
          </p:cNvSpPr>
          <p:nvPr/>
        </p:nvSpPr>
        <p:spPr>
          <a:xfrm xmlns:a="http://schemas.openxmlformats.org/drawingml/2006/main">
            <a:off x="704850" y="539115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B7C"/>
                </a:solidFill>
                <a:latin typeface="Helvetica Neue"/>
                <a:ea typeface="Helvetica Neue"/>
                <a:cs typeface="Helvetica Neue"/>
              </a:defRPr>
            </a:defPPr>
            <a:lvl1pPr>
              <a:defRPr sz="1950" b="0">
                <a:solidFill>
                  <a:srgbClr val="526B7C"/>
                </a:solidFill>
                <a:latin typeface="Helvetica Neue"/>
                <a:ea typeface="Helvetica Neue"/>
                <a:cs typeface="Helvetica Neue"/>
              </a:defRPr>
            </a:lvl1pPr>
            <a:lvl2pPr>
              <a:defRPr sz="1950" b="0">
                <a:solidFill>
                  <a:srgbClr val="526B7C"/>
                </a:solidFill>
                <a:latin typeface="Helvetica Neue"/>
                <a:ea typeface="Helvetica Neue"/>
                <a:cs typeface="Helvetica Neue"/>
              </a:defRPr>
            </a:lvl2pPr>
            <a:lvl3pPr>
              <a:defRPr sz="1950" b="0">
                <a:solidFill>
                  <a:srgbClr val="526B7C"/>
                </a:solidFill>
                <a:latin typeface="Helvetica Neue"/>
                <a:ea typeface="Helvetica Neue"/>
                <a:cs typeface="Helvetica Neue"/>
              </a:defRPr>
            </a:lvl3pPr>
            <a:lvl4pPr>
              <a:defRPr sz="1950" b="0">
                <a:solidFill>
                  <a:srgbClr val="526B7C"/>
                </a:solidFill>
                <a:latin typeface="Helvetica Neue"/>
                <a:ea typeface="Helvetica Neue"/>
                <a:cs typeface="Helvetica Neue"/>
              </a:defRPr>
            </a:lvl4pPr>
            <a:lvl5pPr>
              <a:defRPr sz="1950" b="0">
                <a:solidFill>
                  <a:srgbClr val="526B7C"/>
                </a:solidFill>
                <a:latin typeface="Helvetica Neue"/>
                <a:ea typeface="Helvetica Neue"/>
                <a:cs typeface="Helvetica Neue"/>
              </a:defRPr>
            </a:lvl5pPr>
            <a:lvl6pPr>
              <a:defRPr sz="1950" b="0">
                <a:solidFill>
                  <a:srgbClr val="526B7C"/>
                </a:solidFill>
                <a:latin typeface="Helvetica Neue"/>
                <a:ea typeface="Helvetica Neue"/>
                <a:cs typeface="Helvetica Neue"/>
              </a:defRPr>
            </a:lvl6pPr>
            <a:lvl7pPr>
              <a:defRPr sz="1950" b="0">
                <a:solidFill>
                  <a:srgbClr val="526B7C"/>
                </a:solidFill>
                <a:latin typeface="Helvetica Neue"/>
                <a:ea typeface="Helvetica Neue"/>
                <a:cs typeface="Helvetica Neue"/>
              </a:defRPr>
            </a:lvl7pPr>
            <a:lvl8pPr>
              <a:defRPr sz="1950" b="0">
                <a:solidFill>
                  <a:srgbClr val="526B7C"/>
                </a:solidFill>
                <a:latin typeface="Helvetica Neue"/>
                <a:ea typeface="Helvetica Neue"/>
                <a:cs typeface="Helvetica Neue"/>
              </a:defRPr>
            </a:lvl8pPr>
            <a:lvl9pPr>
              <a:defRPr sz="1950" b="0">
                <a:solidFill>
                  <a:srgbClr val="526B7C"/>
                </a:solidFill>
                <a:latin typeface="Helvetica Neue"/>
                <a:ea typeface="Helvetica Neue"/>
                <a:cs typeface="Helvetica Neue"/>
              </a:defRPr>
            </a:lvl9pPr>
          </a:lstStyle>
          <a:p xmlns:a="http://schemas.openxmlformats.org/drawingml/2006/main">
            <a:pPr>
              <a:defRPr sz="1950" b="0">
                <a:solidFill>
                  <a:srgbClr val="526B7C"/>
                </a:solidFill>
                <a:latin typeface="Helvetica Neue"/>
                <a:ea typeface="Helvetica Neue"/>
                <a:cs typeface="Helvetica Neue"/>
              </a:defRPr>
            </a:pPr>
            <a:r>
              <a:rPr sz="1950" b="0">
                <a:solidFill>
                  <a:srgbClr val="526B7C"/>
                </a:solidFill>
                <a:latin typeface="Helvetica Neue"/>
                <a:ea typeface="Helvetica Neue"/>
                <a:cs typeface="Helvetica Neue"/>
              </a:rPr>
              <a:t>Compare matched cases with the existing flow. Record voice failures, corrections, cost and whether improvement lasts.</a:t>
            </a:r>
          </a:p>
        </p:txBody>
      </p:sp>
    </p:spTree>
    <p:extLst>
      <p:ext uri="{BB962C8B-B14F-4D97-AF65-F5344CB8AC3E}">
        <p14:creationId xmlns:p14="http://schemas.microsoft.com/office/powerpoint/2010/main" val="848886585"/>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45A291-D93F-46A1-8F23-FEA36F2B9216}"/>
              </a:ext>
            </a:extLst>
          </p:cNvPr>
          <p:cNvSpPr>
            <a:spLocks xmlns:a="http://schemas.openxmlformats.org/drawingml/2006/main" noGrp="1"/>
          </p:cNvSpPr>
          <p:nvPr/>
        </p:nvSpPr>
        <p:spPr>
          <a:xfrm xmlns:a="http://schemas.openxmlformats.org/drawingml/2006/main">
            <a:off x="685800" y="5143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02F43"/>
                </a:solidFill>
                <a:latin typeface="Helvetica Neue"/>
                <a:ea typeface="Helvetica Neue"/>
                <a:cs typeface="Helvetica Neue"/>
              </a:defRPr>
            </a:defPPr>
            <a:lvl1pPr>
              <a:defRPr sz="3450" b="1">
                <a:solidFill>
                  <a:srgbClr val="102F43"/>
                </a:solidFill>
                <a:latin typeface="Helvetica Neue"/>
                <a:ea typeface="Helvetica Neue"/>
                <a:cs typeface="Helvetica Neue"/>
              </a:defRPr>
            </a:lvl1pPr>
            <a:lvl2pPr>
              <a:defRPr sz="3450" b="1">
                <a:solidFill>
                  <a:srgbClr val="102F43"/>
                </a:solidFill>
                <a:latin typeface="Helvetica Neue"/>
                <a:ea typeface="Helvetica Neue"/>
                <a:cs typeface="Helvetica Neue"/>
              </a:defRPr>
            </a:lvl2pPr>
            <a:lvl3pPr>
              <a:defRPr sz="3450" b="1">
                <a:solidFill>
                  <a:srgbClr val="102F43"/>
                </a:solidFill>
                <a:latin typeface="Helvetica Neue"/>
                <a:ea typeface="Helvetica Neue"/>
                <a:cs typeface="Helvetica Neue"/>
              </a:defRPr>
            </a:lvl3pPr>
            <a:lvl4pPr>
              <a:defRPr sz="3450" b="1">
                <a:solidFill>
                  <a:srgbClr val="102F43"/>
                </a:solidFill>
                <a:latin typeface="Helvetica Neue"/>
                <a:ea typeface="Helvetica Neue"/>
                <a:cs typeface="Helvetica Neue"/>
              </a:defRPr>
            </a:lvl4pPr>
            <a:lvl5pPr>
              <a:defRPr sz="3450" b="1">
                <a:solidFill>
                  <a:srgbClr val="102F43"/>
                </a:solidFill>
                <a:latin typeface="Helvetica Neue"/>
                <a:ea typeface="Helvetica Neue"/>
                <a:cs typeface="Helvetica Neue"/>
              </a:defRPr>
            </a:lvl5pPr>
            <a:lvl6pPr>
              <a:defRPr sz="3450" b="1">
                <a:solidFill>
                  <a:srgbClr val="102F43"/>
                </a:solidFill>
                <a:latin typeface="Helvetica Neue"/>
                <a:ea typeface="Helvetica Neue"/>
                <a:cs typeface="Helvetica Neue"/>
              </a:defRPr>
            </a:lvl6pPr>
            <a:lvl7pPr>
              <a:defRPr sz="3450" b="1">
                <a:solidFill>
                  <a:srgbClr val="102F43"/>
                </a:solidFill>
                <a:latin typeface="Helvetica Neue"/>
                <a:ea typeface="Helvetica Neue"/>
                <a:cs typeface="Helvetica Neue"/>
              </a:defRPr>
            </a:lvl7pPr>
            <a:lvl8pPr>
              <a:defRPr sz="3450" b="1">
                <a:solidFill>
                  <a:srgbClr val="102F43"/>
                </a:solidFill>
                <a:latin typeface="Helvetica Neue"/>
                <a:ea typeface="Helvetica Neue"/>
                <a:cs typeface="Helvetica Neue"/>
              </a:defRPr>
            </a:lvl8pPr>
            <a:lvl9pPr>
              <a:defRPr sz="3450" b="1">
                <a:solidFill>
                  <a:srgbClr val="102F43"/>
                </a:solidFill>
                <a:latin typeface="Helvetica Neue"/>
                <a:ea typeface="Helvetica Neue"/>
                <a:cs typeface="Helvetica Neue"/>
              </a:defRPr>
            </a:lvl9pPr>
          </a:lstStyle>
          <a:p xmlns:a="http://schemas.openxmlformats.org/drawingml/2006/main">
            <a:pPr>
              <a:defRPr sz="3450" b="1">
                <a:solidFill>
                  <a:srgbClr val="102F43"/>
                </a:solidFill>
                <a:latin typeface="Helvetica Neue"/>
                <a:ea typeface="Helvetica Neue"/>
                <a:cs typeface="Helvetica Neue"/>
              </a:defRPr>
            </a:pPr>
            <a:r>
              <a:rPr sz="3450" b="1">
                <a:solidFill>
                  <a:srgbClr val="102F43"/>
                </a:solidFill>
                <a:latin typeface="Helvetica Neue"/>
                <a:ea typeface="Helvetica Neue"/>
                <a:cs typeface="Helvetica Neue"/>
              </a:rPr>
              <a:t>Business model and integration plan</a:t>
            </a:r>
          </a:p>
        </p:txBody>
      </p:sp>
      <p:sp>
        <p:nvSpPr>
          <p:cNvPr id="2" name="">
            <a:extLst xmlns:a="http://schemas.openxmlformats.org/drawingml/2006/main">
              <a:ext uri="{FF2B5EF4-FFF2-40B4-BE49-F238E27FC236}">
                <a16:creationId xmlns:a16="http://schemas.microsoft.com/office/drawing/2014/main" id="{C1975954-4EDA-43C5-8A8E-DE63F997E2B6}"/>
              </a:ext>
            </a:extLst>
          </p:cNvPr>
          <p:cNvSpPr>
            <a:spLocks xmlns:a="http://schemas.openxmlformats.org/drawingml/2006/main" noGrp="1"/>
          </p:cNvSpPr>
          <p:nvPr/>
        </p:nvSpPr>
        <p:spPr>
          <a:xfrm xmlns:a="http://schemas.openxmlformats.org/drawingml/2006/main">
            <a:off x="685800" y="64865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defRPr sz="1200" b="0">
                <a:solidFill>
                  <a:srgbClr val="526B7C"/>
                </a:solidFill>
                <a:latin typeface="Helvetica Neue"/>
                <a:ea typeface="Helvetica Neue"/>
                <a:cs typeface="Helvetica Neue"/>
              </a:defRPr>
            </a:lvl1pPr>
            <a:lvl2pPr>
              <a:defRPr sz="1200" b="0">
                <a:solidFill>
                  <a:srgbClr val="526B7C"/>
                </a:solidFill>
                <a:latin typeface="Helvetica Neue"/>
                <a:ea typeface="Helvetica Neue"/>
                <a:cs typeface="Helvetica Neue"/>
              </a:defRPr>
            </a:lvl2pPr>
            <a:lvl3pPr>
              <a:defRPr sz="1200" b="0">
                <a:solidFill>
                  <a:srgbClr val="526B7C"/>
                </a:solidFill>
                <a:latin typeface="Helvetica Neue"/>
                <a:ea typeface="Helvetica Neue"/>
                <a:cs typeface="Helvetica Neue"/>
              </a:defRPr>
            </a:lvl3pPr>
            <a:lvl4pPr>
              <a:defRPr sz="1200" b="0">
                <a:solidFill>
                  <a:srgbClr val="526B7C"/>
                </a:solidFill>
                <a:latin typeface="Helvetica Neue"/>
                <a:ea typeface="Helvetica Neue"/>
                <a:cs typeface="Helvetica Neue"/>
              </a:defRPr>
            </a:lvl4pPr>
            <a:lvl5pPr>
              <a:defRPr sz="1200" b="0">
                <a:solidFill>
                  <a:srgbClr val="526B7C"/>
                </a:solidFill>
                <a:latin typeface="Helvetica Neue"/>
                <a:ea typeface="Helvetica Neue"/>
                <a:cs typeface="Helvetica Neue"/>
              </a:defRPr>
            </a:lvl5pPr>
            <a:lvl6pPr>
              <a:defRPr sz="1200" b="0">
                <a:solidFill>
                  <a:srgbClr val="526B7C"/>
                </a:solidFill>
                <a:latin typeface="Helvetica Neue"/>
                <a:ea typeface="Helvetica Neue"/>
                <a:cs typeface="Helvetica Neue"/>
              </a:defRPr>
            </a:lvl6pPr>
            <a:lvl7pPr>
              <a:defRPr sz="1200" b="0">
                <a:solidFill>
                  <a:srgbClr val="526B7C"/>
                </a:solidFill>
                <a:latin typeface="Helvetica Neue"/>
                <a:ea typeface="Helvetica Neue"/>
                <a:cs typeface="Helvetica Neue"/>
              </a:defRPr>
            </a:lvl7pPr>
            <a:lvl8pPr>
              <a:defRPr sz="1200" b="0">
                <a:solidFill>
                  <a:srgbClr val="526B7C"/>
                </a:solidFill>
                <a:latin typeface="Helvetica Neue"/>
                <a:ea typeface="Helvetica Neue"/>
                <a:cs typeface="Helvetica Neue"/>
              </a:defRPr>
            </a:lvl8pPr>
            <a:lvl9pPr>
              <a:defRPr sz="1200" b="0">
                <a:solidFill>
                  <a:srgbClr val="526B7C"/>
                </a:solidFill>
                <a:latin typeface="Helvetica Neue"/>
                <a:ea typeface="Helvetica Neue"/>
                <a:cs typeface="Helvetica Neue"/>
              </a:defRPr>
            </a:lvl9pPr>
          </a:lstStyle>
          <a:p xmlns:a="http://schemas.openxmlformats.org/drawingml/2006/main">
            <a:pPr>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MerchantLens / Paytm Build for India / Stage 1</a:t>
            </a:r>
          </a:p>
        </p:txBody>
      </p:sp>
      <p:sp>
        <p:nvSpPr>
          <p:cNvPr id="3" name="">
            <a:extLst xmlns:a="http://schemas.openxmlformats.org/drawingml/2006/main">
              <a:ext uri="{FF2B5EF4-FFF2-40B4-BE49-F238E27FC236}">
                <a16:creationId xmlns:a16="http://schemas.microsoft.com/office/drawing/2014/main" id="{5F575F3A-35FE-476C-B119-5D5F8739D8C8}"/>
              </a:ext>
            </a:extLst>
          </p:cNvPr>
          <p:cNvSpPr>
            <a:spLocks xmlns:a="http://schemas.openxmlformats.org/drawingml/2006/main" noGrp="1"/>
          </p:cNvSpPr>
          <p:nvPr/>
        </p:nvSpPr>
        <p:spPr>
          <a:xfrm xmlns:a="http://schemas.openxmlformats.org/drawingml/2006/main">
            <a:off x="10953750" y="648652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defRPr sz="1200" b="0">
                <a:solidFill>
                  <a:srgbClr val="526B7C"/>
                </a:solidFill>
                <a:latin typeface="Helvetica Neue"/>
                <a:ea typeface="Helvetica Neue"/>
                <a:cs typeface="Helvetica Neue"/>
              </a:defRPr>
            </a:lvl1pPr>
            <a:lvl2pPr>
              <a:defRPr sz="1200" b="0">
                <a:solidFill>
                  <a:srgbClr val="526B7C"/>
                </a:solidFill>
                <a:latin typeface="Helvetica Neue"/>
                <a:ea typeface="Helvetica Neue"/>
                <a:cs typeface="Helvetica Neue"/>
              </a:defRPr>
            </a:lvl2pPr>
            <a:lvl3pPr>
              <a:defRPr sz="1200" b="0">
                <a:solidFill>
                  <a:srgbClr val="526B7C"/>
                </a:solidFill>
                <a:latin typeface="Helvetica Neue"/>
                <a:ea typeface="Helvetica Neue"/>
                <a:cs typeface="Helvetica Neue"/>
              </a:defRPr>
            </a:lvl3pPr>
            <a:lvl4pPr>
              <a:defRPr sz="1200" b="0">
                <a:solidFill>
                  <a:srgbClr val="526B7C"/>
                </a:solidFill>
                <a:latin typeface="Helvetica Neue"/>
                <a:ea typeface="Helvetica Neue"/>
                <a:cs typeface="Helvetica Neue"/>
              </a:defRPr>
            </a:lvl4pPr>
            <a:lvl5pPr>
              <a:defRPr sz="1200" b="0">
                <a:solidFill>
                  <a:srgbClr val="526B7C"/>
                </a:solidFill>
                <a:latin typeface="Helvetica Neue"/>
                <a:ea typeface="Helvetica Neue"/>
                <a:cs typeface="Helvetica Neue"/>
              </a:defRPr>
            </a:lvl5pPr>
            <a:lvl6pPr>
              <a:defRPr sz="1200" b="0">
                <a:solidFill>
                  <a:srgbClr val="526B7C"/>
                </a:solidFill>
                <a:latin typeface="Helvetica Neue"/>
                <a:ea typeface="Helvetica Neue"/>
                <a:cs typeface="Helvetica Neue"/>
              </a:defRPr>
            </a:lvl6pPr>
            <a:lvl7pPr>
              <a:defRPr sz="1200" b="0">
                <a:solidFill>
                  <a:srgbClr val="526B7C"/>
                </a:solidFill>
                <a:latin typeface="Helvetica Neue"/>
                <a:ea typeface="Helvetica Neue"/>
                <a:cs typeface="Helvetica Neue"/>
              </a:defRPr>
            </a:lvl7pPr>
            <a:lvl8pPr>
              <a:defRPr sz="1200" b="0">
                <a:solidFill>
                  <a:srgbClr val="526B7C"/>
                </a:solidFill>
                <a:latin typeface="Helvetica Neue"/>
                <a:ea typeface="Helvetica Neue"/>
                <a:cs typeface="Helvetica Neue"/>
              </a:defRPr>
            </a:lvl8pPr>
            <a:lvl9pPr>
              <a:defRPr sz="1200" b="0">
                <a:solidFill>
                  <a:srgbClr val="526B7C"/>
                </a:solidFill>
                <a:latin typeface="Helvetica Neue"/>
                <a:ea typeface="Helvetica Neue"/>
                <a:cs typeface="Helvetica Neue"/>
              </a:defRPr>
            </a:lvl9pPr>
          </a:lstStyle>
          <a:p xmlns:a="http://schemas.openxmlformats.org/drawingml/2006/main">
            <a:pPr>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7/7</a:t>
            </a:r>
          </a:p>
        </p:txBody>
      </p:sp>
      <p:sp>
        <p:nvSpPr>
          <p:cNvPr id="4" name="">
            <a:extLst xmlns:a="http://schemas.openxmlformats.org/drawingml/2006/main">
              <a:ext uri="{FF2B5EF4-FFF2-40B4-BE49-F238E27FC236}">
                <a16:creationId xmlns:a16="http://schemas.microsoft.com/office/drawing/2014/main" id="{7E4E1432-0A33-45C9-8F0F-5A9198E7BAFF}"/>
              </a:ext>
            </a:extLst>
          </p:cNvPr>
          <p:cNvSpPr>
            <a:spLocks xmlns:a="http://schemas.openxmlformats.org/drawingml/2006/main" noGrp="1"/>
          </p:cNvSpPr>
          <p:nvPr/>
        </p:nvSpPr>
        <p:spPr>
          <a:xfrm xmlns:a="http://schemas.openxmlformats.org/drawingml/2006/main">
            <a:off x="704850" y="14763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02F43"/>
                </a:solidFill>
                <a:latin typeface="Helvetica Neue"/>
                <a:ea typeface="Helvetica Neue"/>
                <a:cs typeface="Helvetica Neue"/>
              </a:defRPr>
            </a:defPPr>
            <a:lvl1pPr>
              <a:defRPr sz="2475" b="1">
                <a:solidFill>
                  <a:srgbClr val="102F43"/>
                </a:solidFill>
                <a:latin typeface="Helvetica Neue"/>
                <a:ea typeface="Helvetica Neue"/>
                <a:cs typeface="Helvetica Neue"/>
              </a:defRPr>
            </a:lvl1pPr>
            <a:lvl2pPr>
              <a:defRPr sz="2475" b="1">
                <a:solidFill>
                  <a:srgbClr val="102F43"/>
                </a:solidFill>
                <a:latin typeface="Helvetica Neue"/>
                <a:ea typeface="Helvetica Neue"/>
                <a:cs typeface="Helvetica Neue"/>
              </a:defRPr>
            </a:lvl2pPr>
            <a:lvl3pPr>
              <a:defRPr sz="2475" b="1">
                <a:solidFill>
                  <a:srgbClr val="102F43"/>
                </a:solidFill>
                <a:latin typeface="Helvetica Neue"/>
                <a:ea typeface="Helvetica Neue"/>
                <a:cs typeface="Helvetica Neue"/>
              </a:defRPr>
            </a:lvl3pPr>
            <a:lvl4pPr>
              <a:defRPr sz="2475" b="1">
                <a:solidFill>
                  <a:srgbClr val="102F43"/>
                </a:solidFill>
                <a:latin typeface="Helvetica Neue"/>
                <a:ea typeface="Helvetica Neue"/>
                <a:cs typeface="Helvetica Neue"/>
              </a:defRPr>
            </a:lvl4pPr>
            <a:lvl5pPr>
              <a:defRPr sz="2475" b="1">
                <a:solidFill>
                  <a:srgbClr val="102F43"/>
                </a:solidFill>
                <a:latin typeface="Helvetica Neue"/>
                <a:ea typeface="Helvetica Neue"/>
                <a:cs typeface="Helvetica Neue"/>
              </a:defRPr>
            </a:lvl5pPr>
            <a:lvl6pPr>
              <a:defRPr sz="2475" b="1">
                <a:solidFill>
                  <a:srgbClr val="102F43"/>
                </a:solidFill>
                <a:latin typeface="Helvetica Neue"/>
                <a:ea typeface="Helvetica Neue"/>
                <a:cs typeface="Helvetica Neue"/>
              </a:defRPr>
            </a:lvl6pPr>
            <a:lvl7pPr>
              <a:defRPr sz="2475" b="1">
                <a:solidFill>
                  <a:srgbClr val="102F43"/>
                </a:solidFill>
                <a:latin typeface="Helvetica Neue"/>
                <a:ea typeface="Helvetica Neue"/>
                <a:cs typeface="Helvetica Neue"/>
              </a:defRPr>
            </a:lvl7pPr>
            <a:lvl8pPr>
              <a:defRPr sz="2475" b="1">
                <a:solidFill>
                  <a:srgbClr val="102F43"/>
                </a:solidFill>
                <a:latin typeface="Helvetica Neue"/>
                <a:ea typeface="Helvetica Neue"/>
                <a:cs typeface="Helvetica Neue"/>
              </a:defRPr>
            </a:lvl8pPr>
            <a:lvl9pPr>
              <a:defRPr sz="2475" b="1">
                <a:solidFill>
                  <a:srgbClr val="102F43"/>
                </a:solidFill>
                <a:latin typeface="Helvetica Neue"/>
                <a:ea typeface="Helvetica Neue"/>
                <a:cs typeface="Helvetica Neue"/>
              </a:defRPr>
            </a:lvl9pPr>
          </a:lstStyle>
          <a:p xmlns:a="http://schemas.openxmlformats.org/drawingml/2006/main">
            <a:pPr>
              <a:defRPr sz="2475" b="1">
                <a:solidFill>
                  <a:srgbClr val="102F43"/>
                </a:solidFill>
                <a:latin typeface="Helvetica Neue"/>
                <a:ea typeface="Helvetica Neue"/>
                <a:cs typeface="Helvetica Neue"/>
              </a:defRPr>
            </a:pPr>
            <a:r>
              <a:rPr sz="2475" b="1">
                <a:solidFill>
                  <a:srgbClr val="102F43"/>
                </a:solidFill>
                <a:latin typeface="Helvetica Neue"/>
                <a:ea typeface="Helvetica Neue"/>
                <a:cs typeface="Helvetica Neue"/>
              </a:rPr>
              <a:t>Proposed internal capability for Paytm merchant operations</a:t>
            </a:r>
          </a:p>
        </p:txBody>
      </p:sp>
      <p:sp>
        <p:nvSpPr>
          <p:cNvPr id="5" name="">
            <a:extLst xmlns:a="http://schemas.openxmlformats.org/drawingml/2006/main">
              <a:ext uri="{FF2B5EF4-FFF2-40B4-BE49-F238E27FC236}">
                <a16:creationId xmlns:a16="http://schemas.microsoft.com/office/drawing/2014/main" id="{263A78AD-7E8E-4324-A369-4318A204402E}"/>
              </a:ext>
            </a:extLst>
          </p:cNvPr>
          <p:cNvSpPr>
            <a:spLocks xmlns:a="http://schemas.openxmlformats.org/drawingml/2006/main" noGrp="1"/>
          </p:cNvSpPr>
          <p:nvPr/>
        </p:nvSpPr>
        <p:spPr>
          <a:xfrm xmlns:a="http://schemas.openxmlformats.org/drawingml/2006/main">
            <a:off x="704850" y="26384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Value and cost model</a:t>
            </a:r>
          </a:p>
        </p:txBody>
      </p:sp>
      <p:sp>
        <p:nvSpPr>
          <p:cNvPr id="6" name="">
            <a:extLst xmlns:a="http://schemas.openxmlformats.org/drawingml/2006/main">
              <a:ext uri="{FF2B5EF4-FFF2-40B4-BE49-F238E27FC236}">
                <a16:creationId xmlns:a16="http://schemas.microsoft.com/office/drawing/2014/main" id="{951AC054-4211-4CFC-8E7E-AAD326E7FCE4}"/>
              </a:ext>
            </a:extLst>
          </p:cNvPr>
          <p:cNvSpPr>
            <a:spLocks xmlns:a="http://schemas.openxmlformats.org/drawingml/2006/main" noGrp="1"/>
          </p:cNvSpPr>
          <p:nvPr/>
        </p:nvSpPr>
        <p:spPr>
          <a:xfrm xmlns:a="http://schemas.openxmlformats.org/drawingml/2006/main">
            <a:off x="704850" y="311467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Value comes from saved reviewer time</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and lower repeat-contact effort.</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Costs include inference, hosting,</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maintenance and human review.</a:t>
            </a:r>
          </a:p>
        </p:txBody>
      </p:sp>
      <p:sp>
        <p:nvSpPr>
          <p:cNvPr id="7" name="">
            <a:extLst xmlns:a="http://schemas.openxmlformats.org/drawingml/2006/main">
              <a:ext uri="{FF2B5EF4-FFF2-40B4-BE49-F238E27FC236}">
                <a16:creationId xmlns:a16="http://schemas.microsoft.com/office/drawing/2014/main" id="{72D128FD-E5F1-468E-8F7E-F90A9C2EB2AD}"/>
              </a:ext>
            </a:extLst>
          </p:cNvPr>
          <p:cNvSpPr>
            <a:spLocks xmlns:a="http://schemas.openxmlformats.org/drawingml/2006/main" noGrp="1"/>
          </p:cNvSpPr>
          <p:nvPr/>
        </p:nvSpPr>
        <p:spPr>
          <a:xfrm xmlns:a="http://schemas.openxmlformats.org/drawingml/2006/main">
            <a:off x="6334125" y="26384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02F43"/>
                </a:solidFill>
                <a:latin typeface="Helvetica Neue"/>
                <a:ea typeface="Helvetica Neue"/>
                <a:cs typeface="Helvetica Neue"/>
              </a:defRPr>
            </a:defPPr>
            <a:lvl1pPr>
              <a:defRPr sz="2175" b="1">
                <a:solidFill>
                  <a:srgbClr val="102F43"/>
                </a:solidFill>
                <a:latin typeface="Helvetica Neue"/>
                <a:ea typeface="Helvetica Neue"/>
                <a:cs typeface="Helvetica Neue"/>
              </a:defRPr>
            </a:lvl1pPr>
            <a:lvl2pPr>
              <a:defRPr sz="2175" b="1">
                <a:solidFill>
                  <a:srgbClr val="102F43"/>
                </a:solidFill>
                <a:latin typeface="Helvetica Neue"/>
                <a:ea typeface="Helvetica Neue"/>
                <a:cs typeface="Helvetica Neue"/>
              </a:defRPr>
            </a:lvl2pPr>
            <a:lvl3pPr>
              <a:defRPr sz="2175" b="1">
                <a:solidFill>
                  <a:srgbClr val="102F43"/>
                </a:solidFill>
                <a:latin typeface="Helvetica Neue"/>
                <a:ea typeface="Helvetica Neue"/>
                <a:cs typeface="Helvetica Neue"/>
              </a:defRPr>
            </a:lvl3pPr>
            <a:lvl4pPr>
              <a:defRPr sz="2175" b="1">
                <a:solidFill>
                  <a:srgbClr val="102F43"/>
                </a:solidFill>
                <a:latin typeface="Helvetica Neue"/>
                <a:ea typeface="Helvetica Neue"/>
                <a:cs typeface="Helvetica Neue"/>
              </a:defRPr>
            </a:lvl4pPr>
            <a:lvl5pPr>
              <a:defRPr sz="2175" b="1">
                <a:solidFill>
                  <a:srgbClr val="102F43"/>
                </a:solidFill>
                <a:latin typeface="Helvetica Neue"/>
                <a:ea typeface="Helvetica Neue"/>
                <a:cs typeface="Helvetica Neue"/>
              </a:defRPr>
            </a:lvl5pPr>
            <a:lvl6pPr>
              <a:defRPr sz="2175" b="1">
                <a:solidFill>
                  <a:srgbClr val="102F43"/>
                </a:solidFill>
                <a:latin typeface="Helvetica Neue"/>
                <a:ea typeface="Helvetica Neue"/>
                <a:cs typeface="Helvetica Neue"/>
              </a:defRPr>
            </a:lvl6pPr>
            <a:lvl7pPr>
              <a:defRPr sz="2175" b="1">
                <a:solidFill>
                  <a:srgbClr val="102F43"/>
                </a:solidFill>
                <a:latin typeface="Helvetica Neue"/>
                <a:ea typeface="Helvetica Neue"/>
                <a:cs typeface="Helvetica Neue"/>
              </a:defRPr>
            </a:lvl7pPr>
            <a:lvl8pPr>
              <a:defRPr sz="2175" b="1">
                <a:solidFill>
                  <a:srgbClr val="102F43"/>
                </a:solidFill>
                <a:latin typeface="Helvetica Neue"/>
                <a:ea typeface="Helvetica Neue"/>
                <a:cs typeface="Helvetica Neue"/>
              </a:defRPr>
            </a:lvl8pPr>
            <a:lvl9pPr>
              <a:defRPr sz="2175" b="1">
                <a:solidFill>
                  <a:srgbClr val="102F43"/>
                </a:solidFill>
                <a:latin typeface="Helvetica Neue"/>
                <a:ea typeface="Helvetica Neue"/>
                <a:cs typeface="Helvetica Neue"/>
              </a:defRPr>
            </a:lvl9pPr>
          </a:lstStyle>
          <a:p xmlns:a="http://schemas.openxmlformats.org/drawingml/2006/main">
            <a:pPr>
              <a:defRPr sz="2175" b="1">
                <a:solidFill>
                  <a:srgbClr val="102F43"/>
                </a:solidFill>
                <a:latin typeface="Helvetica Neue"/>
                <a:ea typeface="Helvetica Neue"/>
                <a:cs typeface="Helvetica Neue"/>
              </a:defRPr>
            </a:pPr>
            <a:r>
              <a:rPr sz="2175" b="1">
                <a:solidFill>
                  <a:srgbClr val="102F43"/>
                </a:solidFill>
                <a:latin typeface="Helvetica Neue"/>
                <a:ea typeface="Helvetica Neue"/>
                <a:cs typeface="Helvetica Neue"/>
              </a:rPr>
              <a:t>Pilot before system execution</a:t>
            </a:r>
          </a:p>
        </p:txBody>
      </p:sp>
      <p:sp>
        <p:nvSpPr>
          <p:cNvPr id="8" name="">
            <a:extLst xmlns:a="http://schemas.openxmlformats.org/drawingml/2006/main">
              <a:ext uri="{FF2B5EF4-FFF2-40B4-BE49-F238E27FC236}">
                <a16:creationId xmlns:a16="http://schemas.microsoft.com/office/drawing/2014/main" id="{5775DA2B-35D7-4B49-B5DD-A202987D2FC0}"/>
              </a:ext>
            </a:extLst>
          </p:cNvPr>
          <p:cNvSpPr>
            <a:spLocks xmlns:a="http://schemas.openxmlformats.org/drawingml/2006/main" noGrp="1"/>
          </p:cNvSpPr>
          <p:nvPr/>
        </p:nvSpPr>
        <p:spPr>
          <a:xfrm xmlns:a="http://schemas.openxmlformats.org/drawingml/2006/main">
            <a:off x="6334125" y="311467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B7C"/>
                </a:solidFill>
                <a:latin typeface="Helvetica Neue"/>
                <a:ea typeface="Helvetica Neue"/>
                <a:cs typeface="Helvetica Neue"/>
              </a:defRPr>
            </a:defPPr>
            <a:lvl1pPr>
              <a:defRPr sz="1875" b="0">
                <a:solidFill>
                  <a:srgbClr val="526B7C"/>
                </a:solidFill>
                <a:latin typeface="Helvetica Neue"/>
                <a:ea typeface="Helvetica Neue"/>
                <a:cs typeface="Helvetica Neue"/>
              </a:defRPr>
            </a:lvl1pPr>
            <a:lvl2pPr>
              <a:defRPr sz="1875" b="0">
                <a:solidFill>
                  <a:srgbClr val="526B7C"/>
                </a:solidFill>
                <a:latin typeface="Helvetica Neue"/>
                <a:ea typeface="Helvetica Neue"/>
                <a:cs typeface="Helvetica Neue"/>
              </a:defRPr>
            </a:lvl2pPr>
            <a:lvl3pPr>
              <a:defRPr sz="1875" b="0">
                <a:solidFill>
                  <a:srgbClr val="526B7C"/>
                </a:solidFill>
                <a:latin typeface="Helvetica Neue"/>
                <a:ea typeface="Helvetica Neue"/>
                <a:cs typeface="Helvetica Neue"/>
              </a:defRPr>
            </a:lvl3pPr>
            <a:lvl4pPr>
              <a:defRPr sz="1875" b="0">
                <a:solidFill>
                  <a:srgbClr val="526B7C"/>
                </a:solidFill>
                <a:latin typeface="Helvetica Neue"/>
                <a:ea typeface="Helvetica Neue"/>
                <a:cs typeface="Helvetica Neue"/>
              </a:defRPr>
            </a:lvl4pPr>
            <a:lvl5pPr>
              <a:defRPr sz="1875" b="0">
                <a:solidFill>
                  <a:srgbClr val="526B7C"/>
                </a:solidFill>
                <a:latin typeface="Helvetica Neue"/>
                <a:ea typeface="Helvetica Neue"/>
                <a:cs typeface="Helvetica Neue"/>
              </a:defRPr>
            </a:lvl5pPr>
            <a:lvl6pPr>
              <a:defRPr sz="1875" b="0">
                <a:solidFill>
                  <a:srgbClr val="526B7C"/>
                </a:solidFill>
                <a:latin typeface="Helvetica Neue"/>
                <a:ea typeface="Helvetica Neue"/>
                <a:cs typeface="Helvetica Neue"/>
              </a:defRPr>
            </a:lvl6pPr>
            <a:lvl7pPr>
              <a:defRPr sz="1875" b="0">
                <a:solidFill>
                  <a:srgbClr val="526B7C"/>
                </a:solidFill>
                <a:latin typeface="Helvetica Neue"/>
                <a:ea typeface="Helvetica Neue"/>
                <a:cs typeface="Helvetica Neue"/>
              </a:defRPr>
            </a:lvl7pPr>
            <a:lvl8pPr>
              <a:defRPr sz="1875" b="0">
                <a:solidFill>
                  <a:srgbClr val="526B7C"/>
                </a:solidFill>
                <a:latin typeface="Helvetica Neue"/>
                <a:ea typeface="Helvetica Neue"/>
                <a:cs typeface="Helvetica Neue"/>
              </a:defRPr>
            </a:lvl8pPr>
            <a:lvl9pPr>
              <a:defRPr sz="1875" b="0">
                <a:solidFill>
                  <a:srgbClr val="526B7C"/>
                </a:solidFill>
                <a:latin typeface="Helvetica Neue"/>
                <a:ea typeface="Helvetica Neue"/>
                <a:cs typeface="Helvetica Neue"/>
              </a:defRPr>
            </a:lvl9pPr>
          </a:lstStyle>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First validate handoff usefulness.</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Then add authorized read-only records.</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Add approved ticket creation with</a:t>
            </a:r>
          </a:p>
          <a:p xmlns:a="http://schemas.openxmlformats.org/drawingml/2006/main">
            <a:pPr>
              <a:defRPr sz="1875" b="0">
                <a:solidFill>
                  <a:srgbClr val="526B7C"/>
                </a:solidFill>
                <a:latin typeface="Helvetica Neue"/>
                <a:ea typeface="Helvetica Neue"/>
                <a:cs typeface="Helvetica Neue"/>
              </a:defRPr>
            </a:pPr>
            <a:r>
              <a:rPr sz="1875" b="0">
                <a:solidFill>
                  <a:srgbClr val="526B7C"/>
                </a:solidFill>
                <a:latin typeface="Helvetica Neue"/>
                <a:ea typeface="Helvetica Neue"/>
                <a:cs typeface="Helvetica Neue"/>
              </a:rPr>
              <a:t>idempotency and durable receipts.</a:t>
            </a:r>
          </a:p>
        </p:txBody>
      </p:sp>
      <p:sp>
        <p:nvSpPr>
          <p:cNvPr id="9" name="">
            <a:extLst xmlns:a="http://schemas.openxmlformats.org/drawingml/2006/main">
              <a:ext uri="{FF2B5EF4-FFF2-40B4-BE49-F238E27FC236}">
                <a16:creationId xmlns:a16="http://schemas.microsoft.com/office/drawing/2014/main" id="{6DBD0785-C112-41F9-8C8A-79DBF7D02C62}"/>
              </a:ext>
            </a:extLst>
          </p:cNvPr>
          <p:cNvSpPr>
            <a:spLocks xmlns:a="http://schemas.openxmlformats.org/drawingml/2006/main" noGrp="1"/>
          </p:cNvSpPr>
          <p:nvPr/>
        </p:nvSpPr>
        <p:spPr>
          <a:xfrm xmlns:a="http://schemas.openxmlformats.org/drawingml/2006/main">
            <a:off x="704850" y="46101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A9D6"/>
                </a:solidFill>
                <a:latin typeface="Helvetica Neue"/>
                <a:ea typeface="Helvetica Neue"/>
                <a:cs typeface="Helvetica Neue"/>
              </a:defRPr>
            </a:defPPr>
            <a:lvl1pPr>
              <a:defRPr sz="2025" b="1">
                <a:solidFill>
                  <a:srgbClr val="00A9D6"/>
                </a:solidFill>
                <a:latin typeface="Helvetica Neue"/>
                <a:ea typeface="Helvetica Neue"/>
                <a:cs typeface="Helvetica Neue"/>
              </a:defRPr>
            </a:lvl1pPr>
            <a:lvl2pPr>
              <a:defRPr sz="2025" b="1">
                <a:solidFill>
                  <a:srgbClr val="00A9D6"/>
                </a:solidFill>
                <a:latin typeface="Helvetica Neue"/>
                <a:ea typeface="Helvetica Neue"/>
                <a:cs typeface="Helvetica Neue"/>
              </a:defRPr>
            </a:lvl2pPr>
            <a:lvl3pPr>
              <a:defRPr sz="2025" b="1">
                <a:solidFill>
                  <a:srgbClr val="00A9D6"/>
                </a:solidFill>
                <a:latin typeface="Helvetica Neue"/>
                <a:ea typeface="Helvetica Neue"/>
                <a:cs typeface="Helvetica Neue"/>
              </a:defRPr>
            </a:lvl3pPr>
            <a:lvl4pPr>
              <a:defRPr sz="2025" b="1">
                <a:solidFill>
                  <a:srgbClr val="00A9D6"/>
                </a:solidFill>
                <a:latin typeface="Helvetica Neue"/>
                <a:ea typeface="Helvetica Neue"/>
                <a:cs typeface="Helvetica Neue"/>
              </a:defRPr>
            </a:lvl4pPr>
            <a:lvl5pPr>
              <a:defRPr sz="2025" b="1">
                <a:solidFill>
                  <a:srgbClr val="00A9D6"/>
                </a:solidFill>
                <a:latin typeface="Helvetica Neue"/>
                <a:ea typeface="Helvetica Neue"/>
                <a:cs typeface="Helvetica Neue"/>
              </a:defRPr>
            </a:lvl5pPr>
            <a:lvl6pPr>
              <a:defRPr sz="2025" b="1">
                <a:solidFill>
                  <a:srgbClr val="00A9D6"/>
                </a:solidFill>
                <a:latin typeface="Helvetica Neue"/>
                <a:ea typeface="Helvetica Neue"/>
                <a:cs typeface="Helvetica Neue"/>
              </a:defRPr>
            </a:lvl6pPr>
            <a:lvl7pPr>
              <a:defRPr sz="2025" b="1">
                <a:solidFill>
                  <a:srgbClr val="00A9D6"/>
                </a:solidFill>
                <a:latin typeface="Helvetica Neue"/>
                <a:ea typeface="Helvetica Neue"/>
                <a:cs typeface="Helvetica Neue"/>
              </a:defRPr>
            </a:lvl7pPr>
            <a:lvl8pPr>
              <a:defRPr sz="2025" b="1">
                <a:solidFill>
                  <a:srgbClr val="00A9D6"/>
                </a:solidFill>
                <a:latin typeface="Helvetica Neue"/>
                <a:ea typeface="Helvetica Neue"/>
                <a:cs typeface="Helvetica Neue"/>
              </a:defRPr>
            </a:lvl8pPr>
            <a:lvl9pPr>
              <a:defRPr sz="2025" b="1">
                <a:solidFill>
                  <a:srgbClr val="00A9D6"/>
                </a:solidFill>
                <a:latin typeface="Helvetica Neue"/>
                <a:ea typeface="Helvetica Neue"/>
                <a:cs typeface="Helvetica Neue"/>
              </a:defRPr>
            </a:lvl9pPr>
          </a:lstStyle>
          <a:p xmlns:a="http://schemas.openxmlformats.org/drawingml/2006/main">
            <a:pPr>
              <a:defRPr sz="2025" b="1">
                <a:solidFill>
                  <a:srgbClr val="00A9D6"/>
                </a:solidFill>
                <a:latin typeface="Helvetica Neue"/>
                <a:ea typeface="Helvetica Neue"/>
                <a:cs typeface="Helvetica Neue"/>
              </a:defRPr>
            </a:pPr>
            <a:r>
              <a:rPr sz="2025" b="1">
                <a:solidFill>
                  <a:srgbClr val="00A9D6"/>
                </a:solidFill>
                <a:latin typeface="Helvetica Neue"/>
                <a:ea typeface="Helvetica Neue"/>
                <a:cs typeface="Helvetica Neue"/>
              </a:rPr>
              <a:t>Illustrative monthly capacity value, not measured savings</a:t>
            </a:r>
          </a:p>
        </p:txBody>
      </p:sp>
      <p:sp>
        <p:nvSpPr>
          <p:cNvPr id="10" name="">
            <a:extLst xmlns:a="http://schemas.openxmlformats.org/drawingml/2006/main">
              <a:ext uri="{FF2B5EF4-FFF2-40B4-BE49-F238E27FC236}">
                <a16:creationId xmlns:a16="http://schemas.microsoft.com/office/drawing/2014/main" id="{71F2C04C-497E-456F-84AC-600086D53017}"/>
              </a:ext>
            </a:extLst>
          </p:cNvPr>
          <p:cNvSpPr>
            <a:spLocks xmlns:a="http://schemas.openxmlformats.org/drawingml/2006/main" noGrp="1"/>
          </p:cNvSpPr>
          <p:nvPr/>
        </p:nvSpPr>
        <p:spPr>
          <a:xfrm xmlns:a="http://schemas.openxmlformats.org/drawingml/2006/main">
            <a:off x="704850" y="5105400"/>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02F43"/>
                </a:solidFill>
                <a:latin typeface="Helvetica Neue"/>
                <a:ea typeface="Helvetica Neue"/>
                <a:cs typeface="Helvetica Neue"/>
              </a:defRPr>
            </a:defPPr>
            <a:lvl1pPr>
              <a:defRPr sz="2100" b="0">
                <a:solidFill>
                  <a:srgbClr val="102F43"/>
                </a:solidFill>
                <a:latin typeface="Helvetica Neue"/>
                <a:ea typeface="Helvetica Neue"/>
                <a:cs typeface="Helvetica Neue"/>
              </a:defRPr>
            </a:lvl1pPr>
            <a:lvl2pPr>
              <a:defRPr sz="2100" b="0">
                <a:solidFill>
                  <a:srgbClr val="102F43"/>
                </a:solidFill>
                <a:latin typeface="Helvetica Neue"/>
                <a:ea typeface="Helvetica Neue"/>
                <a:cs typeface="Helvetica Neue"/>
              </a:defRPr>
            </a:lvl2pPr>
            <a:lvl3pPr>
              <a:defRPr sz="2100" b="0">
                <a:solidFill>
                  <a:srgbClr val="102F43"/>
                </a:solidFill>
                <a:latin typeface="Helvetica Neue"/>
                <a:ea typeface="Helvetica Neue"/>
                <a:cs typeface="Helvetica Neue"/>
              </a:defRPr>
            </a:lvl3pPr>
            <a:lvl4pPr>
              <a:defRPr sz="2100" b="0">
                <a:solidFill>
                  <a:srgbClr val="102F43"/>
                </a:solidFill>
                <a:latin typeface="Helvetica Neue"/>
                <a:ea typeface="Helvetica Neue"/>
                <a:cs typeface="Helvetica Neue"/>
              </a:defRPr>
            </a:lvl4pPr>
            <a:lvl5pPr>
              <a:defRPr sz="2100" b="0">
                <a:solidFill>
                  <a:srgbClr val="102F43"/>
                </a:solidFill>
                <a:latin typeface="Helvetica Neue"/>
                <a:ea typeface="Helvetica Neue"/>
                <a:cs typeface="Helvetica Neue"/>
              </a:defRPr>
            </a:lvl5pPr>
            <a:lvl6pPr>
              <a:defRPr sz="2100" b="0">
                <a:solidFill>
                  <a:srgbClr val="102F43"/>
                </a:solidFill>
                <a:latin typeface="Helvetica Neue"/>
                <a:ea typeface="Helvetica Neue"/>
                <a:cs typeface="Helvetica Neue"/>
              </a:defRPr>
            </a:lvl6pPr>
            <a:lvl7pPr>
              <a:defRPr sz="2100" b="0">
                <a:solidFill>
                  <a:srgbClr val="102F43"/>
                </a:solidFill>
                <a:latin typeface="Helvetica Neue"/>
                <a:ea typeface="Helvetica Neue"/>
                <a:cs typeface="Helvetica Neue"/>
              </a:defRPr>
            </a:lvl7pPr>
            <a:lvl8pPr>
              <a:defRPr sz="2100" b="0">
                <a:solidFill>
                  <a:srgbClr val="102F43"/>
                </a:solidFill>
                <a:latin typeface="Helvetica Neue"/>
                <a:ea typeface="Helvetica Neue"/>
                <a:cs typeface="Helvetica Neue"/>
              </a:defRPr>
            </a:lvl8pPr>
            <a:lvl9pPr>
              <a:defRPr sz="2100" b="0">
                <a:solidFill>
                  <a:srgbClr val="102F43"/>
                </a:solidFill>
                <a:latin typeface="Helvetica Neue"/>
                <a:ea typeface="Helvetica Neue"/>
                <a:cs typeface="Helvetica Neue"/>
              </a:defRPr>
            </a:lvl9pPr>
          </a:lstStyle>
          <a:p xmlns:a="http://schemas.openxmlformats.org/drawingml/2006/main">
            <a:pPr>
              <a:defRPr sz="2100" b="0">
                <a:solidFill>
                  <a:srgbClr val="102F43"/>
                </a:solidFill>
                <a:latin typeface="Helvetica Neue"/>
                <a:ea typeface="Helvetica Neue"/>
                <a:cs typeface="Helvetica Neue"/>
              </a:defRPr>
            </a:pPr>
            <a:r>
              <a:rPr sz="2100" b="0">
                <a:solidFill>
                  <a:srgbClr val="102F43"/>
                </a:solidFill>
                <a:latin typeface="Helvetica Neue"/>
                <a:ea typeface="Helvetica Neue"/>
                <a:cs typeface="Helvetica Neue"/>
              </a:rPr>
              <a:t>10,000 cases × 2 minutes × ₹8/minute = ₹1.6 lakh gross</a:t>
            </a:r>
          </a:p>
          <a:p xmlns:a="http://schemas.openxmlformats.org/drawingml/2006/main">
            <a:pPr>
              <a:defRPr sz="2100" b="0">
                <a:solidFill>
                  <a:srgbClr val="102F43"/>
                </a:solidFill>
                <a:latin typeface="Helvetica Neue"/>
                <a:ea typeface="Helvetica Neue"/>
                <a:cs typeface="Helvetica Neue"/>
              </a:defRPr>
            </a:pPr>
            <a:r>
              <a:rPr sz="2100" b="0">
                <a:solidFill>
                  <a:srgbClr val="102F43"/>
                </a:solidFill>
                <a:latin typeface="Helvetica Neue"/>
                <a:ea typeface="Helvetica Neue"/>
                <a:cs typeface="Helvetica Neue"/>
              </a:rPr>
              <a:t>Less ₹30,000 assumed AI/hosting cost = ₹1.3 lakh before other costs</a:t>
            </a:r>
          </a:p>
        </p:txBody>
      </p:sp>
      <p:sp>
        <p:nvSpPr>
          <p:cNvPr id="11" name="">
            <a:extLst xmlns:a="http://schemas.openxmlformats.org/drawingml/2006/main">
              <a:ext uri="{FF2B5EF4-FFF2-40B4-BE49-F238E27FC236}">
                <a16:creationId xmlns:a16="http://schemas.microsoft.com/office/drawing/2014/main" id="{70AE64E3-9BA3-4EDF-A361-B6C7F37DDFA6}"/>
              </a:ext>
            </a:extLst>
          </p:cNvPr>
          <p:cNvSpPr>
            <a:spLocks xmlns:a="http://schemas.openxmlformats.org/drawingml/2006/main" noGrp="1"/>
          </p:cNvSpPr>
          <p:nvPr/>
        </p:nvSpPr>
        <p:spPr>
          <a:xfrm xmlns:a="http://schemas.openxmlformats.org/drawingml/2006/main">
            <a:off x="704850" y="605790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00A9D6"/>
                </a:solidFill>
                <a:latin typeface="Helvetica Neue"/>
                <a:ea typeface="Helvetica Neue"/>
                <a:cs typeface="Helvetica Neue"/>
              </a:defRPr>
            </a:defPPr>
            <a:lvl1pPr>
              <a:defRPr sz="1650" b="1">
                <a:solidFill>
                  <a:srgbClr val="00A9D6"/>
                </a:solidFill>
                <a:latin typeface="Helvetica Neue"/>
                <a:ea typeface="Helvetica Neue"/>
                <a:cs typeface="Helvetica Neue"/>
              </a:defRPr>
            </a:lvl1pPr>
            <a:lvl2pPr>
              <a:defRPr sz="1650" b="1">
                <a:solidFill>
                  <a:srgbClr val="00A9D6"/>
                </a:solidFill>
                <a:latin typeface="Helvetica Neue"/>
                <a:ea typeface="Helvetica Neue"/>
                <a:cs typeface="Helvetica Neue"/>
              </a:defRPr>
            </a:lvl2pPr>
            <a:lvl3pPr>
              <a:defRPr sz="1650" b="1">
                <a:solidFill>
                  <a:srgbClr val="00A9D6"/>
                </a:solidFill>
                <a:latin typeface="Helvetica Neue"/>
                <a:ea typeface="Helvetica Neue"/>
                <a:cs typeface="Helvetica Neue"/>
              </a:defRPr>
            </a:lvl3pPr>
            <a:lvl4pPr>
              <a:defRPr sz="1650" b="1">
                <a:solidFill>
                  <a:srgbClr val="00A9D6"/>
                </a:solidFill>
                <a:latin typeface="Helvetica Neue"/>
                <a:ea typeface="Helvetica Neue"/>
                <a:cs typeface="Helvetica Neue"/>
              </a:defRPr>
            </a:lvl4pPr>
            <a:lvl5pPr>
              <a:defRPr sz="1650" b="1">
                <a:solidFill>
                  <a:srgbClr val="00A9D6"/>
                </a:solidFill>
                <a:latin typeface="Helvetica Neue"/>
                <a:ea typeface="Helvetica Neue"/>
                <a:cs typeface="Helvetica Neue"/>
              </a:defRPr>
            </a:lvl5pPr>
            <a:lvl6pPr>
              <a:defRPr sz="1650" b="1">
                <a:solidFill>
                  <a:srgbClr val="00A9D6"/>
                </a:solidFill>
                <a:latin typeface="Helvetica Neue"/>
                <a:ea typeface="Helvetica Neue"/>
                <a:cs typeface="Helvetica Neue"/>
              </a:defRPr>
            </a:lvl6pPr>
            <a:lvl7pPr>
              <a:defRPr sz="1650" b="1">
                <a:solidFill>
                  <a:srgbClr val="00A9D6"/>
                </a:solidFill>
                <a:latin typeface="Helvetica Neue"/>
                <a:ea typeface="Helvetica Neue"/>
                <a:cs typeface="Helvetica Neue"/>
              </a:defRPr>
            </a:lvl7pPr>
            <a:lvl8pPr>
              <a:defRPr sz="1650" b="1">
                <a:solidFill>
                  <a:srgbClr val="00A9D6"/>
                </a:solidFill>
                <a:latin typeface="Helvetica Neue"/>
                <a:ea typeface="Helvetica Neue"/>
                <a:cs typeface="Helvetica Neue"/>
              </a:defRPr>
            </a:lvl8pPr>
            <a:lvl9pPr>
              <a:defRPr sz="1650" b="1">
                <a:solidFill>
                  <a:srgbClr val="00A9D6"/>
                </a:solidFill>
                <a:latin typeface="Helvetica Neue"/>
                <a:ea typeface="Helvetica Neue"/>
                <a:cs typeface="Helvetica Neue"/>
              </a:defRPr>
            </a:lvl9pPr>
          </a:lstStyle>
          <a:p xmlns:a="http://schemas.openxmlformats.org/drawingml/2006/main">
            <a:pPr>
              <a:defRPr sz="1650" b="1">
                <a:solidFill>
                  <a:srgbClr val="00A9D6"/>
                </a:solidFill>
                <a:latin typeface="Helvetica Neue"/>
                <a:ea typeface="Helvetica Neue"/>
                <a:cs typeface="Helvetica Neue"/>
              </a:defRPr>
            </a:pPr>
            <a:r>
              <a:rPr u="sng">
                <a:solidFill>
                  <a:srgbClr val="00A9D6"/>
                </a:solidFill>
                <a:latin typeface="Helvetica Neue"/>
                <a:ea typeface="Helvetica Neue"/>
                <a:cs typeface="Helvetica Neue"/>
                <a:hlinkClick xmlns:r="http://schemas.openxmlformats.org/officeDocument/2006/relationships" r:id="Rcd76a8b6df2748c8"/>
              </a:rPr>
              <a:t>Live support prototype</a:t>
            </a:r>
          </a:p>
        </p:txBody>
      </p:sp>
      <p:sp>
        <p:nvSpPr>
          <p:cNvPr id="12" name="">
            <a:extLst xmlns:a="http://schemas.openxmlformats.org/drawingml/2006/main">
              <a:ext uri="{FF2B5EF4-FFF2-40B4-BE49-F238E27FC236}">
                <a16:creationId xmlns:a16="http://schemas.microsoft.com/office/drawing/2014/main" id="{DFA38776-2ABF-45FF-A4EB-324685DA327E}"/>
              </a:ext>
            </a:extLst>
          </p:cNvPr>
          <p:cNvSpPr>
            <a:spLocks xmlns:a="http://schemas.openxmlformats.org/drawingml/2006/main" noGrp="1"/>
          </p:cNvSpPr>
          <p:nvPr/>
        </p:nvSpPr>
        <p:spPr>
          <a:xfrm xmlns:a="http://schemas.openxmlformats.org/drawingml/2006/main">
            <a:off x="5238750" y="605790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00A9D6"/>
                </a:solidFill>
                <a:latin typeface="Helvetica Neue"/>
                <a:ea typeface="Helvetica Neue"/>
                <a:cs typeface="Helvetica Neue"/>
              </a:defRPr>
            </a:defPPr>
            <a:lvl1pPr>
              <a:defRPr sz="1650" b="1">
                <a:solidFill>
                  <a:srgbClr val="00A9D6"/>
                </a:solidFill>
                <a:latin typeface="Helvetica Neue"/>
                <a:ea typeface="Helvetica Neue"/>
                <a:cs typeface="Helvetica Neue"/>
              </a:defRPr>
            </a:lvl1pPr>
            <a:lvl2pPr>
              <a:defRPr sz="1650" b="1">
                <a:solidFill>
                  <a:srgbClr val="00A9D6"/>
                </a:solidFill>
                <a:latin typeface="Helvetica Neue"/>
                <a:ea typeface="Helvetica Neue"/>
                <a:cs typeface="Helvetica Neue"/>
              </a:defRPr>
            </a:lvl2pPr>
            <a:lvl3pPr>
              <a:defRPr sz="1650" b="1">
                <a:solidFill>
                  <a:srgbClr val="00A9D6"/>
                </a:solidFill>
                <a:latin typeface="Helvetica Neue"/>
                <a:ea typeface="Helvetica Neue"/>
                <a:cs typeface="Helvetica Neue"/>
              </a:defRPr>
            </a:lvl3pPr>
            <a:lvl4pPr>
              <a:defRPr sz="1650" b="1">
                <a:solidFill>
                  <a:srgbClr val="00A9D6"/>
                </a:solidFill>
                <a:latin typeface="Helvetica Neue"/>
                <a:ea typeface="Helvetica Neue"/>
                <a:cs typeface="Helvetica Neue"/>
              </a:defRPr>
            </a:lvl4pPr>
            <a:lvl5pPr>
              <a:defRPr sz="1650" b="1">
                <a:solidFill>
                  <a:srgbClr val="00A9D6"/>
                </a:solidFill>
                <a:latin typeface="Helvetica Neue"/>
                <a:ea typeface="Helvetica Neue"/>
                <a:cs typeface="Helvetica Neue"/>
              </a:defRPr>
            </a:lvl5pPr>
            <a:lvl6pPr>
              <a:defRPr sz="1650" b="1">
                <a:solidFill>
                  <a:srgbClr val="00A9D6"/>
                </a:solidFill>
                <a:latin typeface="Helvetica Neue"/>
                <a:ea typeface="Helvetica Neue"/>
                <a:cs typeface="Helvetica Neue"/>
              </a:defRPr>
            </a:lvl6pPr>
            <a:lvl7pPr>
              <a:defRPr sz="1650" b="1">
                <a:solidFill>
                  <a:srgbClr val="00A9D6"/>
                </a:solidFill>
                <a:latin typeface="Helvetica Neue"/>
                <a:ea typeface="Helvetica Neue"/>
                <a:cs typeface="Helvetica Neue"/>
              </a:defRPr>
            </a:lvl7pPr>
            <a:lvl8pPr>
              <a:defRPr sz="1650" b="1">
                <a:solidFill>
                  <a:srgbClr val="00A9D6"/>
                </a:solidFill>
                <a:latin typeface="Helvetica Neue"/>
                <a:ea typeface="Helvetica Neue"/>
                <a:cs typeface="Helvetica Neue"/>
              </a:defRPr>
            </a:lvl8pPr>
            <a:lvl9pPr>
              <a:defRPr sz="1650" b="1">
                <a:solidFill>
                  <a:srgbClr val="00A9D6"/>
                </a:solidFill>
                <a:latin typeface="Helvetica Neue"/>
                <a:ea typeface="Helvetica Neue"/>
                <a:cs typeface="Helvetica Neue"/>
              </a:defRPr>
            </a:lvl9pPr>
          </a:lstStyle>
          <a:p xmlns:a="http://schemas.openxmlformats.org/drawingml/2006/main">
            <a:pPr>
              <a:defRPr sz="1650" b="1">
                <a:solidFill>
                  <a:srgbClr val="00A9D6"/>
                </a:solidFill>
                <a:latin typeface="Helvetica Neue"/>
                <a:ea typeface="Helvetica Neue"/>
                <a:cs typeface="Helvetica Neue"/>
              </a:defRPr>
            </a:pPr>
            <a:r>
              <a:rPr u="sng">
                <a:solidFill>
                  <a:srgbClr val="00A9D6"/>
                </a:solidFill>
                <a:latin typeface="Helvetica Neue"/>
                <a:ea typeface="Helvetica Neue"/>
                <a:cs typeface="Helvetica Neue"/>
                <a:hlinkClick xmlns:r="http://schemas.openxmlformats.org/officeDocument/2006/relationships" r:id="Ra0a3026e48274e82"/>
              </a:rPr>
              <a:t>Source and architecture</a:t>
            </a:r>
          </a:p>
        </p:txBody>
      </p:sp>
    </p:spTree>
    <p:extLst>
      <p:ext uri="{BB962C8B-B14F-4D97-AF65-F5344CB8AC3E}">
        <p14:creationId xmlns:p14="http://schemas.microsoft.com/office/powerpoint/2010/main" val="4110187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2026-10-23T06:39:09.2800000Z</dcterms:created>
  <dcterms:modified xsi:type="dcterms:W3CDTF">2026-10-23T06:39:09.2800000Z</dcterms:modified>
</coreProperties>
</file>