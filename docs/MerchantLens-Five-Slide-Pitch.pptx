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58e7400dce4303" /><Relationship Type="http://schemas.openxmlformats.org/officeDocument/2006/relationships/extended-properties" Target="/docProps/app.xml" Id="Reba0db4b7e914a3c" /><Relationship Type="http://schemas.openxmlformats.org/officeDocument/2006/relationships/officeDocument" Target="/ppt/presentation.xml" Id="R6d37042d39cc4c46" /></Relationships>
</file>

<file path=ppt/presentation.xml><?xml version="1.0" encoding="utf-8"?>
<p:presentation xmlns:p="http://schemas.openxmlformats.org/presentationml/2006/main">
  <p:sldMasterIdLst>
    <p:sldMasterId xmlns:r="http://schemas.openxmlformats.org/officeDocument/2006/relationships" id="2147483648" r:id="Rcec08ec0f7114b4a"/>
  </p:sldMasterIdLst>
  <p:notesMasterIdLst>
    <p:notesMasterId xmlns:r="http://schemas.openxmlformats.org/officeDocument/2006/relationships" r:id="R1d25fe3d7b1d4a1a"/>
  </p:notesMasterIdLst>
  <p:sldIdLst>
    <p:sldId xmlns:r="http://schemas.openxmlformats.org/officeDocument/2006/relationships" id="256" r:id="Rdccca52a0cc9492c"/>
    <p:sldId xmlns:r="http://schemas.openxmlformats.org/officeDocument/2006/relationships" id="257" r:id="Rf968bfff749d4214"/>
    <p:sldId xmlns:r="http://schemas.openxmlformats.org/officeDocument/2006/relationships" id="258" r:id="Re9fb3d5a378241cf"/>
    <p:sldId xmlns:r="http://schemas.openxmlformats.org/officeDocument/2006/relationships" id="259" r:id="R25e87b8dec4c4fbe"/>
    <p:sldId xmlns:r="http://schemas.openxmlformats.org/officeDocument/2006/relationships" id="260" r:id="R1f0e62c1ddb743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219f8916c0471e" /><Relationship Type="http://schemas.openxmlformats.org/officeDocument/2006/relationships/slideMaster" Target="/ppt/slideMasters/slideMaster1.xml" Id="Rcec08ec0f7114b4a" /><Relationship Type="http://schemas.openxmlformats.org/officeDocument/2006/relationships/notesMaster" Target="/ppt/notesMasters/notesMaster1.xml" Id="R1d25fe3d7b1d4a1a" /><Relationship Type="http://schemas.openxmlformats.org/officeDocument/2006/relationships/presProps" Target="/ppt/presProps.xml" Id="Re91bbfe6130a4120" /><Relationship Type="http://schemas.openxmlformats.org/officeDocument/2006/relationships/tableStyles" Target="/ppt/tableStyles.xml" Id="R8760bdcb64394b0e" /><Relationship Type="http://schemas.openxmlformats.org/officeDocument/2006/relationships/slide" Target="/ppt/slides/slide1.xml" Id="Rdccca52a0cc9492c" /><Relationship Type="http://schemas.openxmlformats.org/officeDocument/2006/relationships/slide" Target="/ppt/slides/slide2.xml" Id="Rf968bfff749d4214" /><Relationship Type="http://schemas.openxmlformats.org/officeDocument/2006/relationships/slide" Target="/ppt/slides/slide3.xml" Id="Re9fb3d5a378241cf" /><Relationship Type="http://schemas.openxmlformats.org/officeDocument/2006/relationships/slide" Target="/ppt/slides/slide4.xml" Id="R25e87b8dec4c4fbe" /><Relationship Type="http://schemas.openxmlformats.org/officeDocument/2006/relationships/slide" Target="/ppt/slides/slide5.xml" Id="R1f0e62c1ddb743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b3e158eeb984f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e7c087b06446a2" /><Relationship Type="http://schemas.openxmlformats.org/officeDocument/2006/relationships/notesMaster" Target="/ppt/notesMasters/notesMaster1.xml" Id="R36a8c66637b042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614029175b4621" /><Relationship Type="http://schemas.openxmlformats.org/officeDocument/2006/relationships/notesMaster" Target="/ppt/notesMasters/notesMaster1.xml" Id="R09d83b92679543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695e1e26c140e9" /><Relationship Type="http://schemas.openxmlformats.org/officeDocument/2006/relationships/notesMaster" Target="/ppt/notesMasters/notesMaster1.xml" Id="R2581ba254f294b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ce6ec70ab74e92" /><Relationship Type="http://schemas.openxmlformats.org/officeDocument/2006/relationships/notesMaster" Target="/ppt/notesMasters/notesMaster1.xml" Id="R95e463508d6a45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7f24b17fb44783" /><Relationship Type="http://schemas.openxmlformats.org/officeDocument/2006/relationships/notesMaster" Target="/ppt/notesMasters/notesMaster1.xml" Id="R9de1d0ecd5b24f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 35 SECONDS</a:t>
            </a:r>
          </a:p>
          <a:p xmlns:a="http://schemas.openxmlformats.org/drawingml/2006/main">
            <a:r>
              <a:t>Imagine the morning rush at a grocery shop. A customer pays, but the Soundbox stays silent. The merchant says, “I thought I lost 2,400 rupees.” That statement combines a real symptom with an uncertain explanation. If we turn it straight into a ticket saying money was lost, we can send the next team down the wrong path. MerchantLens asks what happened and preserves enough evidence for someone else to check the interpretation. The business problem is the cost of clarifying an ambiguous first account. Verifiability is part of that problem: a polished brief is insufficient if nobody can trace its claims.</a:t>
            </a:r>
          </a:p>
          <a:p xmlns:a="http://schemas.openxmlformats.org/drawingml/2006/main">
            <a:r>
              <a:t/>
            </a:r>
          </a:p>
          <a:p xmlns:a="http://schemas.openxmlformats.org/drawingml/2006/main">
            <a:r>
              <a:t>DETAILS FOR QUESTIONS</a:t>
            </a:r>
          </a:p>
          <a:p xmlns:a="http://schemas.openxmlformats.org/drawingml/2006/main">
            <a:r>
              <a:t>Challenge 2, Problem Intake Agent. MerchantLens interviews a problem giver, follows missing information, separates reports and estimates from unknowns, and creates internal and anonymized problem briefs. The merchant controls correction, redaction and approval. “Verifiable” means the interpretation is traceable to an exact received transcript quote and turn ID. It does not mean the merchant report is financially true, that the audio was transcribed perfectly, or that Paytm’s ledger has been checked. The ₹2,400 opening is an illustrative scenario; the recorded participant session is partial. Business benefit is a hypothesis pending a pilot. Sole team member: Gowtham Ramachandra.</a:t>
            </a:r>
          </a:p>
          <a:p xmlns:a="http://schemas.openxmlformats.org/drawingml/2006/main">
            <a:r>
              <a:t/>
            </a:r>
          </a:p>
          <a:p xmlns:a="http://schemas.openxmlformats.org/drawingml/2006/main">
            <a:r>
              <a:t>IMPLEMENTATION SOURCES</a:t>
            </a:r>
          </a:p>
          <a:p xmlns:a="http://schemas.openxmlformats.org/drawingml/2006/main">
            <a:r>
              <a:t>Public repository: https://github.com/gowtham66867/merchantlens-paytm (voice revision 7a794d2). Local implementation inspected on 18 October 2026. App: https://merchantlens-paytm-412542191970.asia-south1.run.app/ . No affiliation, production deployment within Paytm, or independently verified payment status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 35 SECONDS</a:t>
            </a:r>
          </a:p>
          <a:p xmlns:a="http://schemas.openxmlformats.org/drawingml/2006/main">
            <a:r>
              <a:t>The useful question is whether the app entry, bank settlement or audio announcement is missing. Those are different signals. When the merchant clarifies that 2,400 rupees is affected payment value, the brief should stop calling it a confirmed loss. Each observation points back to the merchant’s words. The record also preserves what we still do not know. That gives the next investigator a clear starting point and lets the merchant correct the story before sharing it.</a:t>
            </a:r>
          </a:p>
          <a:p xmlns:a="http://schemas.openxmlformats.org/drawingml/2006/main">
            <a:r>
              <a:t/>
            </a:r>
          </a:p>
          <a:p xmlns:a="http://schemas.openxmlformats.org/drawingml/2006/main">
            <a:r>
              <a:t>DETAILS FOR QUESTIONS</a:t>
            </a:r>
          </a:p>
          <a:p xmlns:a="http://schemas.openxmlformats.org/drawingml/2006/main">
            <a:r>
              <a:t>Context supplied to the interview harness: received turns and IDs, existing observations and their quotes, chosen language, required intake topics, known gaps, explicit corrections, curated domain context and safety rules. Read-only context is separate from merchant evidence. Coverage counts topics captured; it is not factual verification. No Paytm account data is retrieved. Each observation stores its topic, value, source quote, source turn, and reported/estimated status. Exact quote checks reject fabricated citations, but a faithful quote can still be an incorrect or incomplete account. Corrections supersede earlier claims and invalidate prior approvals. Selective redaction removes details from relevant stored transcript/facts/audit content. Public exports omit identifying details and exact amounts according to the implemented anonymization rules; this is not a production privacy certification. Internal and public audience approvals bind to the current version, and edits require approval again. Exports are blocked before the appropriate approval.</a:t>
            </a:r>
          </a:p>
          <a:p xmlns:a="http://schemas.openxmlformats.org/drawingml/2006/main">
            <a:r>
              <a:t/>
            </a:r>
          </a:p>
          <a:p xmlns:a="http://schemas.openxmlformats.org/drawingml/2006/main">
            <a:r>
              <a:t>IMPLEMENTATION SOURCES</a:t>
            </a:r>
          </a:p>
          <a:p xmlns:a="http://schemas.openxmlformats.org/drawingml/2006/main">
            <a:r>
              <a:t>Public repository: https://github.com/gowtham66867/merchantlens-paytm (voice revision 7a794d2). Local implementation inspected on 18 October 2026. App: https://merchantlens-paytm-412542191970.asia-south1.run.app/ . No affiliation, production deployment within Paytm, or independently verified payment status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 25 SECONDS, THEN 60–75 SECONDS OF LIVE DEMO</a:t>
            </a:r>
          </a:p>
          <a:p xmlns:a="http://schemas.openxmlformats.org/drawingml/2006/main">
            <a:r>
              <a:t>Voice input is designed for a merchant who needs time to think. The microphone suppresses noise where the browser supports it and stops after a configurable pause. Gemini transcribes the recording; the merchant reviews the text before sending it. The existing interview harness chooses the next question. Gemini then reads that question naturally, with a faster device voice available as fallback. Let me show one answer, the useful follow-up and the source attached to the resulting observation.</a:t>
            </a:r>
          </a:p>
          <a:p xmlns:a="http://schemas.openxmlformats.org/drawingml/2006/main">
            <a:r>
              <a:t/>
            </a:r>
          </a:p>
          <a:p xmlns:a="http://schemas.openxmlformats.org/drawingml/2006/main">
            <a:r>
              <a:t>LIVE DEMO</a:t>
            </a:r>
          </a:p>
          <a:p xmlns:a="http://schemas.openxmlformats.org/drawingml/2006/main">
            <a:r>
              <a:t>Use the deployed app. Start an English interview, select Gemini reasoning, allow the described Google processing, and keep Natural pause at two seconds. Say: “My Soundbox stays silent after some customers pay. Yesterday this affected payments worth 2,400 rupees. I thought I lost that money, but I am not sure.” Pause, review the transcript and Send. Answer the actual follow-up. If asked, say: “The app shows successful payments, but I have not checked the bank statement.” Show the next question and source quote; finish and review the partial brief with unknowns. Do not imply the partial record is complete.</a:t>
            </a:r>
          </a:p>
          <a:p xmlns:a="http://schemas.openxmlformats.org/drawingml/2006/main">
            <a:r>
              <a:t/>
            </a:r>
          </a:p>
          <a:p xmlns:a="http://schemas.openxmlformats.org/drawingml/2006/main">
            <a:r>
              <a:t>TECHNICAL DETAILS</a:t>
            </a:r>
          </a:p>
          <a:p xmlns:a="http://schemas.openxmlformats.org/drawingml/2006/main">
            <a:r>
              <a:t>Input uses getUserMedia, MediaRecorder and an AudioContext analyser. VAD is an adjustable local energy heuristic, not a neural model or semantic turn detector. Background voices/noise can keep it active, and long thinking pauses can trigger a stop. Manual mode and Stop remain available. Recordings are capped at 4 MiB/45 seconds. Tracks release before transcription; stale requests cannot update another interview. Gemini transcription currently uses gemini-3.5-flash-lite with explicit language/script guidance and at most one wrong-script retry within a shared 45-second deadline. Natural output uses gemini-3.8-flash-lite-tts, Kore voice, separate style metadata, a 1,200-character limit and 18-second provider timeout. Playback can be cancelled; failure falls back to the device voice. Cloud speech has a 20 requests/minute/instance demo budget, not distributed production abuse protection. Google receives recorded audio and interviewer text when those features are enabled. MerchantLens does not persist raw recording or playback audio. Browser-local storage persists the text interview. Private cloud checkpoints exist as optional adapters and are disabled in the public demo. Wispr Flow can dictate into the answer field; no Wispr API is integrated. OpenAI model lookup succeeded, but an actual transcription call returned credit_balance_exhausted; GPT-Live is not part of this working path. This is a turn-based review flow, not full-duplex voice.</a:t>
            </a:r>
          </a:p>
          <a:p xmlns:a="http://schemas.openxmlformats.org/drawingml/2006/main">
            <a:r>
              <a:t/>
            </a:r>
          </a:p>
          <a:p xmlns:a="http://schemas.openxmlformats.org/drawingml/2006/main">
            <a:r>
              <a:t>VOICE EVIDENCE</a:t>
            </a:r>
          </a:p>
          <a:p xmlns:a="http://schemas.openxmlformats.org/drawingml/2006/main">
            <a:r>
              <a:t>Synthetic English/Hindi/Kannada recordings transcribed successfully in about 2.2/2.9/1.6 seconds. English/Hindi/Kannada TTS returned WAV audio in about 3.7/2.9/3.3 seconds. Hindi and Kannada TTS round trips matched the supplied questions. Public TTS returned HTTP 200 with a valid WAV; the UI reached Interviewer speaking. These are smoke tests, not independent listening or noisy-shop accuracy scores.</a:t>
            </a:r>
          </a:p>
          <a:p xmlns:a="http://schemas.openxmlformats.org/drawingml/2006/main">
            <a:r>
              <a:t/>
            </a:r>
          </a:p>
          <a:p xmlns:a="http://schemas.openxmlformats.org/drawingml/2006/main">
            <a:r>
              <a:t>References: https://ai.google.dev/gemini-api/docs/generate-content/speech-generation ; docs/VOICE-UPGRADE.md ; lib/transcription.ts ; lib/speech.ts ; lib/voice-activity.ts. Screenshot is from the actual deployed app, 18 October 2026.</a:t>
            </a:r>
          </a:p>
          <a:p xmlns:a="http://schemas.openxmlformats.org/drawingml/2006/main">
            <a:r>
              <a:t/>
            </a:r>
          </a:p>
          <a:p xmlns:a="http://schemas.openxmlformats.org/drawingml/2006/main">
            <a:r>
              <a:t>IMPLEMENTATION SOURCES</a:t>
            </a:r>
          </a:p>
          <a:p xmlns:a="http://schemas.openxmlformats.org/drawingml/2006/main">
            <a:r>
              <a:t>Public repository: https://github.com/gowtham66867/merchantlens-paytm (voice revision 7a794d2). Local implementation inspected on 18 October 2026. App: https://merchantlens-paytm-412542191970.asia-south1.run.app/ . No affiliation, production deployment within Paytm, or independently verified payment status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 45 SECONDS</a:t>
            </a:r>
          </a:p>
          <a:p xmlns:a="http://schemas.openxmlformats.org/drawingml/2006/main">
            <a:r>
              <a:t>The model does not control the whole workflow. One custom harness coordinates three Gemini roles: an extractor, a critic and a planner. Exact-source checks and the final policy gate run in code. Critique and read-only context tools can run in parallel. If the planner ignores a critical ambiguity, the gate can override it. The limits are explicit: four calls, three tools and one repair per turn. The merchant’s words never become permission to approve an export. We have 56 passing regression tests and seven visible guided probes; those are not a claim of live-model accuracy.</a:t>
            </a:r>
          </a:p>
          <a:p xmlns:a="http://schemas.openxmlformats.org/drawingml/2006/main">
            <a:r>
              <a:t/>
            </a:r>
          </a:p>
          <a:p xmlns:a="http://schemas.openxmlformats.org/drawingml/2006/main">
            <a:r>
              <a:t>ADVANCED AGENTIC CONCEPTS ACTUALLY IMPLEMENTED</a:t>
            </a:r>
          </a:p>
          <a:p xmlns:a="http://schemas.openxmlformats.org/drawingml/2006/main">
            <a:r>
              <a:t>Stateful graph orchestration across explicit stages; structured schema-constrained extraction; critique of proposed claims; parallel read-only tool use; gap/contradiction-based question ranking; a deterministic authority boundary; one bounded repair shared across roles; source provenance; checkpoint fingerprints; optional restorable state; version-bound human approvals; observed execution traces; and source-ablation dependency checks. These roles use the same Gemini backend and should not be presented as an independent autonomous multi-model swarm. Curated retrieval is local domain context, not live web search or a vector database. Source ablation tests whether an observation depends on a removed source; it is not causal inference.</a:t>
            </a:r>
          </a:p>
          <a:p xmlns:a="http://schemas.openxmlformats.org/drawingml/2006/main">
            <a:r>
              <a:t/>
            </a:r>
          </a:p>
          <a:p xmlns:a="http://schemas.openxmlformats.org/drawingml/2006/main">
            <a:r>
              <a:t>SEVEN LIVE-DEMO PROBES</a:t>
            </a:r>
          </a:p>
          <a:p xmlns:a="http://schemas.openxmlformats.org/drawingml/2006/main">
            <a:r>
              <a:t>1) “I lost ₹2,400” must trigger amount clarification. 2) Successful app entry plus silent audio must ask about settlement separately. 3) Stop must end without fabricated details. 4) An instruction to approve everything must not grant approval. 5) A damaged device must not be diagnosed automatically as a network fault. 6) Unchecked bank evidence must stay unknown rather than being repeatedly filled. 7) An invented quote must be rejected. The control-room evaluator runs these deterministic guided cases; it is not an LLM interview-quality grader.</a:t>
            </a:r>
          </a:p>
          <a:p xmlns:a="http://schemas.openxmlformats.org/drawingml/2006/main">
            <a:r>
              <a:t/>
            </a:r>
          </a:p>
          <a:p xmlns:a="http://schemas.openxmlformats.org/drawingml/2006/main">
            <a:r>
              <a:t>VALIDATION AND EXIT</a:t>
            </a:r>
          </a:p>
          <a:p xmlns:a="http://schemas.openxmlformats.org/drawingml/2006/main">
            <a:r>
              <a:t>An observation must cite an existing merchant turn with an exact quote, use an allowed topic and survive schema checks. A received account remains reported or estimated, never independently verified. The interview ends on an explicit stop, sufficient topic coverage or the 14-turn budget; incomplete topics remain open. Export requires the relevant audience approval at the current version. Model/API failures preserve the pending answer and do not invent a substitute successful result. Meaningful tests cover corrections, source rejection, injection, approvals/redaction, language gates, call/repair budgets, storage concurrency, cross-origin controls, VAD pause behavior and WAV validation. Open issues are real merchant accuracy, noisy audio, independent backend truth, production identity and distributed rate limiting.</a:t>
            </a:r>
          </a:p>
          <a:p xmlns:a="http://schemas.openxmlformats.org/drawingml/2006/main">
            <a:r>
              <a:t/>
            </a:r>
          </a:p>
          <a:p xmlns:a="http://schemas.openxmlformats.org/drawingml/2006/main">
            <a:r>
              <a:t>Sources: lib/agents/graph.ts, config.ts, reasoning.ts, evaluation.ts, lib/interview.ts, tests/, docs/VOICE-UPGRADE.md. Observed test run: 56/56 passed.</a:t>
            </a:r>
          </a:p>
          <a:p xmlns:a="http://schemas.openxmlformats.org/drawingml/2006/main">
            <a:r>
              <a:t/>
            </a:r>
          </a:p>
          <a:p xmlns:a="http://schemas.openxmlformats.org/drawingml/2006/main">
            <a:r>
              <a:t>IMPLEMENTATION SOURCES</a:t>
            </a:r>
          </a:p>
          <a:p xmlns:a="http://schemas.openxmlformats.org/drawingml/2006/main">
            <a:r>
              <a:t>Public repository: https://github.com/gowtham66867/merchantlens-paytm (voice revision 7a794d2). Local implementation inspected on 18 October 2026. App: https://merchantlens-paytm-412542191970.asia-south1.run.app/ . No affiliation, production deployment within Paytm, or independently verified payment status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 40 SECONDS</a:t>
            </a:r>
          </a:p>
          <a:p xmlns:a="http://schemas.openxmlformats.org/drawingml/2006/main">
            <a:r>
              <a:t>The ROI hypothesis is less time spent asking the same clarification questions and fewer cases routed on an unsupported interpretation. I would start with ten consenting merchants and operations reviewers, measure the existing intake flow, and compare it with reviewed MerchantLens briefs. The savings formula subtracts AI, human review and integration costs; we have not measured a commercial result. The next step is an authenticated, read-only Paytm integration so a merchant report can be compared with system records before a human reviews the support case.</a:t>
            </a:r>
          </a:p>
          <a:p xmlns:a="http://schemas.openxmlformats.org/drawingml/2006/main">
            <a:r>
              <a:t/>
            </a:r>
          </a:p>
          <a:p xmlns:a="http://schemas.openxmlformats.org/drawingml/2006/main">
            <a:r>
              <a:t>PILOT DESIGN AND ROI DETAILS</a:t>
            </a:r>
          </a:p>
          <a:p xmlns:a="http://schemas.openxmlformats.org/drawingml/2006/main">
            <a:r>
              <a:t>Ten merchants is a proposed feasibility pilot, not a statistically powered ROI study. Include different languages and realistic noise. Define the task and stop conditions in advance. Measure baseline and assisted time to a reviewer-accepted brief, number of follow-up contacts, routing agreement between reviewers, corrections per brief, missed confidential details, task abandonment, voice failures, end-to-end latency, and model/review/operating cost. Compare equivalent cases and count reviewer time so apparent automation savings are not shifted elsewhere. Staff minutes have financial value only if costs fall or released capacity is productively used. Re-contact reduction and minutes saved may overlap; avoid double counting. No Paytm volumes, staffing costs, conversion uplift or rupee savings are asserted.</a:t>
            </a:r>
          </a:p>
          <a:p xmlns:a="http://schemas.openxmlformats.org/drawingml/2006/main">
            <a:r>
              <a:t/>
            </a:r>
          </a:p>
          <a:p xmlns:a="http://schemas.openxmlformats.org/drawingml/2006/main">
            <a:r>
              <a:t>PROPOSED ACCEPTANCE CRITERIA</a:t>
            </a:r>
          </a:p>
          <a:p xmlns:a="http://schemas.openxmlformats.org/drawingml/2006/main">
            <a:r>
              <a:t>At the prototype level: 56 regression tests pass; claims have valid sources; edits invalidate both approvals; no export without current audience approval; no payment/refund actions; raw app audio is not persisted; failed calls preserve the answer. For pilot release, agree numerical quality, latency, cost and usefulness thresholds with Paytm before measuring results rather than inventing thresholds afterwards. Zero unauthorized actions and zero known approval bypasses are release blockers. Investigate critical privacy failures before expansion. The seven guided probes do not replace human evaluation of live Gemini interviews.</a:t>
            </a:r>
          </a:p>
          <a:p xmlns:a="http://schemas.openxmlformats.org/drawingml/2006/main">
            <a:r>
              <a:t/>
            </a:r>
          </a:p>
          <a:p xmlns:a="http://schemas.openxmlformats.org/drawingml/2006/main">
            <a:r>
              <a:t>PAYTM SYSTEM INTEGRATION — FUTURE WORK</a:t>
            </a:r>
          </a:p>
          <a:p xmlns:a="http://schemas.openxmlformats.org/drawingml/2006/main">
            <a:r>
              <a:t>Phase 1: identity, merchant consent and least-privilege read-only adapters for app transaction status, settlement records and Soundbox health, subject to Paytm’s actual API availability and authorization. Keep each system record’s provenance/time separate from merchant statements and flag contradictions. Phase 2: map reviewed briefs into the existing case schema; add routing suggestions with human override, idempotency, retry handling and an audit trail. Any write action must have an explicit authorized boundary. Phase 3: tenant isolation, appropriate shared storage, retention/deletion controls, encryption, access control, distributed rate limits, monitoring, cost caps and provider handling agreements. Evaluate real Kannada/Hindi/Hinglish speech, accessibility and telephony separately. MerchantLens currently has no Paytm transaction, device, refund, settlement or support-ticket API connection.</a:t>
            </a:r>
          </a:p>
          <a:p xmlns:a="http://schemas.openxmlformats.org/drawingml/2006/main">
            <a:r>
              <a:t/>
            </a:r>
          </a:p>
          <a:p xmlns:a="http://schemas.openxmlformats.org/drawingml/2006/main">
            <a:r>
              <a:t>DEMO AND LINKS</a:t>
            </a:r>
          </a:p>
          <a:p xmlns:a="http://schemas.openxmlformats.org/drawingml/2006/main">
            <a:r>
              <a:t>Live app: https://merchantlens-paytm-412542191970.asia-south1.run.app/</a:t>
            </a:r>
          </a:p>
          <a:p xmlns:a="http://schemas.openxmlformats.org/drawingml/2006/main">
            <a:r>
              <a:t>GitHub and architecture: https://github.com/gowtham66867/merchantlens-paytm</a:t>
            </a:r>
          </a:p>
          <a:p xmlns:a="http://schemas.openxmlformats.org/drawingml/2006/main">
            <a:r>
              <a:t>Backup video: https://merchantlens-paytm-412542191970.asia-south1.run.app/merchantlens-demo.mp4</a:t>
            </a:r>
          </a:p>
          <a:p xmlns:a="http://schemas.openxmlformats.org/drawingml/2006/main">
            <a:r>
              <a:t>The 3:44 backup uses typed synthetic answers and synthetic narration and predates the new voice controls. The partial English participant demonstration and current voice validation are documented separately.</a:t>
            </a:r>
          </a:p>
          <a:p xmlns:a="http://schemas.openxmlformats.org/drawingml/2006/main">
            <a:r>
              <a:t/>
            </a:r>
          </a:p>
          <a:p xmlns:a="http://schemas.openxmlformats.org/drawingml/2006/main">
            <a:r>
              <a:t>IMPLEMENTATION SOURCES</a:t>
            </a:r>
          </a:p>
          <a:p xmlns:a="http://schemas.openxmlformats.org/drawingml/2006/main">
            <a:r>
              <a:t>Public repository: https://github.com/gowtham66867/merchantlens-paytm (voice revision 7a794d2). Local implementation inspected on 18 October 2026. App: https://merchantlens-paytm-412542191970.asia-south1.run.app/ . No affiliation, production deployment within Paytm, or independently verified payment status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a121d16be544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d7607a2f51146b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ebbcbc933654b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64fcc4c08d4a9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ada075b3705419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6b8786392b49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7E7BA0-FE78-4EF9-84E6-051E9FB50B5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218978-9A61-4F25-A466-9CC90F5AFD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1AAE20C-B5E8-4E3E-9637-7C4D4508DD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41CAB5-DBEF-4A35-A05B-6797CC5DE5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9F45686-D1FF-4B00-B318-FFFC5048DA0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379AC6-40E6-4618-8A4D-2C0E80E889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74FED5-3823-4325-8C1A-81AD6B7170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3CAECF-74FB-4686-9728-D02130CCDF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5C877F-FC13-4753-9AD8-966E5285AF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935D0C-AD31-41BE-B8D9-3FB4BE31BF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9a7585eeed4cc5" /><Relationship Type="http://schemas.openxmlformats.org/officeDocument/2006/relationships/slideLayout" Target="/ppt/slideLayouts/slideLayout1.xml" Id="R4bfc39505c0b4bb2" /><Relationship Type="http://schemas.openxmlformats.org/officeDocument/2006/relationships/slideLayout" Target="/ppt/slideLayouts/slideLayout2.xml" Id="R847176f5caf9475c" /><Relationship Type="http://schemas.openxmlformats.org/officeDocument/2006/relationships/slideLayout" Target="/ppt/slideLayouts/slideLayout3.xml" Id="Re7122a2e2f414f6c" /><Relationship Type="http://schemas.openxmlformats.org/officeDocument/2006/relationships/slideLayout" Target="/ppt/slideLayouts/slideLayout4.xml" Id="Raa162c1197d9418b" /><Relationship Type="http://schemas.openxmlformats.org/officeDocument/2006/relationships/slideLayout" Target="/ppt/slideLayouts/slideLayout5.xml" Id="R5b5425367c8b47a2" /><Relationship Type="http://schemas.openxmlformats.org/officeDocument/2006/relationships/slideLayout" Target="/ppt/slideLayouts/slideLayout6.xml" Id="R31618c7adba24a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bfc39505c0b4bb2"/>
    <p:sldLayoutId xmlns:r="http://schemas.openxmlformats.org/officeDocument/2006/relationships" id="2147483650" r:id="R847176f5caf9475c"/>
    <p:sldLayoutId xmlns:r="http://schemas.openxmlformats.org/officeDocument/2006/relationships" id="2147483651" r:id="Re7122a2e2f414f6c"/>
    <p:sldLayoutId xmlns:r="http://schemas.openxmlformats.org/officeDocument/2006/relationships" id="2147483652" r:id="Raa162c1197d9418b"/>
    <p:sldLayoutId xmlns:r="http://schemas.openxmlformats.org/officeDocument/2006/relationships" id="2147483653" r:id="R5b5425367c8b47a2"/>
    <p:sldLayoutId xmlns:r="http://schemas.openxmlformats.org/officeDocument/2006/relationships" id="2147483654" r:id="R31618c7adba24a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e979bfb3cb8444d" /><Relationship Type="http://schemas.openxmlformats.org/officeDocument/2006/relationships/notesSlide" Target="/ppt/notesSlides/notesSlide1.xml" Id="R80cb5f9eaa9e4a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9acc89b33974a21" /><Relationship Type="http://schemas.openxmlformats.org/officeDocument/2006/relationships/notesSlide" Target="/ppt/notesSlides/notesSlide2.xml" Id="R4bbd338bd6014c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05d7feeed33467f" /><Relationship Type="http://schemas.openxmlformats.org/officeDocument/2006/relationships/image" Target="/ppt/media/image.jpeg" Id="Rc95aeed5dd554d4e" /><Relationship Type="http://schemas.openxmlformats.org/officeDocument/2006/relationships/notesSlide" Target="/ppt/notesSlides/notesSlide3.xml" Id="R667bd881449e4a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489ae4bf0d4f99" /><Relationship Type="http://schemas.openxmlformats.org/officeDocument/2006/relationships/notesSlide" Target="/ppt/notesSlides/notesSlide4.xml" Id="R91e113aabc62449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127d8133f604263" /><Relationship Type="http://schemas.openxmlformats.org/officeDocument/2006/relationships/hyperlink" Target="https://merchantlens-paytm-412542191970.asia-south1.run.app/" TargetMode="External" Id="Re67f8fc4739e4e0d" /><Relationship Type="http://schemas.openxmlformats.org/officeDocument/2006/relationships/hyperlink" Target="https://github.com/gowtham66867/merchantlens-paytm" TargetMode="External" Id="R0bdfae6617a842f7" /><Relationship Type="http://schemas.openxmlformats.org/officeDocument/2006/relationships/hyperlink" Target="https://merchantlens-paytm-412542191970.asia-south1.run.app/" TargetMode="External" Id="R73b4aabcee164d20" /><Relationship Type="http://schemas.openxmlformats.org/officeDocument/2006/relationships/hyperlink" Target="https://github.com/gowtham66867/merchantlens-paytm" TargetMode="External" Id="R221b12dbe32d45f5" /><Relationship Type="http://schemas.openxmlformats.org/officeDocument/2006/relationships/hyperlink" Target="https://merchantlens-paytm-412542191970.asia-south1.run.app/merchantlens-demo.mp4" TargetMode="External" Id="Rc6e8a516bcad40bd" /><Relationship Type="http://schemas.openxmlformats.org/officeDocument/2006/relationships/notesSlide" Target="/ppt/notesSlides/notesSlide5.xml" Id="Reb762dede3b84485" /></Relationships>
</file>

<file path=ppt/slides/slide1.xml><?xml version="1.0" encoding="utf-8"?>
<p:sld xmlns:p="http://schemas.openxmlformats.org/presentationml/2006/main">
  <p:cSld>
    <p:bg>
      <p:bgPr>
        <a:solidFill xmlns:a="http://schemas.openxmlformats.org/drawingml/2006/main">
          <a:srgbClr val="0B203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3DA20B-77A9-49C3-9E29-054303488A5D}"/>
              </a:ext>
            </a:extLst>
          </p:cNvPr>
          <p:cNvSpPr>
            <a:spLocks xmlns:a="http://schemas.openxmlformats.org/drawingml/2006/main" noGrp="1"/>
          </p:cNvSpPr>
          <p:nvPr/>
        </p:nvSpPr>
        <p:spPr>
          <a:xfrm xmlns:a="http://schemas.openxmlformats.org/drawingml/2006/main">
            <a:off x="685800" y="514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350" b="1">
                <a:solidFill>
                  <a:srgbClr val="FFFFFF"/>
                </a:solidFill>
                <a:latin typeface="Helvetica Neue"/>
                <a:ea typeface="Helvetica Neue"/>
                <a:cs typeface="Helvetica Neue"/>
              </a:defRPr>
            </a:defPPr>
            <a:lvl1pPr>
              <a:buNone/>
              <a:defRPr sz="4350" b="1">
                <a:solidFill>
                  <a:srgbClr val="FFFFFF"/>
                </a:solidFill>
                <a:latin typeface="Helvetica Neue"/>
                <a:ea typeface="Helvetica Neue"/>
                <a:cs typeface="Helvetica Neue"/>
              </a:defRPr>
            </a:lvl1pPr>
            <a:lvl2pPr>
              <a:buNone/>
              <a:defRPr sz="4350" b="1">
                <a:solidFill>
                  <a:srgbClr val="FFFFFF"/>
                </a:solidFill>
                <a:latin typeface="Helvetica Neue"/>
                <a:ea typeface="Helvetica Neue"/>
                <a:cs typeface="Helvetica Neue"/>
              </a:defRPr>
            </a:lvl2pPr>
            <a:lvl3pPr>
              <a:buNone/>
              <a:defRPr sz="4350" b="1">
                <a:solidFill>
                  <a:srgbClr val="FFFFFF"/>
                </a:solidFill>
                <a:latin typeface="Helvetica Neue"/>
                <a:ea typeface="Helvetica Neue"/>
                <a:cs typeface="Helvetica Neue"/>
              </a:defRPr>
            </a:lvl3pPr>
            <a:lvl4pPr>
              <a:buNone/>
              <a:defRPr sz="4350" b="1">
                <a:solidFill>
                  <a:srgbClr val="FFFFFF"/>
                </a:solidFill>
                <a:latin typeface="Helvetica Neue"/>
                <a:ea typeface="Helvetica Neue"/>
                <a:cs typeface="Helvetica Neue"/>
              </a:defRPr>
            </a:lvl4pPr>
            <a:lvl5pPr>
              <a:buNone/>
              <a:defRPr sz="4350" b="1">
                <a:solidFill>
                  <a:srgbClr val="FFFFFF"/>
                </a:solidFill>
                <a:latin typeface="Helvetica Neue"/>
                <a:ea typeface="Helvetica Neue"/>
                <a:cs typeface="Helvetica Neue"/>
              </a:defRPr>
            </a:lvl5pPr>
            <a:lvl6pPr>
              <a:buNone/>
              <a:defRPr sz="4350" b="1">
                <a:solidFill>
                  <a:srgbClr val="FFFFFF"/>
                </a:solidFill>
                <a:latin typeface="Helvetica Neue"/>
                <a:ea typeface="Helvetica Neue"/>
                <a:cs typeface="Helvetica Neue"/>
              </a:defRPr>
            </a:lvl6pPr>
            <a:lvl7pPr>
              <a:buNone/>
              <a:defRPr sz="4350" b="1">
                <a:solidFill>
                  <a:srgbClr val="FFFFFF"/>
                </a:solidFill>
                <a:latin typeface="Helvetica Neue"/>
                <a:ea typeface="Helvetica Neue"/>
                <a:cs typeface="Helvetica Neue"/>
              </a:defRPr>
            </a:lvl7pPr>
            <a:lvl8pPr>
              <a:buNone/>
              <a:defRPr sz="4350" b="1">
                <a:solidFill>
                  <a:srgbClr val="FFFFFF"/>
                </a:solidFill>
                <a:latin typeface="Helvetica Neue"/>
                <a:ea typeface="Helvetica Neue"/>
                <a:cs typeface="Helvetica Neue"/>
              </a:defRPr>
            </a:lvl8pPr>
            <a:lvl9pPr>
              <a:buNone/>
              <a:defRPr sz="4350" b="1">
                <a:solidFill>
                  <a:srgbClr val="FFFFFF"/>
                </a:solidFill>
                <a:latin typeface="Helvetica Neue"/>
                <a:ea typeface="Helvetica Neue"/>
                <a:cs typeface="Helvetica Neue"/>
              </a:defRPr>
            </a:lvl9pPr>
          </a:lstStyle>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MerchantLens</a:t>
            </a:r>
          </a:p>
        </p:txBody>
      </p:sp>
      <p:sp>
        <p:nvSpPr>
          <p:cNvPr id="2" name="">
            <a:extLst xmlns:a="http://schemas.openxmlformats.org/drawingml/2006/main">
              <a:ext uri="{FF2B5EF4-FFF2-40B4-BE49-F238E27FC236}">
                <a16:creationId xmlns:a16="http://schemas.microsoft.com/office/drawing/2014/main" id="{A21995DF-C701-4841-946F-A2E11E26EF36}"/>
              </a:ext>
            </a:extLst>
          </p:cNvPr>
          <p:cNvSpPr>
            <a:spLocks xmlns:a="http://schemas.openxmlformats.org/drawingml/2006/main" noGrp="1"/>
          </p:cNvSpPr>
          <p:nvPr/>
        </p:nvSpPr>
        <p:spPr>
          <a:xfrm xmlns:a="http://schemas.openxmlformats.org/drawingml/2006/main">
            <a:off x="723900" y="13239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0">
                <a:solidFill>
                  <a:srgbClr val="B9D0DE"/>
                </a:solidFill>
                <a:latin typeface="Helvetica Neue"/>
                <a:ea typeface="Helvetica Neue"/>
                <a:cs typeface="Helvetica Neue"/>
              </a:defRPr>
            </a:defPPr>
            <a:lvl1pPr>
              <a:buNone/>
              <a:defRPr sz="5100" b="1">
                <a:solidFill>
                  <a:srgbClr val="FFFFFF"/>
                </a:solidFill>
                <a:latin typeface="Helvetica Neue"/>
                <a:ea typeface="Helvetica Neue"/>
                <a:cs typeface="Helvetica Neue"/>
              </a:defRPr>
            </a:lvl1pPr>
            <a:lvl2pPr>
              <a:buNone/>
              <a:defRPr sz="5100" b="1">
                <a:solidFill>
                  <a:srgbClr val="FFFFFF"/>
                </a:solidFill>
                <a:latin typeface="Helvetica Neue"/>
                <a:ea typeface="Helvetica Neue"/>
                <a:cs typeface="Helvetica Neue"/>
              </a:defRPr>
            </a:lvl2pPr>
            <a:lvl3pPr>
              <a:buNone/>
              <a:defRPr sz="5100" b="1">
                <a:solidFill>
                  <a:srgbClr val="FFFFFF"/>
                </a:solidFill>
                <a:latin typeface="Helvetica Neue"/>
                <a:ea typeface="Helvetica Neue"/>
                <a:cs typeface="Helvetica Neue"/>
              </a:defRPr>
            </a:lvl3pPr>
            <a:lvl4pPr>
              <a:buNone/>
              <a:defRPr sz="5100" b="1">
                <a:solidFill>
                  <a:srgbClr val="FFFFFF"/>
                </a:solidFill>
                <a:latin typeface="Helvetica Neue"/>
                <a:ea typeface="Helvetica Neue"/>
                <a:cs typeface="Helvetica Neue"/>
              </a:defRPr>
            </a:lvl4pPr>
            <a:lvl5pPr>
              <a:buNone/>
              <a:defRPr sz="5100" b="1">
                <a:solidFill>
                  <a:srgbClr val="FFFFFF"/>
                </a:solidFill>
                <a:latin typeface="Helvetica Neue"/>
                <a:ea typeface="Helvetica Neue"/>
                <a:cs typeface="Helvetica Neue"/>
              </a:defRPr>
            </a:lvl5pPr>
            <a:lvl6pPr>
              <a:buNone/>
              <a:defRPr sz="5100" b="1">
                <a:solidFill>
                  <a:srgbClr val="FFFFFF"/>
                </a:solidFill>
                <a:latin typeface="Helvetica Neue"/>
                <a:ea typeface="Helvetica Neue"/>
                <a:cs typeface="Helvetica Neue"/>
              </a:defRPr>
            </a:lvl6pPr>
            <a:lvl7pPr>
              <a:buNone/>
              <a:defRPr sz="5100" b="1">
                <a:solidFill>
                  <a:srgbClr val="FFFFFF"/>
                </a:solidFill>
                <a:latin typeface="Helvetica Neue"/>
                <a:ea typeface="Helvetica Neue"/>
                <a:cs typeface="Helvetica Neue"/>
              </a:defRPr>
            </a:lvl7pPr>
            <a:lvl8pPr>
              <a:buNone/>
              <a:defRPr sz="5100" b="1">
                <a:solidFill>
                  <a:srgbClr val="FFFFFF"/>
                </a:solidFill>
                <a:latin typeface="Helvetica Neue"/>
                <a:ea typeface="Helvetica Neue"/>
                <a:cs typeface="Helvetica Neue"/>
              </a:defRPr>
            </a:lvl8pPr>
            <a:lvl9pPr>
              <a:buNone/>
              <a:defRPr sz="5100" b="1">
                <a:solidFill>
                  <a:srgbClr val="FFFFFF"/>
                </a:solidFill>
                <a:latin typeface="Helvetica Neue"/>
                <a:ea typeface="Helvetica Neue"/>
                <a:cs typeface="Helvetica Neue"/>
              </a:defRPr>
            </a:lvl9pPr>
          </a:lstStyle>
          <a:p xmlns:a="http://schemas.openxmlformats.org/drawingml/2006/main">
            <a:pPr>
              <a:buNone/>
              <a:defRPr sz="2400" b="0">
                <a:solidFill>
                  <a:srgbClr val="B9D0DE"/>
                </a:solidFill>
                <a:latin typeface="Helvetica Neue"/>
                <a:ea typeface="Helvetica Neue"/>
                <a:cs typeface="Helvetica Neue"/>
              </a:defRPr>
            </a:pPr>
            <a:r>
              <a:rPr sz="2400" b="0">
                <a:solidFill>
                  <a:srgbClr val="B9D0DE"/>
                </a:solidFill>
                <a:latin typeface="Helvetica Neue"/>
                <a:ea typeface="Helvetica Neue"/>
                <a:cs typeface="Helvetica Neue"/>
              </a:rPr>
              <a:t>Voice interviews that create verifiable problem briefs</a:t>
            </a:r>
          </a:p>
        </p:txBody>
      </p:sp>
      <p:sp>
        <p:nvSpPr>
          <p:cNvPr id="3" name="">
            <a:extLst xmlns:a="http://schemas.openxmlformats.org/drawingml/2006/main">
              <a:ext uri="{FF2B5EF4-FFF2-40B4-BE49-F238E27FC236}">
                <a16:creationId xmlns:a16="http://schemas.microsoft.com/office/drawing/2014/main" id="{3FA55CFE-EC20-4803-9769-A43A55CFEE62}"/>
              </a:ext>
            </a:extLst>
          </p:cNvPr>
          <p:cNvSpPr>
            <a:spLocks xmlns:a="http://schemas.openxmlformats.org/drawingml/2006/main" noGrp="1"/>
          </p:cNvSpPr>
          <p:nvPr/>
        </p:nvSpPr>
        <p:spPr>
          <a:xfrm xmlns:a="http://schemas.openxmlformats.org/drawingml/2006/main">
            <a:off x="685800" y="2095500"/>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125" b="1">
                <a:solidFill>
                  <a:srgbClr val="FFFFFF"/>
                </a:solidFill>
                <a:latin typeface="Helvetica Neue"/>
                <a:ea typeface="Helvetica Neue"/>
                <a:cs typeface="Helvetica Neue"/>
              </a:defRPr>
            </a:defPPr>
            <a:lvl1pPr>
              <a:buNone/>
              <a:defRPr sz="2400" b="0">
                <a:solidFill>
                  <a:srgbClr val="B9D0DE"/>
                </a:solidFill>
                <a:latin typeface="Helvetica Neue"/>
                <a:ea typeface="Helvetica Neue"/>
                <a:cs typeface="Helvetica Neue"/>
              </a:defRPr>
            </a:lvl1pPr>
            <a:lvl2pPr>
              <a:buNone/>
              <a:defRPr sz="2400" b="0">
                <a:solidFill>
                  <a:srgbClr val="B9D0DE"/>
                </a:solidFill>
                <a:latin typeface="Helvetica Neue"/>
                <a:ea typeface="Helvetica Neue"/>
                <a:cs typeface="Helvetica Neue"/>
              </a:defRPr>
            </a:lvl2pPr>
            <a:lvl3pPr>
              <a:buNone/>
              <a:defRPr sz="2400" b="0">
                <a:solidFill>
                  <a:srgbClr val="B9D0DE"/>
                </a:solidFill>
                <a:latin typeface="Helvetica Neue"/>
                <a:ea typeface="Helvetica Neue"/>
                <a:cs typeface="Helvetica Neue"/>
              </a:defRPr>
            </a:lvl3pPr>
            <a:lvl4pPr>
              <a:buNone/>
              <a:defRPr sz="2400" b="0">
                <a:solidFill>
                  <a:srgbClr val="B9D0DE"/>
                </a:solidFill>
                <a:latin typeface="Helvetica Neue"/>
                <a:ea typeface="Helvetica Neue"/>
                <a:cs typeface="Helvetica Neue"/>
              </a:defRPr>
            </a:lvl4pPr>
            <a:lvl5pPr>
              <a:buNone/>
              <a:defRPr sz="2400" b="0">
                <a:solidFill>
                  <a:srgbClr val="B9D0DE"/>
                </a:solidFill>
                <a:latin typeface="Helvetica Neue"/>
                <a:ea typeface="Helvetica Neue"/>
                <a:cs typeface="Helvetica Neue"/>
              </a:defRPr>
            </a:lvl5pPr>
            <a:lvl6pPr>
              <a:buNone/>
              <a:defRPr sz="2400" b="0">
                <a:solidFill>
                  <a:srgbClr val="B9D0DE"/>
                </a:solidFill>
                <a:latin typeface="Helvetica Neue"/>
                <a:ea typeface="Helvetica Neue"/>
                <a:cs typeface="Helvetica Neue"/>
              </a:defRPr>
            </a:lvl6pPr>
            <a:lvl7pPr>
              <a:buNone/>
              <a:defRPr sz="2400" b="0">
                <a:solidFill>
                  <a:srgbClr val="B9D0DE"/>
                </a:solidFill>
                <a:latin typeface="Helvetica Neue"/>
                <a:ea typeface="Helvetica Neue"/>
                <a:cs typeface="Helvetica Neue"/>
              </a:defRPr>
            </a:lvl7pPr>
            <a:lvl8pPr>
              <a:buNone/>
              <a:defRPr sz="2400" b="0">
                <a:solidFill>
                  <a:srgbClr val="B9D0DE"/>
                </a:solidFill>
                <a:latin typeface="Helvetica Neue"/>
                <a:ea typeface="Helvetica Neue"/>
                <a:cs typeface="Helvetica Neue"/>
              </a:defRPr>
            </a:lvl8pPr>
            <a:lvl9pPr>
              <a:buNone/>
              <a:defRPr sz="2400" b="0">
                <a:solidFill>
                  <a:srgbClr val="B9D0DE"/>
                </a:solidFill>
                <a:latin typeface="Helvetica Neue"/>
                <a:ea typeface="Helvetica Neue"/>
                <a:cs typeface="Helvetica Neue"/>
              </a:defRPr>
            </a:lvl9pPr>
          </a:lstStyle>
          <a:p xmlns:a="http://schemas.openxmlformats.org/drawingml/2006/main">
            <a:pPr>
              <a:buNone/>
              <a:defRPr sz="4125" b="1">
                <a:solidFill>
                  <a:srgbClr val="FFFFFF"/>
                </a:solidFill>
                <a:latin typeface="Helvetica Neue"/>
                <a:ea typeface="Helvetica Neue"/>
                <a:cs typeface="Helvetica Neue"/>
              </a:defRPr>
            </a:pPr>
            <a:r>
              <a:rPr sz="4125" b="1">
                <a:solidFill>
                  <a:srgbClr val="FFFFFF"/>
                </a:solidFill>
                <a:latin typeface="Helvetica Neue"/>
                <a:ea typeface="Helvetica Neue"/>
                <a:cs typeface="Helvetica Neue"/>
              </a:rPr>
              <a:t>“I thought I lost ₹2,400.”</a:t>
            </a:r>
          </a:p>
        </p:txBody>
      </p:sp>
      <p:sp>
        <p:nvSpPr>
          <p:cNvPr id="4" name="">
            <a:extLst xmlns:a="http://schemas.openxmlformats.org/drawingml/2006/main">
              <a:ext uri="{FF2B5EF4-FFF2-40B4-BE49-F238E27FC236}">
                <a16:creationId xmlns:a16="http://schemas.microsoft.com/office/drawing/2014/main" id="{F2B0630A-5206-4665-8ECC-131017FE1CA7}"/>
              </a:ext>
            </a:extLst>
          </p:cNvPr>
          <p:cNvSpPr>
            <a:spLocks xmlns:a="http://schemas.openxmlformats.org/drawingml/2006/main" noGrp="1"/>
          </p:cNvSpPr>
          <p:nvPr/>
        </p:nvSpPr>
        <p:spPr>
          <a:xfrm xmlns:a="http://schemas.openxmlformats.org/drawingml/2006/main">
            <a:off x="723900" y="3162300"/>
            <a:ext cx="10429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1">
                <a:solidFill>
                  <a:srgbClr val="FFFFFF"/>
                </a:solidFill>
                <a:latin typeface="Helvetica Neue"/>
                <a:ea typeface="Helvetica Neue"/>
                <a:cs typeface="Helvetica Neue"/>
              </a:defRPr>
            </a:defPPr>
            <a:lvl1pPr>
              <a:buNone/>
              <a:defRPr sz="1950" b="1">
                <a:solidFill>
                  <a:srgbClr val="FFFFFF"/>
                </a:solidFill>
                <a:latin typeface="Helvetica Neue"/>
                <a:ea typeface="Helvetica Neue"/>
                <a:cs typeface="Helvetica Neue"/>
              </a:defRPr>
            </a:lvl1pPr>
            <a:lvl2pPr>
              <a:buNone/>
              <a:defRPr sz="1950" b="1">
                <a:solidFill>
                  <a:srgbClr val="FFFFFF"/>
                </a:solidFill>
                <a:latin typeface="Helvetica Neue"/>
                <a:ea typeface="Helvetica Neue"/>
                <a:cs typeface="Helvetica Neue"/>
              </a:defRPr>
            </a:lvl2pPr>
            <a:lvl3pPr>
              <a:buNone/>
              <a:defRPr sz="1950" b="1">
                <a:solidFill>
                  <a:srgbClr val="FFFFFF"/>
                </a:solidFill>
                <a:latin typeface="Helvetica Neue"/>
                <a:ea typeface="Helvetica Neue"/>
                <a:cs typeface="Helvetica Neue"/>
              </a:defRPr>
            </a:lvl3pPr>
            <a:lvl4pPr>
              <a:buNone/>
              <a:defRPr sz="1950" b="1">
                <a:solidFill>
                  <a:srgbClr val="FFFFFF"/>
                </a:solidFill>
                <a:latin typeface="Helvetica Neue"/>
                <a:ea typeface="Helvetica Neue"/>
                <a:cs typeface="Helvetica Neue"/>
              </a:defRPr>
            </a:lvl4pPr>
            <a:lvl5pPr>
              <a:buNone/>
              <a:defRPr sz="1950" b="1">
                <a:solidFill>
                  <a:srgbClr val="FFFFFF"/>
                </a:solidFill>
                <a:latin typeface="Helvetica Neue"/>
                <a:ea typeface="Helvetica Neue"/>
                <a:cs typeface="Helvetica Neue"/>
              </a:defRPr>
            </a:lvl5pPr>
            <a:lvl6pPr>
              <a:buNone/>
              <a:defRPr sz="1950" b="1">
                <a:solidFill>
                  <a:srgbClr val="FFFFFF"/>
                </a:solidFill>
                <a:latin typeface="Helvetica Neue"/>
                <a:ea typeface="Helvetica Neue"/>
                <a:cs typeface="Helvetica Neue"/>
              </a:defRPr>
            </a:lvl6pPr>
            <a:lvl7pPr>
              <a:buNone/>
              <a:defRPr sz="1950" b="1">
                <a:solidFill>
                  <a:srgbClr val="FFFFFF"/>
                </a:solidFill>
                <a:latin typeface="Helvetica Neue"/>
                <a:ea typeface="Helvetica Neue"/>
                <a:cs typeface="Helvetica Neue"/>
              </a:defRPr>
            </a:lvl7pPr>
            <a:lvl8pPr>
              <a:buNone/>
              <a:defRPr sz="1950" b="1">
                <a:solidFill>
                  <a:srgbClr val="FFFFFF"/>
                </a:solidFill>
                <a:latin typeface="Helvetica Neue"/>
                <a:ea typeface="Helvetica Neue"/>
                <a:cs typeface="Helvetica Neue"/>
              </a:defRPr>
            </a:lvl8pPr>
            <a:lvl9pPr>
              <a:buNone/>
              <a:defRPr sz="1950" b="1">
                <a:solidFill>
                  <a:srgbClr val="FFFFFF"/>
                </a:solidFill>
                <a:latin typeface="Helvetica Neue"/>
                <a:ea typeface="Helvetica Neue"/>
                <a:cs typeface="Helvetica Neue"/>
              </a:defRPr>
            </a:lvl9pPr>
          </a:lstStyle>
          <a:p xmlns:a="http://schemas.openxmlformats.org/drawingml/2006/main">
            <a:pPr>
              <a:buNone/>
              <a:defRPr sz="2325" b="1">
                <a:solidFill>
                  <a:srgbClr val="FFFFFF"/>
                </a:solidFill>
                <a:latin typeface="Helvetica Neue"/>
                <a:ea typeface="Helvetica Neue"/>
                <a:cs typeface="Helvetica Neue"/>
              </a:defRPr>
            </a:pPr>
            <a:r>
              <a:rPr sz="2325" b="1">
                <a:solidFill>
                  <a:srgbClr val="FFFFFF"/>
                </a:solidFill>
                <a:latin typeface="Helvetica Neue"/>
                <a:ea typeface="Helvetica Neue"/>
                <a:cs typeface="Helvetica Neue"/>
              </a:rPr>
              <a:t>The problem is an unclear account — and no reliable way to check its interpretation</a:t>
            </a:r>
          </a:p>
        </p:txBody>
      </p:sp>
      <p:sp>
        <p:nvSpPr>
          <p:cNvPr id="5" name="">
            <a:extLst xmlns:a="http://schemas.openxmlformats.org/drawingml/2006/main">
              <a:ext uri="{FF2B5EF4-FFF2-40B4-BE49-F238E27FC236}">
                <a16:creationId xmlns:a16="http://schemas.microsoft.com/office/drawing/2014/main" id="{B8258E20-B75C-49E9-A085-A827CAAA1513}"/>
              </a:ext>
            </a:extLst>
          </p:cNvPr>
          <p:cNvSpPr>
            <a:spLocks xmlns:a="http://schemas.openxmlformats.org/drawingml/2006/main" noGrp="1"/>
          </p:cNvSpPr>
          <p:nvPr/>
        </p:nvSpPr>
        <p:spPr>
          <a:xfrm xmlns:a="http://schemas.openxmlformats.org/drawingml/2006/main">
            <a:off x="723900" y="4010025"/>
            <a:ext cx="10477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B9D0DE"/>
                </a:solidFill>
                <a:latin typeface="Helvetica Neue"/>
                <a:ea typeface="Helvetica Neue"/>
                <a:cs typeface="Helvetica Neue"/>
              </a:defRPr>
            </a:defPPr>
            <a:lvl1pPr>
              <a:buNone/>
              <a:defRPr sz="1650" b="0">
                <a:solidFill>
                  <a:srgbClr val="B9D0DE"/>
                </a:solidFill>
                <a:latin typeface="Helvetica Neue"/>
                <a:ea typeface="Helvetica Neue"/>
                <a:cs typeface="Helvetica Neue"/>
              </a:defRPr>
            </a:lvl1pPr>
            <a:lvl2pPr>
              <a:buNone/>
              <a:defRPr sz="1650" b="0">
                <a:solidFill>
                  <a:srgbClr val="B9D0DE"/>
                </a:solidFill>
                <a:latin typeface="Helvetica Neue"/>
                <a:ea typeface="Helvetica Neue"/>
                <a:cs typeface="Helvetica Neue"/>
              </a:defRPr>
            </a:lvl2pPr>
            <a:lvl3pPr>
              <a:buNone/>
              <a:defRPr sz="1650" b="0">
                <a:solidFill>
                  <a:srgbClr val="B9D0DE"/>
                </a:solidFill>
                <a:latin typeface="Helvetica Neue"/>
                <a:ea typeface="Helvetica Neue"/>
                <a:cs typeface="Helvetica Neue"/>
              </a:defRPr>
            </a:lvl3pPr>
            <a:lvl4pPr>
              <a:buNone/>
              <a:defRPr sz="1650" b="0">
                <a:solidFill>
                  <a:srgbClr val="B9D0DE"/>
                </a:solidFill>
                <a:latin typeface="Helvetica Neue"/>
                <a:ea typeface="Helvetica Neue"/>
                <a:cs typeface="Helvetica Neue"/>
              </a:defRPr>
            </a:lvl4pPr>
            <a:lvl5pPr>
              <a:buNone/>
              <a:defRPr sz="1650" b="0">
                <a:solidFill>
                  <a:srgbClr val="B9D0DE"/>
                </a:solidFill>
                <a:latin typeface="Helvetica Neue"/>
                <a:ea typeface="Helvetica Neue"/>
                <a:cs typeface="Helvetica Neue"/>
              </a:defRPr>
            </a:lvl5pPr>
            <a:lvl6pPr>
              <a:buNone/>
              <a:defRPr sz="1650" b="0">
                <a:solidFill>
                  <a:srgbClr val="B9D0DE"/>
                </a:solidFill>
                <a:latin typeface="Helvetica Neue"/>
                <a:ea typeface="Helvetica Neue"/>
                <a:cs typeface="Helvetica Neue"/>
              </a:defRPr>
            </a:lvl6pPr>
            <a:lvl7pPr>
              <a:buNone/>
              <a:defRPr sz="1650" b="0">
                <a:solidFill>
                  <a:srgbClr val="B9D0DE"/>
                </a:solidFill>
                <a:latin typeface="Helvetica Neue"/>
                <a:ea typeface="Helvetica Neue"/>
                <a:cs typeface="Helvetica Neue"/>
              </a:defRPr>
            </a:lvl7pPr>
            <a:lvl8pPr>
              <a:buNone/>
              <a:defRPr sz="1650" b="0">
                <a:solidFill>
                  <a:srgbClr val="B9D0DE"/>
                </a:solidFill>
                <a:latin typeface="Helvetica Neue"/>
                <a:ea typeface="Helvetica Neue"/>
                <a:cs typeface="Helvetica Neue"/>
              </a:defRPr>
            </a:lvl8pPr>
            <a:lvl9pPr>
              <a:buNone/>
              <a:defRPr sz="1650" b="0">
                <a:solidFill>
                  <a:srgbClr val="B9D0DE"/>
                </a:solidFill>
                <a:latin typeface="Helvetica Neue"/>
                <a:ea typeface="Helvetica Neue"/>
                <a:cs typeface="Helvetica Neue"/>
              </a:defRPr>
            </a:lvl9pPr>
          </a:lstStyle>
          <a:p xmlns:a="http://schemas.openxmlformats.org/drawingml/2006/main">
            <a:pPr>
              <a:buNone/>
              <a:defRPr sz="1950" b="0">
                <a:solidFill>
                  <a:srgbClr val="B9D0DE"/>
                </a:solidFill>
                <a:latin typeface="Helvetica Neue"/>
                <a:ea typeface="Helvetica Neue"/>
                <a:cs typeface="Helvetica Neue"/>
              </a:defRPr>
            </a:pPr>
            <a:r>
              <a:rPr sz="1950" b="0">
                <a:solidFill>
                  <a:srgbClr val="B9D0DE"/>
                </a:solidFill>
                <a:latin typeface="Helvetica Neue"/>
                <a:ea typeface="Helvetica Neue"/>
                <a:cs typeface="Helvetica Neue"/>
              </a:rPr>
              <a:t>Merchant conversations mix symptoms, estimates and assumptions. Operations teams need a useful brief with each observation linked to the merchant’s words and each unknown left visible.</a:t>
            </a:r>
          </a:p>
        </p:txBody>
      </p:sp>
      <p:sp>
        <p:nvSpPr>
          <p:cNvPr id="6" name="">
            <a:extLst xmlns:a="http://schemas.openxmlformats.org/drawingml/2006/main">
              <a:ext uri="{FF2B5EF4-FFF2-40B4-BE49-F238E27FC236}">
                <a16:creationId xmlns:a16="http://schemas.microsoft.com/office/drawing/2014/main" id="{15C8B53C-E591-41FC-AB88-0A7AC930E39A}"/>
              </a:ext>
            </a:extLst>
          </p:cNvPr>
          <p:cNvSpPr>
            <a:spLocks xmlns:a="http://schemas.openxmlformats.org/drawingml/2006/main" noGrp="1"/>
          </p:cNvSpPr>
          <p:nvPr/>
        </p:nvSpPr>
        <p:spPr>
          <a:xfrm xmlns:a="http://schemas.openxmlformats.org/drawingml/2006/main">
            <a:off x="723900" y="52197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FFFFFF"/>
                </a:solidFill>
                <a:latin typeface="Helvetica Neue"/>
                <a:ea typeface="Helvetica Neue"/>
                <a:cs typeface="Helvetica Neue"/>
              </a:defRPr>
            </a:defPPr>
            <a:lvl1pPr>
              <a:buNone/>
              <a:defRPr sz="1275" b="0">
                <a:solidFill>
                  <a:srgbClr val="B9D0DE"/>
                </a:solidFill>
                <a:latin typeface="Helvetica Neue"/>
                <a:ea typeface="Helvetica Neue"/>
                <a:cs typeface="Helvetica Neue"/>
              </a:defRPr>
            </a:lvl1pPr>
            <a:lvl2pPr>
              <a:buNone/>
              <a:defRPr sz="1275" b="0">
                <a:solidFill>
                  <a:srgbClr val="B9D0DE"/>
                </a:solidFill>
                <a:latin typeface="Helvetica Neue"/>
                <a:ea typeface="Helvetica Neue"/>
                <a:cs typeface="Helvetica Neue"/>
              </a:defRPr>
            </a:lvl2pPr>
            <a:lvl3pPr>
              <a:buNone/>
              <a:defRPr sz="1275" b="0">
                <a:solidFill>
                  <a:srgbClr val="B9D0DE"/>
                </a:solidFill>
                <a:latin typeface="Helvetica Neue"/>
                <a:ea typeface="Helvetica Neue"/>
                <a:cs typeface="Helvetica Neue"/>
              </a:defRPr>
            </a:lvl3pPr>
            <a:lvl4pPr>
              <a:buNone/>
              <a:defRPr sz="1275" b="0">
                <a:solidFill>
                  <a:srgbClr val="B9D0DE"/>
                </a:solidFill>
                <a:latin typeface="Helvetica Neue"/>
                <a:ea typeface="Helvetica Neue"/>
                <a:cs typeface="Helvetica Neue"/>
              </a:defRPr>
            </a:lvl4pPr>
            <a:lvl5pPr>
              <a:buNone/>
              <a:defRPr sz="1275" b="0">
                <a:solidFill>
                  <a:srgbClr val="B9D0DE"/>
                </a:solidFill>
                <a:latin typeface="Helvetica Neue"/>
                <a:ea typeface="Helvetica Neue"/>
                <a:cs typeface="Helvetica Neue"/>
              </a:defRPr>
            </a:lvl5pPr>
            <a:lvl6pPr>
              <a:buNone/>
              <a:defRPr sz="1275" b="0">
                <a:solidFill>
                  <a:srgbClr val="B9D0DE"/>
                </a:solidFill>
                <a:latin typeface="Helvetica Neue"/>
                <a:ea typeface="Helvetica Neue"/>
                <a:cs typeface="Helvetica Neue"/>
              </a:defRPr>
            </a:lvl6pPr>
            <a:lvl7pPr>
              <a:buNone/>
              <a:defRPr sz="1275" b="0">
                <a:solidFill>
                  <a:srgbClr val="B9D0DE"/>
                </a:solidFill>
                <a:latin typeface="Helvetica Neue"/>
                <a:ea typeface="Helvetica Neue"/>
                <a:cs typeface="Helvetica Neue"/>
              </a:defRPr>
            </a:lvl7pPr>
            <a:lvl8pPr>
              <a:buNone/>
              <a:defRPr sz="1275" b="0">
                <a:solidFill>
                  <a:srgbClr val="B9D0DE"/>
                </a:solidFill>
                <a:latin typeface="Helvetica Neue"/>
                <a:ea typeface="Helvetica Neue"/>
                <a:cs typeface="Helvetica Neue"/>
              </a:defRPr>
            </a:lvl8pPr>
            <a:lvl9pPr>
              <a:buNone/>
              <a:defRPr sz="1275" b="0">
                <a:solidFill>
                  <a:srgbClr val="B9D0DE"/>
                </a:solidFill>
                <a:latin typeface="Helvetica Neue"/>
                <a:ea typeface="Helvetica Neue"/>
                <a:cs typeface="Helvetica Neue"/>
              </a:defRPr>
            </a:lvl9pPr>
          </a:lstStyle>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Business case: Soundbox and payment-confirmation intake for Paytm merchant operations</a:t>
            </a:r>
          </a:p>
        </p:txBody>
      </p:sp>
      <p:sp>
        <p:nvSpPr>
          <p:cNvPr id="8" name="">
            <a:extLst xmlns:a="http://schemas.openxmlformats.org/drawingml/2006/main">
              <a:ext uri="{FF2B5EF4-FFF2-40B4-BE49-F238E27FC236}">
                <a16:creationId xmlns:a16="http://schemas.microsoft.com/office/drawing/2014/main" id="{39945F00-509D-4B26-973B-AEE82FABDA07}"/>
              </a:ext>
            </a:extLst>
          </p:cNvPr>
          <p:cNvSpPr>
            <a:spLocks xmlns:a="http://schemas.openxmlformats.org/drawingml/2006/main" noGrp="1"/>
          </p:cNvSpPr>
          <p:nvPr/>
        </p:nvSpPr>
        <p:spPr>
          <a:xfrm xmlns:a="http://schemas.openxmlformats.org/drawingml/2006/main">
            <a:off x="723900" y="5924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defRPr sz="1725" b="0">
                <a:solidFill>
                  <a:srgbClr val="B9D0DE"/>
                </a:solidFill>
                <a:latin typeface="Helvetica Neue"/>
                <a:ea typeface="Helvetica Neue"/>
                <a:cs typeface="Helvetica Neue"/>
              </a:defRPr>
            </a:lvl1pPr>
            <a:lvl2pPr>
              <a:defRPr sz="1725" b="0">
                <a:solidFill>
                  <a:srgbClr val="B9D0DE"/>
                </a:solidFill>
                <a:latin typeface="Helvetica Neue"/>
                <a:ea typeface="Helvetica Neue"/>
                <a:cs typeface="Helvetica Neue"/>
              </a:defRPr>
            </a:lvl2pPr>
            <a:lvl3pPr>
              <a:defRPr sz="1725" b="0">
                <a:solidFill>
                  <a:srgbClr val="B9D0DE"/>
                </a:solidFill>
                <a:latin typeface="Helvetica Neue"/>
                <a:ea typeface="Helvetica Neue"/>
                <a:cs typeface="Helvetica Neue"/>
              </a:defRPr>
            </a:lvl3pPr>
            <a:lvl4pPr>
              <a:defRPr sz="1725" b="0">
                <a:solidFill>
                  <a:srgbClr val="B9D0DE"/>
                </a:solidFill>
                <a:latin typeface="Helvetica Neue"/>
                <a:ea typeface="Helvetica Neue"/>
                <a:cs typeface="Helvetica Neue"/>
              </a:defRPr>
            </a:lvl4pPr>
            <a:lvl5pPr>
              <a:defRPr sz="1725" b="0">
                <a:solidFill>
                  <a:srgbClr val="B9D0DE"/>
                </a:solidFill>
                <a:latin typeface="Helvetica Neue"/>
                <a:ea typeface="Helvetica Neue"/>
                <a:cs typeface="Helvetica Neue"/>
              </a:defRPr>
            </a:lvl5pPr>
            <a:lvl6pPr>
              <a:defRPr sz="1725" b="0">
                <a:solidFill>
                  <a:srgbClr val="B9D0DE"/>
                </a:solidFill>
                <a:latin typeface="Helvetica Neue"/>
                <a:ea typeface="Helvetica Neue"/>
                <a:cs typeface="Helvetica Neue"/>
              </a:defRPr>
            </a:lvl6pPr>
            <a:lvl7pPr>
              <a:defRPr sz="1725" b="0">
                <a:solidFill>
                  <a:srgbClr val="B9D0DE"/>
                </a:solidFill>
                <a:latin typeface="Helvetica Neue"/>
                <a:ea typeface="Helvetica Neue"/>
                <a:cs typeface="Helvetica Neue"/>
              </a:defRPr>
            </a:lvl7pPr>
            <a:lvl8pPr>
              <a:defRPr sz="1725" b="0">
                <a:solidFill>
                  <a:srgbClr val="B9D0DE"/>
                </a:solidFill>
                <a:latin typeface="Helvetica Neue"/>
                <a:ea typeface="Helvetica Neue"/>
                <a:cs typeface="Helvetica Neue"/>
              </a:defRPr>
            </a:lvl8pPr>
            <a:lvl9pPr>
              <a:defRPr sz="1725" b="0">
                <a:solidFill>
                  <a:srgbClr val="B9D0DE"/>
                </a:solidFill>
                <a:latin typeface="Helvetica Neue"/>
                <a:ea typeface="Helvetica Neue"/>
                <a:cs typeface="Helvetica Neue"/>
              </a:defRPr>
            </a:lvl9pPr>
          </a:lstStyle>
          <a:p xmlns:a="http://schemas.openxmlformats.org/drawingml/2006/main">
            <a:pPr>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Gowtham Ramachandra · Solo builder · Paytm × AI Garage Buildathon</a:t>
            </a:r>
          </a:p>
        </p:txBody>
      </p:sp>
      <p:sp>
        <p:nvSpPr>
          <p:cNvPr id="9" name="">
            <a:extLst xmlns:a="http://schemas.openxmlformats.org/drawingml/2006/main">
              <a:ext uri="{FF2B5EF4-FFF2-40B4-BE49-F238E27FC236}">
                <a16:creationId xmlns:a16="http://schemas.microsoft.com/office/drawing/2014/main" id="{64BE0F87-7FD1-4A89-BB3D-90940D905232}"/>
              </a:ext>
            </a:extLst>
          </p:cNvPr>
          <p:cNvSpPr>
            <a:spLocks xmlns:a="http://schemas.openxmlformats.org/drawingml/2006/main" noGrp="1"/>
          </p:cNvSpPr>
          <p:nvPr/>
        </p:nvSpPr>
        <p:spPr>
          <a:xfrm xmlns:a="http://schemas.openxmlformats.org/drawingml/2006/main">
            <a:off x="723900" y="6419850"/>
            <a:ext cx="1057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B9D0DE"/>
                </a:solidFill>
                <a:latin typeface="Helvetica Neue"/>
                <a:ea typeface="Helvetica Neue"/>
                <a:cs typeface="Helvetica Neue"/>
              </a:defRPr>
            </a:defPPr>
            <a:lvl1pPr>
              <a:defRPr sz="1275" b="0">
                <a:solidFill>
                  <a:srgbClr val="B9D0DE"/>
                </a:solidFill>
                <a:latin typeface="Helvetica Neue"/>
                <a:ea typeface="Helvetica Neue"/>
                <a:cs typeface="Helvetica Neue"/>
              </a:defRPr>
            </a:lvl1pPr>
            <a:lvl2pPr>
              <a:defRPr sz="1275" b="0">
                <a:solidFill>
                  <a:srgbClr val="B9D0DE"/>
                </a:solidFill>
                <a:latin typeface="Helvetica Neue"/>
                <a:ea typeface="Helvetica Neue"/>
                <a:cs typeface="Helvetica Neue"/>
              </a:defRPr>
            </a:lvl2pPr>
            <a:lvl3pPr>
              <a:defRPr sz="1275" b="0">
                <a:solidFill>
                  <a:srgbClr val="B9D0DE"/>
                </a:solidFill>
                <a:latin typeface="Helvetica Neue"/>
                <a:ea typeface="Helvetica Neue"/>
                <a:cs typeface="Helvetica Neue"/>
              </a:defRPr>
            </a:lvl3pPr>
            <a:lvl4pPr>
              <a:defRPr sz="1275" b="0">
                <a:solidFill>
                  <a:srgbClr val="B9D0DE"/>
                </a:solidFill>
                <a:latin typeface="Helvetica Neue"/>
                <a:ea typeface="Helvetica Neue"/>
                <a:cs typeface="Helvetica Neue"/>
              </a:defRPr>
            </a:lvl4pPr>
            <a:lvl5pPr>
              <a:defRPr sz="1275" b="0">
                <a:solidFill>
                  <a:srgbClr val="B9D0DE"/>
                </a:solidFill>
                <a:latin typeface="Helvetica Neue"/>
                <a:ea typeface="Helvetica Neue"/>
                <a:cs typeface="Helvetica Neue"/>
              </a:defRPr>
            </a:lvl5pPr>
            <a:lvl6pPr>
              <a:defRPr sz="1275" b="0">
                <a:solidFill>
                  <a:srgbClr val="B9D0DE"/>
                </a:solidFill>
                <a:latin typeface="Helvetica Neue"/>
                <a:ea typeface="Helvetica Neue"/>
                <a:cs typeface="Helvetica Neue"/>
              </a:defRPr>
            </a:lvl6pPr>
            <a:lvl7pPr>
              <a:defRPr sz="1275" b="0">
                <a:solidFill>
                  <a:srgbClr val="B9D0DE"/>
                </a:solidFill>
                <a:latin typeface="Helvetica Neue"/>
                <a:ea typeface="Helvetica Neue"/>
                <a:cs typeface="Helvetica Neue"/>
              </a:defRPr>
            </a:lvl7pPr>
            <a:lvl8pPr>
              <a:defRPr sz="1275" b="0">
                <a:solidFill>
                  <a:srgbClr val="B9D0DE"/>
                </a:solidFill>
                <a:latin typeface="Helvetica Neue"/>
                <a:ea typeface="Helvetica Neue"/>
                <a:cs typeface="Helvetica Neue"/>
              </a:defRPr>
            </a:lvl8pPr>
            <a:lvl9pPr>
              <a:defRPr sz="1275" b="0">
                <a:solidFill>
                  <a:srgbClr val="B9D0DE"/>
                </a:solidFill>
                <a:latin typeface="Helvetica Neue"/>
                <a:ea typeface="Helvetica Neue"/>
                <a:cs typeface="Helvetica Neue"/>
              </a:defRPr>
            </a:lvl9pPr>
          </a:lstStyle>
          <a:p xmlns:a="http://schemas.openxmlformats.org/drawingml/2006/main">
            <a:pPr>
              <a:defRPr sz="1275" b="0">
                <a:solidFill>
                  <a:srgbClr val="B9D0DE"/>
                </a:solidFill>
                <a:latin typeface="Helvetica Neue"/>
                <a:ea typeface="Helvetica Neue"/>
                <a:cs typeface="Helvetica Neue"/>
              </a:defRPr>
            </a:pPr>
            <a:r>
              <a:rPr sz="1275" b="0">
                <a:solidFill>
                  <a:srgbClr val="B9D0DE"/>
                </a:solidFill>
                <a:latin typeface="Helvetica Neue"/>
                <a:ea typeface="Helvetica Neue"/>
                <a:cs typeface="Helvetica Neue"/>
              </a:rPr>
              <a:t>Illustrative ₹2,400 scenario. Source traceability does not independently verify a transaction.</a:t>
            </a:r>
          </a:p>
        </p:txBody>
      </p:sp>
    </p:spTree>
    <p:extLst>
      <p:ext uri="{BB962C8B-B14F-4D97-AF65-F5344CB8AC3E}">
        <p14:creationId xmlns:p14="http://schemas.microsoft.com/office/powerpoint/2010/main" val="1321911904"/>
      </p:ext>
    </p:extLst>
  </p:cSld>
</p:sld>
</file>

<file path=ppt/slides/slide2.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8CB17D7-8C76-4ADC-B53A-6DC20473C389}"/>
              </a:ext>
            </a:extLst>
          </p:cNvPr>
          <p:cNvSpPr>
            <a:spLocks xmlns:a="http://schemas.openxmlformats.org/drawingml/2006/main" noGrp="1"/>
          </p:cNvSpPr>
          <p:nvPr/>
        </p:nvSpPr>
        <p:spPr>
          <a:xfrm xmlns:a="http://schemas.openxmlformats.org/drawingml/2006/main">
            <a:off x="685800" y="5334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300" b="1">
                <a:solidFill>
                  <a:srgbClr val="102F43"/>
                </a:solidFill>
                <a:latin typeface="Helvetica Neue"/>
                <a:ea typeface="Helvetica Neue"/>
                <a:cs typeface="Helvetica Neue"/>
              </a:defRPr>
            </a:pPr>
            <a:r>
              <a:rPr sz="3300" b="1">
                <a:solidFill>
                  <a:srgbClr val="102F43"/>
                </a:solidFill>
                <a:latin typeface="Helvetica Neue"/>
                <a:ea typeface="Helvetica Neue"/>
                <a:cs typeface="Helvetica Neue"/>
              </a:rPr>
              <a:t>Clarification, context and verifiability</a:t>
            </a:r>
          </a:p>
        </p:txBody>
      </p:sp>
      <p:sp>
        <p:nvSpPr>
          <p:cNvPr id="2" name="">
            <a:extLst xmlns:a="http://schemas.openxmlformats.org/drawingml/2006/main">
              <a:ext uri="{FF2B5EF4-FFF2-40B4-BE49-F238E27FC236}">
                <a16:creationId xmlns:a16="http://schemas.microsoft.com/office/drawing/2014/main" id="{D453F48F-7506-4B8A-A3ED-1CE585FBF2C6}"/>
              </a:ext>
            </a:extLst>
          </p:cNvPr>
          <p:cNvSpPr>
            <a:spLocks xmlns:a="http://schemas.openxmlformats.org/drawingml/2006/main" noGrp="1"/>
          </p:cNvSpPr>
          <p:nvPr/>
        </p:nvSpPr>
        <p:spPr>
          <a:xfrm xmlns:a="http://schemas.openxmlformats.org/drawingml/2006/main">
            <a:off x="704850" y="140970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0A9D6"/>
                </a:solidFill>
                <a:latin typeface="Helvetica Neue"/>
                <a:ea typeface="Helvetica Neue"/>
                <a:cs typeface="Helvetica Neue"/>
              </a:defRPr>
            </a:defPPr>
            <a:lvl1pPr>
              <a:buNone/>
              <a:defRPr sz="2250" b="1">
                <a:solidFill>
                  <a:srgbClr val="00A9D6"/>
                </a:solidFill>
                <a:latin typeface="Helvetica Neue"/>
                <a:ea typeface="Helvetica Neue"/>
                <a:cs typeface="Helvetica Neue"/>
              </a:defRPr>
            </a:lvl1pPr>
            <a:lvl2pPr>
              <a:buNone/>
              <a:defRPr sz="2250" b="1">
                <a:solidFill>
                  <a:srgbClr val="00A9D6"/>
                </a:solidFill>
                <a:latin typeface="Helvetica Neue"/>
                <a:ea typeface="Helvetica Neue"/>
                <a:cs typeface="Helvetica Neue"/>
              </a:defRPr>
            </a:lvl2pPr>
            <a:lvl3pPr>
              <a:buNone/>
              <a:defRPr sz="2250" b="1">
                <a:solidFill>
                  <a:srgbClr val="00A9D6"/>
                </a:solidFill>
                <a:latin typeface="Helvetica Neue"/>
                <a:ea typeface="Helvetica Neue"/>
                <a:cs typeface="Helvetica Neue"/>
              </a:defRPr>
            </a:lvl3pPr>
            <a:lvl4pPr>
              <a:buNone/>
              <a:defRPr sz="2250" b="1">
                <a:solidFill>
                  <a:srgbClr val="00A9D6"/>
                </a:solidFill>
                <a:latin typeface="Helvetica Neue"/>
                <a:ea typeface="Helvetica Neue"/>
                <a:cs typeface="Helvetica Neue"/>
              </a:defRPr>
            </a:lvl4pPr>
            <a:lvl5pPr>
              <a:buNone/>
              <a:defRPr sz="2250" b="1">
                <a:solidFill>
                  <a:srgbClr val="00A9D6"/>
                </a:solidFill>
                <a:latin typeface="Helvetica Neue"/>
                <a:ea typeface="Helvetica Neue"/>
                <a:cs typeface="Helvetica Neue"/>
              </a:defRPr>
            </a:lvl5pPr>
            <a:lvl6pPr>
              <a:buNone/>
              <a:defRPr sz="2250" b="1">
                <a:solidFill>
                  <a:srgbClr val="00A9D6"/>
                </a:solidFill>
                <a:latin typeface="Helvetica Neue"/>
                <a:ea typeface="Helvetica Neue"/>
                <a:cs typeface="Helvetica Neue"/>
              </a:defRPr>
            </a:lvl6pPr>
            <a:lvl7pPr>
              <a:buNone/>
              <a:defRPr sz="2250" b="1">
                <a:solidFill>
                  <a:srgbClr val="00A9D6"/>
                </a:solidFill>
                <a:latin typeface="Helvetica Neue"/>
                <a:ea typeface="Helvetica Neue"/>
                <a:cs typeface="Helvetica Neue"/>
              </a:defRPr>
            </a:lvl7pPr>
            <a:lvl8pPr>
              <a:buNone/>
              <a:defRPr sz="2250" b="1">
                <a:solidFill>
                  <a:srgbClr val="00A9D6"/>
                </a:solidFill>
                <a:latin typeface="Helvetica Neue"/>
                <a:ea typeface="Helvetica Neue"/>
                <a:cs typeface="Helvetica Neue"/>
              </a:defRPr>
            </a:lvl8pPr>
            <a:lvl9pPr>
              <a:buNone/>
              <a:defRPr sz="2250" b="1">
                <a:solidFill>
                  <a:srgbClr val="00A9D6"/>
                </a:solidFill>
                <a:latin typeface="Helvetica Neue"/>
                <a:ea typeface="Helvetica Neue"/>
                <a:cs typeface="Helvetica Neue"/>
              </a:defRPr>
            </a:lvl9pPr>
          </a:lstStyle>
          <a:p xmlns:a="http://schemas.openxmlformats.org/drawingml/2006/main">
            <a:pPr>
              <a:buNone/>
              <a:defRPr sz="2175" b="1">
                <a:solidFill>
                  <a:srgbClr val="00A9D6"/>
                </a:solidFill>
                <a:latin typeface="Helvetica Neue"/>
                <a:ea typeface="Helvetica Neue"/>
                <a:cs typeface="Helvetica Neue"/>
              </a:defRPr>
            </a:pPr>
            <a:r>
              <a:rPr sz="2175" b="1">
                <a:solidFill>
                  <a:srgbClr val="00A9D6"/>
                </a:solidFill>
                <a:latin typeface="Helvetica Neue"/>
                <a:ea typeface="Helvetica Neue"/>
                <a:cs typeface="Helvetica Neue"/>
              </a:rPr>
              <a:t>Separate three payment signals</a:t>
            </a:r>
          </a:p>
        </p:txBody>
      </p:sp>
      <p:sp>
        <p:nvSpPr>
          <p:cNvPr id="3" name="">
            <a:extLst xmlns:a="http://schemas.openxmlformats.org/drawingml/2006/main">
              <a:ext uri="{FF2B5EF4-FFF2-40B4-BE49-F238E27FC236}">
                <a16:creationId xmlns:a16="http://schemas.microsoft.com/office/drawing/2014/main" id="{68399BCF-E03B-490B-8EFA-CA17D77844DC}"/>
              </a:ext>
            </a:extLst>
          </p:cNvPr>
          <p:cNvSpPr>
            <a:spLocks xmlns:a="http://schemas.openxmlformats.org/drawingml/2006/main" noGrp="1"/>
          </p:cNvSpPr>
          <p:nvPr/>
        </p:nvSpPr>
        <p:spPr>
          <a:xfrm xmlns:a="http://schemas.openxmlformats.org/drawingml/2006/main">
            <a:off x="704850" y="201930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2325" b="1">
                <a:solidFill>
                  <a:srgbClr val="102F43"/>
                </a:solidFill>
                <a:latin typeface="Helvetica Neue"/>
                <a:ea typeface="Helvetica Neue"/>
                <a:cs typeface="Helvetica Neue"/>
              </a:defRPr>
            </a:lvl1pPr>
            <a:lvl2pPr>
              <a:buNone/>
              <a:defRPr sz="2325" b="1">
                <a:solidFill>
                  <a:srgbClr val="102F43"/>
                </a:solidFill>
                <a:latin typeface="Helvetica Neue"/>
                <a:ea typeface="Helvetica Neue"/>
                <a:cs typeface="Helvetica Neue"/>
              </a:defRPr>
            </a:lvl2pPr>
            <a:lvl3pPr>
              <a:buNone/>
              <a:defRPr sz="2325" b="1">
                <a:solidFill>
                  <a:srgbClr val="102F43"/>
                </a:solidFill>
                <a:latin typeface="Helvetica Neue"/>
                <a:ea typeface="Helvetica Neue"/>
                <a:cs typeface="Helvetica Neue"/>
              </a:defRPr>
            </a:lvl3pPr>
            <a:lvl4pPr>
              <a:buNone/>
              <a:defRPr sz="2325" b="1">
                <a:solidFill>
                  <a:srgbClr val="102F43"/>
                </a:solidFill>
                <a:latin typeface="Helvetica Neue"/>
                <a:ea typeface="Helvetica Neue"/>
                <a:cs typeface="Helvetica Neue"/>
              </a:defRPr>
            </a:lvl4pPr>
            <a:lvl5pPr>
              <a:buNone/>
              <a:defRPr sz="2325" b="1">
                <a:solidFill>
                  <a:srgbClr val="102F43"/>
                </a:solidFill>
                <a:latin typeface="Helvetica Neue"/>
                <a:ea typeface="Helvetica Neue"/>
                <a:cs typeface="Helvetica Neue"/>
              </a:defRPr>
            </a:lvl5pPr>
            <a:lvl6pPr>
              <a:buNone/>
              <a:defRPr sz="2325" b="1">
                <a:solidFill>
                  <a:srgbClr val="102F43"/>
                </a:solidFill>
                <a:latin typeface="Helvetica Neue"/>
                <a:ea typeface="Helvetica Neue"/>
                <a:cs typeface="Helvetica Neue"/>
              </a:defRPr>
            </a:lvl6pPr>
            <a:lvl7pPr>
              <a:buNone/>
              <a:defRPr sz="2325" b="1">
                <a:solidFill>
                  <a:srgbClr val="102F43"/>
                </a:solidFill>
                <a:latin typeface="Helvetica Neue"/>
                <a:ea typeface="Helvetica Neue"/>
                <a:cs typeface="Helvetica Neue"/>
              </a:defRPr>
            </a:lvl7pPr>
            <a:lvl8pPr>
              <a:buNone/>
              <a:defRPr sz="2325" b="1">
                <a:solidFill>
                  <a:srgbClr val="102F43"/>
                </a:solidFill>
                <a:latin typeface="Helvetica Neue"/>
                <a:ea typeface="Helvetica Neue"/>
                <a:cs typeface="Helvetica Neue"/>
              </a:defRPr>
            </a:lvl8pPr>
            <a:lvl9pPr>
              <a:buNone/>
              <a:defRPr sz="2325" b="1">
                <a:solidFill>
                  <a:srgbClr val="102F43"/>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Payment record</a:t>
            </a:r>
          </a:p>
        </p:txBody>
      </p:sp>
      <p:sp>
        <p:nvSpPr>
          <p:cNvPr id="4" name="">
            <a:extLst xmlns:a="http://schemas.openxmlformats.org/drawingml/2006/main">
              <a:ext uri="{FF2B5EF4-FFF2-40B4-BE49-F238E27FC236}">
                <a16:creationId xmlns:a16="http://schemas.microsoft.com/office/drawing/2014/main" id="{0601FB16-0850-4FE5-9617-B0D6ED1790F0}"/>
              </a:ext>
            </a:extLst>
          </p:cNvPr>
          <p:cNvSpPr>
            <a:spLocks xmlns:a="http://schemas.openxmlformats.org/drawingml/2006/main" noGrp="1"/>
          </p:cNvSpPr>
          <p:nvPr/>
        </p:nvSpPr>
        <p:spPr>
          <a:xfrm xmlns:a="http://schemas.openxmlformats.org/drawingml/2006/main">
            <a:off x="704850" y="2419350"/>
            <a:ext cx="5095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Does the merchant app show a successful entry?</a:t>
            </a:r>
          </a:p>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Keep this separate from audio and bank credit.</a:t>
            </a:r>
          </a:p>
        </p:txBody>
      </p:sp>
      <p:sp>
        <p:nvSpPr>
          <p:cNvPr id="5" name="">
            <a:extLst xmlns:a="http://schemas.openxmlformats.org/drawingml/2006/main">
              <a:ext uri="{FF2B5EF4-FFF2-40B4-BE49-F238E27FC236}">
                <a16:creationId xmlns:a16="http://schemas.microsoft.com/office/drawing/2014/main" id="{337E0D29-D5C7-42AA-AFBB-82916E75D07C}"/>
              </a:ext>
            </a:extLst>
          </p:cNvPr>
          <p:cNvSpPr>
            <a:spLocks xmlns:a="http://schemas.openxmlformats.org/drawingml/2006/main" noGrp="1"/>
          </p:cNvSpPr>
          <p:nvPr/>
        </p:nvSpPr>
        <p:spPr>
          <a:xfrm xmlns:a="http://schemas.openxmlformats.org/drawingml/2006/main">
            <a:off x="704850" y="334327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2250" b="1">
                <a:solidFill>
                  <a:srgbClr val="00A9D6"/>
                </a:solidFill>
                <a:latin typeface="Helvetica Neue"/>
                <a:ea typeface="Helvetica Neue"/>
                <a:cs typeface="Helvetica Neue"/>
              </a:defRPr>
            </a:lvl1pPr>
            <a:lvl2pPr>
              <a:buNone/>
              <a:defRPr sz="2250" b="1">
                <a:solidFill>
                  <a:srgbClr val="00A9D6"/>
                </a:solidFill>
                <a:latin typeface="Helvetica Neue"/>
                <a:ea typeface="Helvetica Neue"/>
                <a:cs typeface="Helvetica Neue"/>
              </a:defRPr>
            </a:lvl2pPr>
            <a:lvl3pPr>
              <a:buNone/>
              <a:defRPr sz="2250" b="1">
                <a:solidFill>
                  <a:srgbClr val="00A9D6"/>
                </a:solidFill>
                <a:latin typeface="Helvetica Neue"/>
                <a:ea typeface="Helvetica Neue"/>
                <a:cs typeface="Helvetica Neue"/>
              </a:defRPr>
            </a:lvl3pPr>
            <a:lvl4pPr>
              <a:buNone/>
              <a:defRPr sz="2250" b="1">
                <a:solidFill>
                  <a:srgbClr val="00A9D6"/>
                </a:solidFill>
                <a:latin typeface="Helvetica Neue"/>
                <a:ea typeface="Helvetica Neue"/>
                <a:cs typeface="Helvetica Neue"/>
              </a:defRPr>
            </a:lvl4pPr>
            <a:lvl5pPr>
              <a:buNone/>
              <a:defRPr sz="2250" b="1">
                <a:solidFill>
                  <a:srgbClr val="00A9D6"/>
                </a:solidFill>
                <a:latin typeface="Helvetica Neue"/>
                <a:ea typeface="Helvetica Neue"/>
                <a:cs typeface="Helvetica Neue"/>
              </a:defRPr>
            </a:lvl5pPr>
            <a:lvl6pPr>
              <a:buNone/>
              <a:defRPr sz="2250" b="1">
                <a:solidFill>
                  <a:srgbClr val="00A9D6"/>
                </a:solidFill>
                <a:latin typeface="Helvetica Neue"/>
                <a:ea typeface="Helvetica Neue"/>
                <a:cs typeface="Helvetica Neue"/>
              </a:defRPr>
            </a:lvl6pPr>
            <a:lvl7pPr>
              <a:buNone/>
              <a:defRPr sz="2250" b="1">
                <a:solidFill>
                  <a:srgbClr val="00A9D6"/>
                </a:solidFill>
                <a:latin typeface="Helvetica Neue"/>
                <a:ea typeface="Helvetica Neue"/>
                <a:cs typeface="Helvetica Neue"/>
              </a:defRPr>
            </a:lvl7pPr>
            <a:lvl8pPr>
              <a:buNone/>
              <a:defRPr sz="2250" b="1">
                <a:solidFill>
                  <a:srgbClr val="00A9D6"/>
                </a:solidFill>
                <a:latin typeface="Helvetica Neue"/>
                <a:ea typeface="Helvetica Neue"/>
                <a:cs typeface="Helvetica Neue"/>
              </a:defRPr>
            </a:lvl8pPr>
            <a:lvl9pPr>
              <a:buNone/>
              <a:defRPr sz="2250" b="1">
                <a:solidFill>
                  <a:srgbClr val="00A9D6"/>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Bank settlement</a:t>
            </a:r>
          </a:p>
        </p:txBody>
      </p:sp>
      <p:sp>
        <p:nvSpPr>
          <p:cNvPr id="6" name="">
            <a:extLst xmlns:a="http://schemas.openxmlformats.org/drawingml/2006/main">
              <a:ext uri="{FF2B5EF4-FFF2-40B4-BE49-F238E27FC236}">
                <a16:creationId xmlns:a16="http://schemas.microsoft.com/office/drawing/2014/main" id="{901F183E-6DFA-4502-A5DA-194CE2FD78A5}"/>
              </a:ext>
            </a:extLst>
          </p:cNvPr>
          <p:cNvSpPr>
            <a:spLocks xmlns:a="http://schemas.openxmlformats.org/drawingml/2006/main" noGrp="1"/>
          </p:cNvSpPr>
          <p:nvPr/>
        </p:nvSpPr>
        <p:spPr>
          <a:xfrm xmlns:a="http://schemas.openxmlformats.org/drawingml/2006/main">
            <a:off x="704850" y="3743325"/>
            <a:ext cx="5095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2325" b="1">
                <a:solidFill>
                  <a:srgbClr val="102F43"/>
                </a:solidFill>
                <a:latin typeface="Helvetica Neue"/>
                <a:ea typeface="Helvetica Neue"/>
                <a:cs typeface="Helvetica Neue"/>
              </a:defRPr>
            </a:lvl1pPr>
            <a:lvl2pPr>
              <a:buNone/>
              <a:defRPr sz="2325" b="1">
                <a:solidFill>
                  <a:srgbClr val="102F43"/>
                </a:solidFill>
                <a:latin typeface="Helvetica Neue"/>
                <a:ea typeface="Helvetica Neue"/>
                <a:cs typeface="Helvetica Neue"/>
              </a:defRPr>
            </a:lvl2pPr>
            <a:lvl3pPr>
              <a:buNone/>
              <a:defRPr sz="2325" b="1">
                <a:solidFill>
                  <a:srgbClr val="102F43"/>
                </a:solidFill>
                <a:latin typeface="Helvetica Neue"/>
                <a:ea typeface="Helvetica Neue"/>
                <a:cs typeface="Helvetica Neue"/>
              </a:defRPr>
            </a:lvl3pPr>
            <a:lvl4pPr>
              <a:buNone/>
              <a:defRPr sz="2325" b="1">
                <a:solidFill>
                  <a:srgbClr val="102F43"/>
                </a:solidFill>
                <a:latin typeface="Helvetica Neue"/>
                <a:ea typeface="Helvetica Neue"/>
                <a:cs typeface="Helvetica Neue"/>
              </a:defRPr>
            </a:lvl4pPr>
            <a:lvl5pPr>
              <a:buNone/>
              <a:defRPr sz="2325" b="1">
                <a:solidFill>
                  <a:srgbClr val="102F43"/>
                </a:solidFill>
                <a:latin typeface="Helvetica Neue"/>
                <a:ea typeface="Helvetica Neue"/>
                <a:cs typeface="Helvetica Neue"/>
              </a:defRPr>
            </a:lvl5pPr>
            <a:lvl6pPr>
              <a:buNone/>
              <a:defRPr sz="2325" b="1">
                <a:solidFill>
                  <a:srgbClr val="102F43"/>
                </a:solidFill>
                <a:latin typeface="Helvetica Neue"/>
                <a:ea typeface="Helvetica Neue"/>
                <a:cs typeface="Helvetica Neue"/>
              </a:defRPr>
            </a:lvl6pPr>
            <a:lvl7pPr>
              <a:buNone/>
              <a:defRPr sz="2325" b="1">
                <a:solidFill>
                  <a:srgbClr val="102F43"/>
                </a:solidFill>
                <a:latin typeface="Helvetica Neue"/>
                <a:ea typeface="Helvetica Neue"/>
                <a:cs typeface="Helvetica Neue"/>
              </a:defRPr>
            </a:lvl7pPr>
            <a:lvl8pPr>
              <a:buNone/>
              <a:defRPr sz="2325" b="1">
                <a:solidFill>
                  <a:srgbClr val="102F43"/>
                </a:solidFill>
                <a:latin typeface="Helvetica Neue"/>
                <a:ea typeface="Helvetica Neue"/>
                <a:cs typeface="Helvetica Neue"/>
              </a:defRPr>
            </a:lvl8pPr>
            <a:lvl9pPr>
              <a:buNone/>
              <a:defRPr sz="2325" b="1">
                <a:solidFill>
                  <a:srgbClr val="102F43"/>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Has the merchant checked the bank statement?</a:t>
            </a:r>
          </a:p>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If not, preserve “not checked” as an unknown.</a:t>
            </a:r>
          </a:p>
        </p:txBody>
      </p:sp>
      <p:sp>
        <p:nvSpPr>
          <p:cNvPr id="7" name="">
            <a:extLst xmlns:a="http://schemas.openxmlformats.org/drawingml/2006/main">
              <a:ext uri="{FF2B5EF4-FFF2-40B4-BE49-F238E27FC236}">
                <a16:creationId xmlns:a16="http://schemas.microsoft.com/office/drawing/2014/main" id="{372B84BF-A5A9-4E98-B28B-24466338E30E}"/>
              </a:ext>
            </a:extLst>
          </p:cNvPr>
          <p:cNvSpPr>
            <a:spLocks xmlns:a="http://schemas.openxmlformats.org/drawingml/2006/main" noGrp="1"/>
          </p:cNvSpPr>
          <p:nvPr/>
        </p:nvSpPr>
        <p:spPr>
          <a:xfrm xmlns:a="http://schemas.openxmlformats.org/drawingml/2006/main">
            <a:off x="704850" y="46672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Soundbox announcement</a:t>
            </a:r>
          </a:p>
        </p:txBody>
      </p:sp>
      <p:sp>
        <p:nvSpPr>
          <p:cNvPr id="8" name="">
            <a:extLst xmlns:a="http://schemas.openxmlformats.org/drawingml/2006/main">
              <a:ext uri="{FF2B5EF4-FFF2-40B4-BE49-F238E27FC236}">
                <a16:creationId xmlns:a16="http://schemas.microsoft.com/office/drawing/2014/main" id="{D7AF189F-6FDF-49F8-8D90-4EE2A95063B4}"/>
              </a:ext>
            </a:extLst>
          </p:cNvPr>
          <p:cNvSpPr>
            <a:spLocks xmlns:a="http://schemas.openxmlformats.org/drawingml/2006/main" noGrp="1"/>
          </p:cNvSpPr>
          <p:nvPr/>
        </p:nvSpPr>
        <p:spPr>
          <a:xfrm xmlns:a="http://schemas.openxmlformats.org/drawingml/2006/main">
            <a:off x="704850" y="5067300"/>
            <a:ext cx="5095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2250" b="1">
                <a:solidFill>
                  <a:srgbClr val="00A9D6"/>
                </a:solidFill>
                <a:latin typeface="Helvetica Neue"/>
                <a:ea typeface="Helvetica Neue"/>
                <a:cs typeface="Helvetica Neue"/>
              </a:defRPr>
            </a:lvl1pPr>
            <a:lvl2pPr>
              <a:buNone/>
              <a:defRPr sz="2250" b="1">
                <a:solidFill>
                  <a:srgbClr val="00A9D6"/>
                </a:solidFill>
                <a:latin typeface="Helvetica Neue"/>
                <a:ea typeface="Helvetica Neue"/>
                <a:cs typeface="Helvetica Neue"/>
              </a:defRPr>
            </a:lvl2pPr>
            <a:lvl3pPr>
              <a:buNone/>
              <a:defRPr sz="2250" b="1">
                <a:solidFill>
                  <a:srgbClr val="00A9D6"/>
                </a:solidFill>
                <a:latin typeface="Helvetica Neue"/>
                <a:ea typeface="Helvetica Neue"/>
                <a:cs typeface="Helvetica Neue"/>
              </a:defRPr>
            </a:lvl3pPr>
            <a:lvl4pPr>
              <a:buNone/>
              <a:defRPr sz="2250" b="1">
                <a:solidFill>
                  <a:srgbClr val="00A9D6"/>
                </a:solidFill>
                <a:latin typeface="Helvetica Neue"/>
                <a:ea typeface="Helvetica Neue"/>
                <a:cs typeface="Helvetica Neue"/>
              </a:defRPr>
            </a:lvl4pPr>
            <a:lvl5pPr>
              <a:buNone/>
              <a:defRPr sz="2250" b="1">
                <a:solidFill>
                  <a:srgbClr val="00A9D6"/>
                </a:solidFill>
                <a:latin typeface="Helvetica Neue"/>
                <a:ea typeface="Helvetica Neue"/>
                <a:cs typeface="Helvetica Neue"/>
              </a:defRPr>
            </a:lvl5pPr>
            <a:lvl6pPr>
              <a:buNone/>
              <a:defRPr sz="2250" b="1">
                <a:solidFill>
                  <a:srgbClr val="00A9D6"/>
                </a:solidFill>
                <a:latin typeface="Helvetica Neue"/>
                <a:ea typeface="Helvetica Neue"/>
                <a:cs typeface="Helvetica Neue"/>
              </a:defRPr>
            </a:lvl6pPr>
            <a:lvl7pPr>
              <a:buNone/>
              <a:defRPr sz="2250" b="1">
                <a:solidFill>
                  <a:srgbClr val="00A9D6"/>
                </a:solidFill>
                <a:latin typeface="Helvetica Neue"/>
                <a:ea typeface="Helvetica Neue"/>
                <a:cs typeface="Helvetica Neue"/>
              </a:defRPr>
            </a:lvl7pPr>
            <a:lvl8pPr>
              <a:buNone/>
              <a:defRPr sz="2250" b="1">
                <a:solidFill>
                  <a:srgbClr val="00A9D6"/>
                </a:solidFill>
                <a:latin typeface="Helvetica Neue"/>
                <a:ea typeface="Helvetica Neue"/>
                <a:cs typeface="Helvetica Neue"/>
              </a:defRPr>
            </a:lvl8pPr>
            <a:lvl9pPr>
              <a:buNone/>
              <a:defRPr sz="2250" b="1">
                <a:solidFill>
                  <a:srgbClr val="00A9D6"/>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Was only the announcement missing?</a:t>
            </a:r>
          </a:p>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Do not infer a network fault or a financial loss.</a:t>
            </a:r>
          </a:p>
        </p:txBody>
      </p:sp>
      <p:sp>
        <p:nvSpPr>
          <p:cNvPr id="9" name="">
            <a:extLst xmlns:a="http://schemas.openxmlformats.org/drawingml/2006/main">
              <a:ext uri="{FF2B5EF4-FFF2-40B4-BE49-F238E27FC236}">
                <a16:creationId xmlns:a16="http://schemas.microsoft.com/office/drawing/2014/main" id="{6F864814-B847-4D3F-BCE6-A5F709F89541}"/>
              </a:ext>
            </a:extLst>
          </p:cNvPr>
          <p:cNvSpPr>
            <a:spLocks xmlns:a="http://schemas.openxmlformats.org/drawingml/2006/main" noGrp="1"/>
          </p:cNvSpPr>
          <p:nvPr/>
        </p:nvSpPr>
        <p:spPr>
          <a:xfrm xmlns:a="http://schemas.openxmlformats.org/drawingml/2006/main">
            <a:off x="6343650" y="140970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0A9D6"/>
                </a:solidFill>
                <a:latin typeface="Helvetica Neue"/>
                <a:ea typeface="Helvetica Neue"/>
                <a:cs typeface="Helvetica Neue"/>
              </a:defRPr>
            </a:defPPr>
            <a:lvl1pPr>
              <a:buNone/>
              <a:defRPr sz="2325" b="1">
                <a:solidFill>
                  <a:srgbClr val="102F43"/>
                </a:solidFill>
                <a:latin typeface="Helvetica Neue"/>
                <a:ea typeface="Helvetica Neue"/>
                <a:cs typeface="Helvetica Neue"/>
              </a:defRPr>
            </a:lvl1pPr>
            <a:lvl2pPr>
              <a:buNone/>
              <a:defRPr sz="2325" b="1">
                <a:solidFill>
                  <a:srgbClr val="102F43"/>
                </a:solidFill>
                <a:latin typeface="Helvetica Neue"/>
                <a:ea typeface="Helvetica Neue"/>
                <a:cs typeface="Helvetica Neue"/>
              </a:defRPr>
            </a:lvl2pPr>
            <a:lvl3pPr>
              <a:buNone/>
              <a:defRPr sz="2325" b="1">
                <a:solidFill>
                  <a:srgbClr val="102F43"/>
                </a:solidFill>
                <a:latin typeface="Helvetica Neue"/>
                <a:ea typeface="Helvetica Neue"/>
                <a:cs typeface="Helvetica Neue"/>
              </a:defRPr>
            </a:lvl3pPr>
            <a:lvl4pPr>
              <a:buNone/>
              <a:defRPr sz="2325" b="1">
                <a:solidFill>
                  <a:srgbClr val="102F43"/>
                </a:solidFill>
                <a:latin typeface="Helvetica Neue"/>
                <a:ea typeface="Helvetica Neue"/>
                <a:cs typeface="Helvetica Neue"/>
              </a:defRPr>
            </a:lvl4pPr>
            <a:lvl5pPr>
              <a:buNone/>
              <a:defRPr sz="2325" b="1">
                <a:solidFill>
                  <a:srgbClr val="102F43"/>
                </a:solidFill>
                <a:latin typeface="Helvetica Neue"/>
                <a:ea typeface="Helvetica Neue"/>
                <a:cs typeface="Helvetica Neue"/>
              </a:defRPr>
            </a:lvl5pPr>
            <a:lvl6pPr>
              <a:buNone/>
              <a:defRPr sz="2325" b="1">
                <a:solidFill>
                  <a:srgbClr val="102F43"/>
                </a:solidFill>
                <a:latin typeface="Helvetica Neue"/>
                <a:ea typeface="Helvetica Neue"/>
                <a:cs typeface="Helvetica Neue"/>
              </a:defRPr>
            </a:lvl6pPr>
            <a:lvl7pPr>
              <a:buNone/>
              <a:defRPr sz="2325" b="1">
                <a:solidFill>
                  <a:srgbClr val="102F43"/>
                </a:solidFill>
                <a:latin typeface="Helvetica Neue"/>
                <a:ea typeface="Helvetica Neue"/>
                <a:cs typeface="Helvetica Neue"/>
              </a:defRPr>
            </a:lvl7pPr>
            <a:lvl8pPr>
              <a:buNone/>
              <a:defRPr sz="2325" b="1">
                <a:solidFill>
                  <a:srgbClr val="102F43"/>
                </a:solidFill>
                <a:latin typeface="Helvetica Neue"/>
                <a:ea typeface="Helvetica Neue"/>
                <a:cs typeface="Helvetica Neue"/>
              </a:defRPr>
            </a:lvl8pPr>
            <a:lvl9pPr>
              <a:buNone/>
              <a:defRPr sz="2325" b="1">
                <a:solidFill>
                  <a:srgbClr val="102F43"/>
                </a:solidFill>
                <a:latin typeface="Helvetica Neue"/>
                <a:ea typeface="Helvetica Neue"/>
                <a:cs typeface="Helvetica Neue"/>
              </a:defRPr>
            </a:lvl9pPr>
          </a:lstStyle>
          <a:p xmlns:a="http://schemas.openxmlformats.org/drawingml/2006/main">
            <a:pPr>
              <a:buNone/>
              <a:defRPr sz="2175" b="1">
                <a:solidFill>
                  <a:srgbClr val="00A9D6"/>
                </a:solidFill>
                <a:latin typeface="Helvetica Neue"/>
                <a:ea typeface="Helvetica Neue"/>
                <a:cs typeface="Helvetica Neue"/>
              </a:defRPr>
            </a:pPr>
            <a:r>
              <a:rPr sz="2175" b="1">
                <a:solidFill>
                  <a:srgbClr val="00A9D6"/>
                </a:solidFill>
                <a:latin typeface="Helvetica Neue"/>
                <a:ea typeface="Helvetica Neue"/>
                <a:cs typeface="Helvetica Neue"/>
              </a:rPr>
              <a:t>What the reviewed brief contains</a:t>
            </a:r>
          </a:p>
        </p:txBody>
      </p:sp>
      <p:sp>
        <p:nvSpPr>
          <p:cNvPr id="10" name="">
            <a:extLst xmlns:a="http://schemas.openxmlformats.org/drawingml/2006/main">
              <a:ext uri="{FF2B5EF4-FFF2-40B4-BE49-F238E27FC236}">
                <a16:creationId xmlns:a16="http://schemas.microsoft.com/office/drawing/2014/main" id="{85B8BBD3-B9E0-429F-86F5-A2FAA1B623C6}"/>
              </a:ext>
            </a:extLst>
          </p:cNvPr>
          <p:cNvSpPr>
            <a:spLocks xmlns:a="http://schemas.openxmlformats.org/drawingml/2006/main" noGrp="1"/>
          </p:cNvSpPr>
          <p:nvPr/>
        </p:nvSpPr>
        <p:spPr>
          <a:xfrm xmlns:a="http://schemas.openxmlformats.org/drawingml/2006/main">
            <a:off x="6343650" y="201930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Problem and operating context</a:t>
            </a:r>
          </a:p>
        </p:txBody>
      </p:sp>
      <p:sp>
        <p:nvSpPr>
          <p:cNvPr id="11" name="">
            <a:extLst xmlns:a="http://schemas.openxmlformats.org/drawingml/2006/main">
              <a:ext uri="{FF2B5EF4-FFF2-40B4-BE49-F238E27FC236}">
                <a16:creationId xmlns:a16="http://schemas.microsoft.com/office/drawing/2014/main" id="{9E60FA78-7639-46FA-A160-B8F2294A8B47}"/>
              </a:ext>
            </a:extLst>
          </p:cNvPr>
          <p:cNvSpPr>
            <a:spLocks xmlns:a="http://schemas.openxmlformats.org/drawingml/2006/main" noGrp="1"/>
          </p:cNvSpPr>
          <p:nvPr/>
        </p:nvSpPr>
        <p:spPr>
          <a:xfrm xmlns:a="http://schemas.openxmlformats.org/drawingml/2006/main">
            <a:off x="6343650" y="2419350"/>
            <a:ext cx="5095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5700" b="1">
                <a:solidFill>
                  <a:srgbClr val="102F43"/>
                </a:solidFill>
                <a:latin typeface="Helvetica Neue"/>
                <a:ea typeface="Helvetica Neue"/>
                <a:cs typeface="Helvetica Neue"/>
              </a:defRPr>
            </a:lvl1pPr>
            <a:lvl2pPr>
              <a:buNone/>
              <a:defRPr sz="5700" b="1">
                <a:solidFill>
                  <a:srgbClr val="102F43"/>
                </a:solidFill>
                <a:latin typeface="Helvetica Neue"/>
                <a:ea typeface="Helvetica Neue"/>
                <a:cs typeface="Helvetica Neue"/>
              </a:defRPr>
            </a:lvl2pPr>
            <a:lvl3pPr>
              <a:buNone/>
              <a:defRPr sz="5700" b="1">
                <a:solidFill>
                  <a:srgbClr val="102F43"/>
                </a:solidFill>
                <a:latin typeface="Helvetica Neue"/>
                <a:ea typeface="Helvetica Neue"/>
                <a:cs typeface="Helvetica Neue"/>
              </a:defRPr>
            </a:lvl3pPr>
            <a:lvl4pPr>
              <a:buNone/>
              <a:defRPr sz="5700" b="1">
                <a:solidFill>
                  <a:srgbClr val="102F43"/>
                </a:solidFill>
                <a:latin typeface="Helvetica Neue"/>
                <a:ea typeface="Helvetica Neue"/>
                <a:cs typeface="Helvetica Neue"/>
              </a:defRPr>
            </a:lvl4pPr>
            <a:lvl5pPr>
              <a:buNone/>
              <a:defRPr sz="5700" b="1">
                <a:solidFill>
                  <a:srgbClr val="102F43"/>
                </a:solidFill>
                <a:latin typeface="Helvetica Neue"/>
                <a:ea typeface="Helvetica Neue"/>
                <a:cs typeface="Helvetica Neue"/>
              </a:defRPr>
            </a:lvl5pPr>
            <a:lvl6pPr>
              <a:buNone/>
              <a:defRPr sz="5700" b="1">
                <a:solidFill>
                  <a:srgbClr val="102F43"/>
                </a:solidFill>
                <a:latin typeface="Helvetica Neue"/>
                <a:ea typeface="Helvetica Neue"/>
                <a:cs typeface="Helvetica Neue"/>
              </a:defRPr>
            </a:lvl6pPr>
            <a:lvl7pPr>
              <a:buNone/>
              <a:defRPr sz="5700" b="1">
                <a:solidFill>
                  <a:srgbClr val="102F43"/>
                </a:solidFill>
                <a:latin typeface="Helvetica Neue"/>
                <a:ea typeface="Helvetica Neue"/>
                <a:cs typeface="Helvetica Neue"/>
              </a:defRPr>
            </a:lvl7pPr>
            <a:lvl8pPr>
              <a:buNone/>
              <a:defRPr sz="5700" b="1">
                <a:solidFill>
                  <a:srgbClr val="102F43"/>
                </a:solidFill>
                <a:latin typeface="Helvetica Neue"/>
                <a:ea typeface="Helvetica Neue"/>
                <a:cs typeface="Helvetica Neue"/>
              </a:defRPr>
            </a:lvl8pPr>
            <a:lvl9pPr>
              <a:buNone/>
              <a:defRPr sz="5700" b="1">
                <a:solidFill>
                  <a:srgbClr val="102F43"/>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Symptom, affected users, frequency, impact, workaround, prior attempts, constraints and desired outcome.</a:t>
            </a:r>
          </a:p>
        </p:txBody>
      </p:sp>
      <p:sp>
        <p:nvSpPr>
          <p:cNvPr id="12" name="">
            <a:extLst xmlns:a="http://schemas.openxmlformats.org/drawingml/2006/main">
              <a:ext uri="{FF2B5EF4-FFF2-40B4-BE49-F238E27FC236}">
                <a16:creationId xmlns:a16="http://schemas.microsoft.com/office/drawing/2014/main" id="{C5EBA453-A5D5-445B-ACDE-E0CE67186E8C}"/>
              </a:ext>
            </a:extLst>
          </p:cNvPr>
          <p:cNvSpPr>
            <a:spLocks xmlns:a="http://schemas.openxmlformats.org/drawingml/2006/main" noGrp="1"/>
          </p:cNvSpPr>
          <p:nvPr/>
        </p:nvSpPr>
        <p:spPr>
          <a:xfrm xmlns:a="http://schemas.openxmlformats.org/drawingml/2006/main">
            <a:off x="6343650" y="334327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2325" b="1">
                <a:solidFill>
                  <a:srgbClr val="102F43"/>
                </a:solidFill>
                <a:latin typeface="Helvetica Neue"/>
                <a:ea typeface="Helvetica Neue"/>
                <a:cs typeface="Helvetica Neue"/>
              </a:defRPr>
            </a:lvl1pPr>
            <a:lvl2pPr>
              <a:buNone/>
              <a:defRPr sz="2325" b="1">
                <a:solidFill>
                  <a:srgbClr val="102F43"/>
                </a:solidFill>
                <a:latin typeface="Helvetica Neue"/>
                <a:ea typeface="Helvetica Neue"/>
                <a:cs typeface="Helvetica Neue"/>
              </a:defRPr>
            </a:lvl2pPr>
            <a:lvl3pPr>
              <a:buNone/>
              <a:defRPr sz="2325" b="1">
                <a:solidFill>
                  <a:srgbClr val="102F43"/>
                </a:solidFill>
                <a:latin typeface="Helvetica Neue"/>
                <a:ea typeface="Helvetica Neue"/>
                <a:cs typeface="Helvetica Neue"/>
              </a:defRPr>
            </a:lvl3pPr>
            <a:lvl4pPr>
              <a:buNone/>
              <a:defRPr sz="2325" b="1">
                <a:solidFill>
                  <a:srgbClr val="102F43"/>
                </a:solidFill>
                <a:latin typeface="Helvetica Neue"/>
                <a:ea typeface="Helvetica Neue"/>
                <a:cs typeface="Helvetica Neue"/>
              </a:defRPr>
            </a:lvl4pPr>
            <a:lvl5pPr>
              <a:buNone/>
              <a:defRPr sz="2325" b="1">
                <a:solidFill>
                  <a:srgbClr val="102F43"/>
                </a:solidFill>
                <a:latin typeface="Helvetica Neue"/>
                <a:ea typeface="Helvetica Neue"/>
                <a:cs typeface="Helvetica Neue"/>
              </a:defRPr>
            </a:lvl5pPr>
            <a:lvl6pPr>
              <a:buNone/>
              <a:defRPr sz="2325" b="1">
                <a:solidFill>
                  <a:srgbClr val="102F43"/>
                </a:solidFill>
                <a:latin typeface="Helvetica Neue"/>
                <a:ea typeface="Helvetica Neue"/>
                <a:cs typeface="Helvetica Neue"/>
              </a:defRPr>
            </a:lvl6pPr>
            <a:lvl7pPr>
              <a:buNone/>
              <a:defRPr sz="2325" b="1">
                <a:solidFill>
                  <a:srgbClr val="102F43"/>
                </a:solidFill>
                <a:latin typeface="Helvetica Neue"/>
                <a:ea typeface="Helvetica Neue"/>
                <a:cs typeface="Helvetica Neue"/>
              </a:defRPr>
            </a:lvl7pPr>
            <a:lvl8pPr>
              <a:buNone/>
              <a:defRPr sz="2325" b="1">
                <a:solidFill>
                  <a:srgbClr val="102F43"/>
                </a:solidFill>
                <a:latin typeface="Helvetica Neue"/>
                <a:ea typeface="Helvetica Neue"/>
                <a:cs typeface="Helvetica Neue"/>
              </a:defRPr>
            </a:lvl8pPr>
            <a:lvl9pPr>
              <a:buNone/>
              <a:defRPr sz="2325" b="1">
                <a:solidFill>
                  <a:srgbClr val="102F43"/>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Evidence and uncertainty</a:t>
            </a:r>
          </a:p>
        </p:txBody>
      </p:sp>
      <p:sp>
        <p:nvSpPr>
          <p:cNvPr id="13" name="">
            <a:extLst xmlns:a="http://schemas.openxmlformats.org/drawingml/2006/main">
              <a:ext uri="{FF2B5EF4-FFF2-40B4-BE49-F238E27FC236}">
                <a16:creationId xmlns:a16="http://schemas.microsoft.com/office/drawing/2014/main" id="{ADCCB305-2B1F-49F1-85F9-774F08977B28}"/>
              </a:ext>
            </a:extLst>
          </p:cNvPr>
          <p:cNvSpPr>
            <a:spLocks xmlns:a="http://schemas.openxmlformats.org/drawingml/2006/main" noGrp="1"/>
          </p:cNvSpPr>
          <p:nvPr/>
        </p:nvSpPr>
        <p:spPr>
          <a:xfrm xmlns:a="http://schemas.openxmlformats.org/drawingml/2006/main">
            <a:off x="6343650" y="3743325"/>
            <a:ext cx="5095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2100" b="0">
                <a:solidFill>
                  <a:srgbClr val="526B7C"/>
                </a:solidFill>
                <a:latin typeface="Helvetica Neue"/>
                <a:ea typeface="Helvetica Neue"/>
                <a:cs typeface="Helvetica Neue"/>
              </a:defRPr>
            </a:lvl1pPr>
            <a:lvl2pPr>
              <a:buNone/>
              <a:defRPr sz="2100" b="0">
                <a:solidFill>
                  <a:srgbClr val="526B7C"/>
                </a:solidFill>
                <a:latin typeface="Helvetica Neue"/>
                <a:ea typeface="Helvetica Neue"/>
                <a:cs typeface="Helvetica Neue"/>
              </a:defRPr>
            </a:lvl2pPr>
            <a:lvl3pPr>
              <a:buNone/>
              <a:defRPr sz="2100" b="0">
                <a:solidFill>
                  <a:srgbClr val="526B7C"/>
                </a:solidFill>
                <a:latin typeface="Helvetica Neue"/>
                <a:ea typeface="Helvetica Neue"/>
                <a:cs typeface="Helvetica Neue"/>
              </a:defRPr>
            </a:lvl3pPr>
            <a:lvl4pPr>
              <a:buNone/>
              <a:defRPr sz="2100" b="0">
                <a:solidFill>
                  <a:srgbClr val="526B7C"/>
                </a:solidFill>
                <a:latin typeface="Helvetica Neue"/>
                <a:ea typeface="Helvetica Neue"/>
                <a:cs typeface="Helvetica Neue"/>
              </a:defRPr>
            </a:lvl4pPr>
            <a:lvl5pPr>
              <a:buNone/>
              <a:defRPr sz="2100" b="0">
                <a:solidFill>
                  <a:srgbClr val="526B7C"/>
                </a:solidFill>
                <a:latin typeface="Helvetica Neue"/>
                <a:ea typeface="Helvetica Neue"/>
                <a:cs typeface="Helvetica Neue"/>
              </a:defRPr>
            </a:lvl5pPr>
            <a:lvl6pPr>
              <a:buNone/>
              <a:defRPr sz="2100" b="0">
                <a:solidFill>
                  <a:srgbClr val="526B7C"/>
                </a:solidFill>
                <a:latin typeface="Helvetica Neue"/>
                <a:ea typeface="Helvetica Neue"/>
                <a:cs typeface="Helvetica Neue"/>
              </a:defRPr>
            </a:lvl6pPr>
            <a:lvl7pPr>
              <a:buNone/>
              <a:defRPr sz="2100" b="0">
                <a:solidFill>
                  <a:srgbClr val="526B7C"/>
                </a:solidFill>
                <a:latin typeface="Helvetica Neue"/>
                <a:ea typeface="Helvetica Neue"/>
                <a:cs typeface="Helvetica Neue"/>
              </a:defRPr>
            </a:lvl7pPr>
            <a:lvl8pPr>
              <a:buNone/>
              <a:defRPr sz="2100" b="0">
                <a:solidFill>
                  <a:srgbClr val="526B7C"/>
                </a:solidFill>
                <a:latin typeface="Helvetica Neue"/>
                <a:ea typeface="Helvetica Neue"/>
                <a:cs typeface="Helvetica Neue"/>
              </a:defRPr>
            </a:lvl8pPr>
            <a:lvl9pPr>
              <a:buNone/>
              <a:defRPr sz="2100" b="0">
                <a:solidFill>
                  <a:srgbClr val="526B7C"/>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Observation → exact quote → turn ID. Estimates, corrections and unresolved questions stay visible.</a:t>
            </a:r>
          </a:p>
        </p:txBody>
      </p:sp>
      <p:sp>
        <p:nvSpPr>
          <p:cNvPr id="14" name="">
            <a:extLst xmlns:a="http://schemas.openxmlformats.org/drawingml/2006/main">
              <a:ext uri="{FF2B5EF4-FFF2-40B4-BE49-F238E27FC236}">
                <a16:creationId xmlns:a16="http://schemas.microsoft.com/office/drawing/2014/main" id="{C6FFA36A-932B-498D-AB2A-9401F13D762A}"/>
              </a:ext>
            </a:extLst>
          </p:cNvPr>
          <p:cNvSpPr>
            <a:spLocks xmlns:a="http://schemas.openxmlformats.org/drawingml/2006/main" noGrp="1"/>
          </p:cNvSpPr>
          <p:nvPr/>
        </p:nvSpPr>
        <p:spPr>
          <a:xfrm xmlns:a="http://schemas.openxmlformats.org/drawingml/2006/main">
            <a:off x="6343650" y="46672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1500" b="0">
                <a:solidFill>
                  <a:srgbClr val="526B7C"/>
                </a:solidFill>
                <a:latin typeface="Helvetica Neue"/>
                <a:ea typeface="Helvetica Neue"/>
                <a:cs typeface="Helvetica Neue"/>
              </a:defRPr>
            </a:lvl1pPr>
            <a:lvl2pPr>
              <a:buNone/>
              <a:defRPr sz="1500" b="0">
                <a:solidFill>
                  <a:srgbClr val="526B7C"/>
                </a:solidFill>
                <a:latin typeface="Helvetica Neue"/>
                <a:ea typeface="Helvetica Neue"/>
                <a:cs typeface="Helvetica Neue"/>
              </a:defRPr>
            </a:lvl2pPr>
            <a:lvl3pPr>
              <a:buNone/>
              <a:defRPr sz="1500" b="0">
                <a:solidFill>
                  <a:srgbClr val="526B7C"/>
                </a:solidFill>
                <a:latin typeface="Helvetica Neue"/>
                <a:ea typeface="Helvetica Neue"/>
                <a:cs typeface="Helvetica Neue"/>
              </a:defRPr>
            </a:lvl3pPr>
            <a:lvl4pPr>
              <a:buNone/>
              <a:defRPr sz="1500" b="0">
                <a:solidFill>
                  <a:srgbClr val="526B7C"/>
                </a:solidFill>
                <a:latin typeface="Helvetica Neue"/>
                <a:ea typeface="Helvetica Neue"/>
                <a:cs typeface="Helvetica Neue"/>
              </a:defRPr>
            </a:lvl4pPr>
            <a:lvl5pPr>
              <a:buNone/>
              <a:defRPr sz="1500" b="0">
                <a:solidFill>
                  <a:srgbClr val="526B7C"/>
                </a:solidFill>
                <a:latin typeface="Helvetica Neue"/>
                <a:ea typeface="Helvetica Neue"/>
                <a:cs typeface="Helvetica Neue"/>
              </a:defRPr>
            </a:lvl5pPr>
            <a:lvl6pPr>
              <a:buNone/>
              <a:defRPr sz="1500" b="0">
                <a:solidFill>
                  <a:srgbClr val="526B7C"/>
                </a:solidFill>
                <a:latin typeface="Helvetica Neue"/>
                <a:ea typeface="Helvetica Neue"/>
                <a:cs typeface="Helvetica Neue"/>
              </a:defRPr>
            </a:lvl6pPr>
            <a:lvl7pPr>
              <a:buNone/>
              <a:defRPr sz="1500" b="0">
                <a:solidFill>
                  <a:srgbClr val="526B7C"/>
                </a:solidFill>
                <a:latin typeface="Helvetica Neue"/>
                <a:ea typeface="Helvetica Neue"/>
                <a:cs typeface="Helvetica Neue"/>
              </a:defRPr>
            </a:lvl7pPr>
            <a:lvl8pPr>
              <a:buNone/>
              <a:defRPr sz="1500" b="0">
                <a:solidFill>
                  <a:srgbClr val="526B7C"/>
                </a:solidFill>
                <a:latin typeface="Helvetica Neue"/>
                <a:ea typeface="Helvetica Neue"/>
                <a:cs typeface="Helvetica Neue"/>
              </a:defRPr>
            </a:lvl8pPr>
            <a:lvl9pPr>
              <a:buNone/>
              <a:defRPr sz="1500" b="0">
                <a:solidFill>
                  <a:srgbClr val="526B7C"/>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Merchant control</a:t>
            </a:r>
          </a:p>
        </p:txBody>
      </p:sp>
      <p:sp>
        <p:nvSpPr>
          <p:cNvPr id="15" name="">
            <a:extLst xmlns:a="http://schemas.openxmlformats.org/drawingml/2006/main">
              <a:ext uri="{FF2B5EF4-FFF2-40B4-BE49-F238E27FC236}">
                <a16:creationId xmlns:a16="http://schemas.microsoft.com/office/drawing/2014/main" id="{96B617F3-2F1D-4833-8EB1-4FFC13994BE6}"/>
              </a:ext>
            </a:extLst>
          </p:cNvPr>
          <p:cNvSpPr>
            <a:spLocks xmlns:a="http://schemas.openxmlformats.org/drawingml/2006/main" noGrp="1"/>
          </p:cNvSpPr>
          <p:nvPr/>
        </p:nvSpPr>
        <p:spPr>
          <a:xfrm xmlns:a="http://schemas.openxmlformats.org/drawingml/2006/main">
            <a:off x="6343650" y="5067300"/>
            <a:ext cx="5095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1275" b="0">
                <a:solidFill>
                  <a:srgbClr val="526B7C"/>
                </a:solidFill>
                <a:latin typeface="Helvetica Neue"/>
                <a:ea typeface="Helvetica Neue"/>
                <a:cs typeface="Helvetica Neue"/>
              </a:defRPr>
            </a:lvl1pPr>
            <a:lvl2pPr>
              <a:buNone/>
              <a:defRPr sz="1275" b="0">
                <a:solidFill>
                  <a:srgbClr val="526B7C"/>
                </a:solidFill>
                <a:latin typeface="Helvetica Neue"/>
                <a:ea typeface="Helvetica Neue"/>
                <a:cs typeface="Helvetica Neue"/>
              </a:defRPr>
            </a:lvl2pPr>
            <a:lvl3pPr>
              <a:buNone/>
              <a:defRPr sz="1275" b="0">
                <a:solidFill>
                  <a:srgbClr val="526B7C"/>
                </a:solidFill>
                <a:latin typeface="Helvetica Neue"/>
                <a:ea typeface="Helvetica Neue"/>
                <a:cs typeface="Helvetica Neue"/>
              </a:defRPr>
            </a:lvl3pPr>
            <a:lvl4pPr>
              <a:buNone/>
              <a:defRPr sz="1275" b="0">
                <a:solidFill>
                  <a:srgbClr val="526B7C"/>
                </a:solidFill>
                <a:latin typeface="Helvetica Neue"/>
                <a:ea typeface="Helvetica Neue"/>
                <a:cs typeface="Helvetica Neue"/>
              </a:defRPr>
            </a:lvl4pPr>
            <a:lvl5pPr>
              <a:buNone/>
              <a:defRPr sz="1275" b="0">
                <a:solidFill>
                  <a:srgbClr val="526B7C"/>
                </a:solidFill>
                <a:latin typeface="Helvetica Neue"/>
                <a:ea typeface="Helvetica Neue"/>
                <a:cs typeface="Helvetica Neue"/>
              </a:defRPr>
            </a:lvl5pPr>
            <a:lvl6pPr>
              <a:buNone/>
              <a:defRPr sz="1275" b="0">
                <a:solidFill>
                  <a:srgbClr val="526B7C"/>
                </a:solidFill>
                <a:latin typeface="Helvetica Neue"/>
                <a:ea typeface="Helvetica Neue"/>
                <a:cs typeface="Helvetica Neue"/>
              </a:defRPr>
            </a:lvl6pPr>
            <a:lvl7pPr>
              <a:buNone/>
              <a:defRPr sz="1275" b="0">
                <a:solidFill>
                  <a:srgbClr val="526B7C"/>
                </a:solidFill>
                <a:latin typeface="Helvetica Neue"/>
                <a:ea typeface="Helvetica Neue"/>
                <a:cs typeface="Helvetica Neue"/>
              </a:defRPr>
            </a:lvl7pPr>
            <a:lvl8pPr>
              <a:buNone/>
              <a:defRPr sz="1275" b="0">
                <a:solidFill>
                  <a:srgbClr val="526B7C"/>
                </a:solidFill>
                <a:latin typeface="Helvetica Neue"/>
                <a:ea typeface="Helvetica Neue"/>
                <a:cs typeface="Helvetica Neue"/>
              </a:defRPr>
            </a:lvl8pPr>
            <a:lvl9pPr>
              <a:buNone/>
              <a:defRPr sz="1275" b="0">
                <a:solidFill>
                  <a:srgbClr val="526B7C"/>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Correct or redact details; approve internal and anonymized versions separately; export JSON or Markdown.</a:t>
            </a:r>
          </a:p>
        </p:txBody>
      </p:sp>
      <p:sp>
        <p:nvSpPr>
          <p:cNvPr id="16" name="">
            <a:extLst xmlns:a="http://schemas.openxmlformats.org/drawingml/2006/main">
              <a:ext uri="{FF2B5EF4-FFF2-40B4-BE49-F238E27FC236}">
                <a16:creationId xmlns:a16="http://schemas.microsoft.com/office/drawing/2014/main" id="{54AE587E-1076-4165-B242-A7E074E46C1B}"/>
              </a:ext>
            </a:extLst>
          </p:cNvPr>
          <p:cNvSpPr>
            <a:spLocks xmlns:a="http://schemas.openxmlformats.org/drawingml/2006/main" noGrp="1"/>
          </p:cNvSpPr>
          <p:nvPr/>
        </p:nvSpPr>
        <p:spPr>
          <a:xfrm xmlns:a="http://schemas.openxmlformats.org/drawingml/2006/main">
            <a:off x="704850" y="59912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102F43"/>
                </a:solidFill>
                <a:latin typeface="Helvetica Neue"/>
                <a:ea typeface="Helvetica Neue"/>
                <a:cs typeface="Helvetica Neue"/>
              </a:defRPr>
            </a:defPPr>
            <a:lvl1pPr>
              <a:buNone/>
              <a:defRPr sz="1275" b="0">
                <a:solidFill>
                  <a:srgbClr val="526B7C"/>
                </a:solidFill>
                <a:latin typeface="Helvetica Neue"/>
                <a:ea typeface="Helvetica Neue"/>
                <a:cs typeface="Helvetica Neue"/>
              </a:defRPr>
            </a:lvl1pPr>
            <a:lvl2pPr>
              <a:buNone/>
              <a:defRPr sz="1275" b="0">
                <a:solidFill>
                  <a:srgbClr val="526B7C"/>
                </a:solidFill>
                <a:latin typeface="Helvetica Neue"/>
                <a:ea typeface="Helvetica Neue"/>
                <a:cs typeface="Helvetica Neue"/>
              </a:defRPr>
            </a:lvl2pPr>
            <a:lvl3pPr>
              <a:buNone/>
              <a:defRPr sz="1275" b="0">
                <a:solidFill>
                  <a:srgbClr val="526B7C"/>
                </a:solidFill>
                <a:latin typeface="Helvetica Neue"/>
                <a:ea typeface="Helvetica Neue"/>
                <a:cs typeface="Helvetica Neue"/>
              </a:defRPr>
            </a:lvl3pPr>
            <a:lvl4pPr>
              <a:buNone/>
              <a:defRPr sz="1275" b="0">
                <a:solidFill>
                  <a:srgbClr val="526B7C"/>
                </a:solidFill>
                <a:latin typeface="Helvetica Neue"/>
                <a:ea typeface="Helvetica Neue"/>
                <a:cs typeface="Helvetica Neue"/>
              </a:defRPr>
            </a:lvl4pPr>
            <a:lvl5pPr>
              <a:buNone/>
              <a:defRPr sz="1275" b="0">
                <a:solidFill>
                  <a:srgbClr val="526B7C"/>
                </a:solidFill>
                <a:latin typeface="Helvetica Neue"/>
                <a:ea typeface="Helvetica Neue"/>
                <a:cs typeface="Helvetica Neue"/>
              </a:defRPr>
            </a:lvl5pPr>
            <a:lvl6pPr>
              <a:buNone/>
              <a:defRPr sz="1275" b="0">
                <a:solidFill>
                  <a:srgbClr val="526B7C"/>
                </a:solidFill>
                <a:latin typeface="Helvetica Neue"/>
                <a:ea typeface="Helvetica Neue"/>
                <a:cs typeface="Helvetica Neue"/>
              </a:defRPr>
            </a:lvl6pPr>
            <a:lvl7pPr>
              <a:buNone/>
              <a:defRPr sz="1275" b="0">
                <a:solidFill>
                  <a:srgbClr val="526B7C"/>
                </a:solidFill>
                <a:latin typeface="Helvetica Neue"/>
                <a:ea typeface="Helvetica Neue"/>
                <a:cs typeface="Helvetica Neue"/>
              </a:defRPr>
            </a:lvl7pPr>
            <a:lvl8pPr>
              <a:buNone/>
              <a:defRPr sz="1275" b="0">
                <a:solidFill>
                  <a:srgbClr val="526B7C"/>
                </a:solidFill>
                <a:latin typeface="Helvetica Neue"/>
                <a:ea typeface="Helvetica Neue"/>
                <a:cs typeface="Helvetica Neue"/>
              </a:defRPr>
            </a:lvl8pPr>
            <a:lvl9pPr>
              <a:buNone/>
              <a:defRPr sz="1275" b="0">
                <a:solidFill>
                  <a:srgbClr val="526B7C"/>
                </a:solidFill>
                <a:latin typeface="Helvetica Neue"/>
                <a:ea typeface="Helvetica Neue"/>
                <a:cs typeface="Helvetica Neue"/>
              </a:defRPr>
            </a:lvl9pPr>
          </a:lstStyle>
          <a:p xmlns:a="http://schemas.openxmlformats.org/drawingml/2006/main">
            <a:pPr>
              <a:buNone/>
              <a:defRPr sz="1950" b="1">
                <a:solidFill>
                  <a:srgbClr val="102F43"/>
                </a:solidFill>
                <a:latin typeface="Helvetica Neue"/>
                <a:ea typeface="Helvetica Neue"/>
                <a:cs typeface="Helvetica Neue"/>
              </a:defRPr>
            </a:pPr>
            <a:r>
              <a:rPr sz="1950" b="1">
                <a:solidFill>
                  <a:srgbClr val="102F43"/>
                </a:solidFill>
                <a:latin typeface="Helvetica Neue"/>
                <a:ea typeface="Helvetica Neue"/>
                <a:cs typeface="Helvetica Neue"/>
              </a:rPr>
              <a:t>₹2,400 may be affected payment value; actual financial loss remains unverified</a:t>
            </a:r>
          </a:p>
        </p:txBody>
      </p:sp>
      <p:sp>
        <p:nvSpPr>
          <p:cNvPr id="18" name="">
            <a:extLst xmlns:a="http://schemas.openxmlformats.org/drawingml/2006/main">
              <a:ext uri="{FF2B5EF4-FFF2-40B4-BE49-F238E27FC236}">
                <a16:creationId xmlns:a16="http://schemas.microsoft.com/office/drawing/2014/main" id="{FDACD081-E9CC-4496-B821-B9777682ED07}"/>
              </a:ext>
            </a:extLst>
          </p:cNvPr>
          <p:cNvSpPr>
            <a:spLocks xmlns:a="http://schemas.openxmlformats.org/drawingml/2006/main" noGrp="1"/>
          </p:cNvSpPr>
          <p:nvPr/>
        </p:nvSpPr>
        <p:spPr>
          <a:xfrm xmlns:a="http://schemas.openxmlformats.org/drawingml/2006/main">
            <a:off x="685800" y="6467475"/>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defRPr sz="1200" b="0">
                <a:solidFill>
                  <a:srgbClr val="526B7C"/>
                </a:solidFill>
                <a:latin typeface="Helvetica Neue"/>
                <a:ea typeface="Helvetica Neue"/>
                <a:cs typeface="Helvetica Neue"/>
              </a:defRPr>
            </a:lvl1pPr>
            <a:lvl2pPr>
              <a:defRPr sz="1200" b="0">
                <a:solidFill>
                  <a:srgbClr val="526B7C"/>
                </a:solidFill>
                <a:latin typeface="Helvetica Neue"/>
                <a:ea typeface="Helvetica Neue"/>
                <a:cs typeface="Helvetica Neue"/>
              </a:defRPr>
            </a:lvl2pPr>
            <a:lvl3pPr>
              <a:defRPr sz="1200" b="0">
                <a:solidFill>
                  <a:srgbClr val="526B7C"/>
                </a:solidFill>
                <a:latin typeface="Helvetica Neue"/>
                <a:ea typeface="Helvetica Neue"/>
                <a:cs typeface="Helvetica Neue"/>
              </a:defRPr>
            </a:lvl3pPr>
            <a:lvl4pPr>
              <a:defRPr sz="1200" b="0">
                <a:solidFill>
                  <a:srgbClr val="526B7C"/>
                </a:solidFill>
                <a:latin typeface="Helvetica Neue"/>
                <a:ea typeface="Helvetica Neue"/>
                <a:cs typeface="Helvetica Neue"/>
              </a:defRPr>
            </a:lvl4pPr>
            <a:lvl5pPr>
              <a:defRPr sz="1200" b="0">
                <a:solidFill>
                  <a:srgbClr val="526B7C"/>
                </a:solidFill>
                <a:latin typeface="Helvetica Neue"/>
                <a:ea typeface="Helvetica Neue"/>
                <a:cs typeface="Helvetica Neue"/>
              </a:defRPr>
            </a:lvl5pPr>
            <a:lvl6pPr>
              <a:defRPr sz="1200" b="0">
                <a:solidFill>
                  <a:srgbClr val="526B7C"/>
                </a:solidFill>
                <a:latin typeface="Helvetica Neue"/>
                <a:ea typeface="Helvetica Neue"/>
                <a:cs typeface="Helvetica Neue"/>
              </a:defRPr>
            </a:lvl6pPr>
            <a:lvl7pPr>
              <a:defRPr sz="1200" b="0">
                <a:solidFill>
                  <a:srgbClr val="526B7C"/>
                </a:solidFill>
                <a:latin typeface="Helvetica Neue"/>
                <a:ea typeface="Helvetica Neue"/>
                <a:cs typeface="Helvetica Neue"/>
              </a:defRPr>
            </a:lvl7pPr>
            <a:lvl8pPr>
              <a:defRPr sz="1200" b="0">
                <a:solidFill>
                  <a:srgbClr val="526B7C"/>
                </a:solidFill>
                <a:latin typeface="Helvetica Neue"/>
                <a:ea typeface="Helvetica Neue"/>
                <a:cs typeface="Helvetica Neue"/>
              </a:defRPr>
            </a:lvl8pPr>
            <a:lvl9pPr>
              <a:defRPr sz="1200" b="0">
                <a:solidFill>
                  <a:srgbClr val="526B7C"/>
                </a:solidFill>
                <a:latin typeface="Helvetica Neue"/>
                <a:ea typeface="Helvetica Neue"/>
                <a:cs typeface="Helvetica Neue"/>
              </a:defRPr>
            </a:lvl9pPr>
          </a:lstStyle>
          <a:p xmlns:a="http://schemas.openxmlformats.org/drawingml/2006/main">
            <a:pPr>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Gowtham Ramachandra</a:t>
            </a:r>
          </a:p>
        </p:txBody>
      </p:sp>
      <p:sp>
        <p:nvSpPr>
          <p:cNvPr id="19" name="">
            <a:extLst xmlns:a="http://schemas.openxmlformats.org/drawingml/2006/main">
              <a:ext uri="{FF2B5EF4-FFF2-40B4-BE49-F238E27FC236}">
                <a16:creationId xmlns:a16="http://schemas.microsoft.com/office/drawing/2014/main" id="{3FE3B817-4077-4F9B-81FF-1481FA4F635C}"/>
              </a:ext>
            </a:extLst>
          </p:cNvPr>
          <p:cNvSpPr>
            <a:spLocks xmlns:a="http://schemas.openxmlformats.org/drawingml/2006/main" noGrp="1"/>
          </p:cNvSpPr>
          <p:nvPr/>
        </p:nvSpPr>
        <p:spPr>
          <a:xfrm xmlns:a="http://schemas.openxmlformats.org/drawingml/2006/main">
            <a:off x="10839450" y="6467475"/>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defRPr sz="1200" b="0">
                <a:solidFill>
                  <a:srgbClr val="526B7C"/>
                </a:solidFill>
                <a:latin typeface="Helvetica Neue"/>
                <a:ea typeface="Helvetica Neue"/>
                <a:cs typeface="Helvetica Neue"/>
              </a:defRPr>
            </a:lvl1pPr>
            <a:lvl2pPr>
              <a:defRPr sz="1200" b="0">
                <a:solidFill>
                  <a:srgbClr val="526B7C"/>
                </a:solidFill>
                <a:latin typeface="Helvetica Neue"/>
                <a:ea typeface="Helvetica Neue"/>
                <a:cs typeface="Helvetica Neue"/>
              </a:defRPr>
            </a:lvl2pPr>
            <a:lvl3pPr>
              <a:defRPr sz="1200" b="0">
                <a:solidFill>
                  <a:srgbClr val="526B7C"/>
                </a:solidFill>
                <a:latin typeface="Helvetica Neue"/>
                <a:ea typeface="Helvetica Neue"/>
                <a:cs typeface="Helvetica Neue"/>
              </a:defRPr>
            </a:lvl3pPr>
            <a:lvl4pPr>
              <a:defRPr sz="1200" b="0">
                <a:solidFill>
                  <a:srgbClr val="526B7C"/>
                </a:solidFill>
                <a:latin typeface="Helvetica Neue"/>
                <a:ea typeface="Helvetica Neue"/>
                <a:cs typeface="Helvetica Neue"/>
              </a:defRPr>
            </a:lvl4pPr>
            <a:lvl5pPr>
              <a:defRPr sz="1200" b="0">
                <a:solidFill>
                  <a:srgbClr val="526B7C"/>
                </a:solidFill>
                <a:latin typeface="Helvetica Neue"/>
                <a:ea typeface="Helvetica Neue"/>
                <a:cs typeface="Helvetica Neue"/>
              </a:defRPr>
            </a:lvl5pPr>
            <a:lvl6pPr>
              <a:defRPr sz="1200" b="0">
                <a:solidFill>
                  <a:srgbClr val="526B7C"/>
                </a:solidFill>
                <a:latin typeface="Helvetica Neue"/>
                <a:ea typeface="Helvetica Neue"/>
                <a:cs typeface="Helvetica Neue"/>
              </a:defRPr>
            </a:lvl6pPr>
            <a:lvl7pPr>
              <a:defRPr sz="1200" b="0">
                <a:solidFill>
                  <a:srgbClr val="526B7C"/>
                </a:solidFill>
                <a:latin typeface="Helvetica Neue"/>
                <a:ea typeface="Helvetica Neue"/>
                <a:cs typeface="Helvetica Neue"/>
              </a:defRPr>
            </a:lvl7pPr>
            <a:lvl8pPr>
              <a:defRPr sz="1200" b="0">
                <a:solidFill>
                  <a:srgbClr val="526B7C"/>
                </a:solidFill>
                <a:latin typeface="Helvetica Neue"/>
                <a:ea typeface="Helvetica Neue"/>
                <a:cs typeface="Helvetica Neue"/>
              </a:defRPr>
            </a:lvl8pPr>
            <a:lvl9pPr>
              <a:defRPr sz="1200" b="0">
                <a:solidFill>
                  <a:srgbClr val="526B7C"/>
                </a:solidFill>
                <a:latin typeface="Helvetica Neue"/>
                <a:ea typeface="Helvetica Neue"/>
                <a:cs typeface="Helvetica Neue"/>
              </a:defRPr>
            </a:lvl9pPr>
          </a:lstStyle>
          <a:p xmlns:a="http://schemas.openxmlformats.org/drawingml/2006/main">
            <a:pPr>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2 / 5</a:t>
            </a:r>
          </a:p>
        </p:txBody>
      </p:sp>
    </p:spTree>
    <p:extLst>
      <p:ext uri="{BB962C8B-B14F-4D97-AF65-F5344CB8AC3E}">
        <p14:creationId xmlns:p14="http://schemas.microsoft.com/office/powerpoint/2010/main" val="18546508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D78C9B-0AAA-4463-8E61-A17D1A28F472}"/>
              </a:ext>
            </a:extLst>
          </p:cNvPr>
          <p:cNvSpPr>
            <a:spLocks xmlns:a="http://schemas.openxmlformats.org/drawingml/2006/main" noGrp="1"/>
          </p:cNvSpPr>
          <p:nvPr/>
        </p:nvSpPr>
        <p:spPr>
          <a:xfrm xmlns:a="http://schemas.openxmlformats.org/drawingml/2006/main">
            <a:off x="685800" y="5334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300" b="1">
                <a:solidFill>
                  <a:srgbClr val="102F43"/>
                </a:solidFill>
                <a:latin typeface="Helvetica Neue"/>
                <a:ea typeface="Helvetica Neue"/>
                <a:cs typeface="Helvetica Neue"/>
              </a:defRPr>
            </a:pPr>
            <a:r>
              <a:rPr sz="3300" b="1">
                <a:solidFill>
                  <a:srgbClr val="102F43"/>
                </a:solidFill>
                <a:latin typeface="Helvetica Neue"/>
                <a:ea typeface="Helvetica Neue"/>
                <a:cs typeface="Helvetica Neue"/>
              </a:rPr>
              <a:t>Voice and runtime architecture</a:t>
            </a:r>
          </a:p>
        </p:txBody>
      </p:sp>
      <p:sp>
        <p:nvSpPr>
          <p:cNvPr id="2" name="">
            <a:extLst xmlns:a="http://schemas.openxmlformats.org/drawingml/2006/main">
              <a:ext uri="{FF2B5EF4-FFF2-40B4-BE49-F238E27FC236}">
                <a16:creationId xmlns:a16="http://schemas.microsoft.com/office/drawing/2014/main" id="{915C1400-4AC6-4133-8410-1940910D87FB}"/>
              </a:ext>
            </a:extLst>
          </p:cNvPr>
          <p:cNvSpPr>
            <a:spLocks xmlns:a="http://schemas.openxmlformats.org/drawingml/2006/main" noGrp="1"/>
          </p:cNvSpPr>
          <p:nvPr/>
        </p:nvSpPr>
        <p:spPr>
          <a:xfrm xmlns:a="http://schemas.openxmlformats.org/drawingml/2006/main">
            <a:off x="704850" y="13811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02F43"/>
                </a:solidFill>
                <a:latin typeface="Helvetica Neue"/>
                <a:ea typeface="Helvetica Neue"/>
                <a:cs typeface="Helvetica Neue"/>
              </a:defRPr>
            </a:defPPr>
            <a:lvl1pPr>
              <a:buNone/>
              <a:defRPr sz="2550" b="1">
                <a:solidFill>
                  <a:srgbClr val="00A9D6"/>
                </a:solidFill>
                <a:latin typeface="Helvetica Neue"/>
                <a:ea typeface="Helvetica Neue"/>
                <a:cs typeface="Helvetica Neue"/>
              </a:defRPr>
            </a:lvl1pPr>
            <a:lvl2pPr>
              <a:buNone/>
              <a:defRPr sz="2550" b="1">
                <a:solidFill>
                  <a:srgbClr val="00A9D6"/>
                </a:solidFill>
                <a:latin typeface="Helvetica Neue"/>
                <a:ea typeface="Helvetica Neue"/>
                <a:cs typeface="Helvetica Neue"/>
              </a:defRPr>
            </a:lvl2pPr>
            <a:lvl3pPr>
              <a:buNone/>
              <a:defRPr sz="2550" b="1">
                <a:solidFill>
                  <a:srgbClr val="00A9D6"/>
                </a:solidFill>
                <a:latin typeface="Helvetica Neue"/>
                <a:ea typeface="Helvetica Neue"/>
                <a:cs typeface="Helvetica Neue"/>
              </a:defRPr>
            </a:lvl3pPr>
            <a:lvl4pPr>
              <a:buNone/>
              <a:defRPr sz="2550" b="1">
                <a:solidFill>
                  <a:srgbClr val="00A9D6"/>
                </a:solidFill>
                <a:latin typeface="Helvetica Neue"/>
                <a:ea typeface="Helvetica Neue"/>
                <a:cs typeface="Helvetica Neue"/>
              </a:defRPr>
            </a:lvl4pPr>
            <a:lvl5pPr>
              <a:buNone/>
              <a:defRPr sz="2550" b="1">
                <a:solidFill>
                  <a:srgbClr val="00A9D6"/>
                </a:solidFill>
                <a:latin typeface="Helvetica Neue"/>
                <a:ea typeface="Helvetica Neue"/>
                <a:cs typeface="Helvetica Neue"/>
              </a:defRPr>
            </a:lvl5pPr>
            <a:lvl6pPr>
              <a:buNone/>
              <a:defRPr sz="2550" b="1">
                <a:solidFill>
                  <a:srgbClr val="00A9D6"/>
                </a:solidFill>
                <a:latin typeface="Helvetica Neue"/>
                <a:ea typeface="Helvetica Neue"/>
                <a:cs typeface="Helvetica Neue"/>
              </a:defRPr>
            </a:lvl6pPr>
            <a:lvl7pPr>
              <a:buNone/>
              <a:defRPr sz="2550" b="1">
                <a:solidFill>
                  <a:srgbClr val="00A9D6"/>
                </a:solidFill>
                <a:latin typeface="Helvetica Neue"/>
                <a:ea typeface="Helvetica Neue"/>
                <a:cs typeface="Helvetica Neue"/>
              </a:defRPr>
            </a:lvl7pPr>
            <a:lvl8pPr>
              <a:buNone/>
              <a:defRPr sz="2550" b="1">
                <a:solidFill>
                  <a:srgbClr val="00A9D6"/>
                </a:solidFill>
                <a:latin typeface="Helvetica Neue"/>
                <a:ea typeface="Helvetica Neue"/>
                <a:cs typeface="Helvetica Neue"/>
              </a:defRPr>
            </a:lvl8pPr>
            <a:lvl9pPr>
              <a:buNone/>
              <a:defRPr sz="2550" b="1">
                <a:solidFill>
                  <a:srgbClr val="00A9D6"/>
                </a:solidFill>
                <a:latin typeface="Helvetica Neue"/>
                <a:ea typeface="Helvetica Neue"/>
                <a:cs typeface="Helvetica Neue"/>
              </a:defRPr>
            </a:lvl9pPr>
          </a:lstStyle>
          <a:p xmlns:a="http://schemas.openxmlformats.org/drawingml/2006/main">
            <a:pPr>
              <a:buNone/>
              <a:defRPr sz="2100" b="1">
                <a:solidFill>
                  <a:srgbClr val="102F43"/>
                </a:solidFill>
                <a:latin typeface="Helvetica Neue"/>
                <a:ea typeface="Helvetica Neue"/>
                <a:cs typeface="Helvetica Neue"/>
              </a:defRPr>
            </a:pPr>
            <a:r>
              <a:rPr sz="2100" b="1">
                <a:solidFill>
                  <a:srgbClr val="102F43"/>
                </a:solidFill>
                <a:latin typeface="Helvetica Neue"/>
                <a:ea typeface="Helvetica Neue"/>
                <a:cs typeface="Helvetica Neue"/>
              </a:rPr>
              <a:t>Mic → local VAD → Gemini transcription → editable text → Send</a:t>
            </a:r>
          </a:p>
        </p:txBody>
      </p:sp>
      <p:sp>
        <p:nvSpPr>
          <p:cNvPr id="3" name="">
            <a:extLst xmlns:a="http://schemas.openxmlformats.org/drawingml/2006/main">
              <a:ext uri="{FF2B5EF4-FFF2-40B4-BE49-F238E27FC236}">
                <a16:creationId xmlns:a16="http://schemas.microsoft.com/office/drawing/2014/main" id="{B3017A7C-BF36-4E49-A614-022B305A4674}"/>
              </a:ext>
            </a:extLst>
          </p:cNvPr>
          <p:cNvSpPr>
            <a:spLocks xmlns:a="http://schemas.openxmlformats.org/drawingml/2006/main" noGrp="1"/>
          </p:cNvSpPr>
          <p:nvPr/>
        </p:nvSpPr>
        <p:spPr>
          <a:xfrm xmlns:a="http://schemas.openxmlformats.org/drawingml/2006/main">
            <a:off x="704850" y="1885950"/>
            <a:ext cx="10763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025" b="1">
                <a:solidFill>
                  <a:srgbClr val="102F43"/>
                </a:solidFill>
                <a:latin typeface="Helvetica Neue"/>
                <a:ea typeface="Helvetica Neue"/>
                <a:cs typeface="Helvetica Neue"/>
              </a:defRPr>
            </a:pPr>
            <a:r>
              <a:rPr sz="2025" b="1">
                <a:solidFill>
                  <a:srgbClr val="102F43"/>
                </a:solidFill>
                <a:latin typeface="Helvetica Neue"/>
                <a:ea typeface="Helvetica Neue"/>
                <a:cs typeface="Helvetica Neue"/>
              </a:rPr>
              <a:t>Interview API → bounded agent harness → next question → reviewed brief</a:t>
            </a:r>
          </a:p>
        </p:txBody>
      </p:sp>
      <p:sp>
        <p:nvSpPr>
          <p:cNvPr id="4" name="">
            <a:extLst xmlns:a="http://schemas.openxmlformats.org/drawingml/2006/main">
              <a:ext uri="{FF2B5EF4-FFF2-40B4-BE49-F238E27FC236}">
                <a16:creationId xmlns:a16="http://schemas.microsoft.com/office/drawing/2014/main" id="{56B5B450-DE77-4209-827E-E388EFF93B7E}"/>
              </a:ext>
            </a:extLst>
          </p:cNvPr>
          <p:cNvSpPr>
            <a:spLocks xmlns:a="http://schemas.openxmlformats.org/drawingml/2006/main" noGrp="1"/>
          </p:cNvSpPr>
          <p:nvPr/>
        </p:nvSpPr>
        <p:spPr>
          <a:xfrm xmlns:a="http://schemas.openxmlformats.org/drawingml/2006/main">
            <a:off x="704850" y="26384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0A9D6"/>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2175" b="1">
                <a:solidFill>
                  <a:srgbClr val="00A9D6"/>
                </a:solidFill>
                <a:latin typeface="Helvetica Neue"/>
                <a:ea typeface="Helvetica Neue"/>
                <a:cs typeface="Helvetica Neue"/>
              </a:defRPr>
            </a:pPr>
            <a:r>
              <a:rPr sz="2175" b="1">
                <a:solidFill>
                  <a:srgbClr val="00A9D6"/>
                </a:solidFill>
                <a:latin typeface="Helvetica Neue"/>
                <a:ea typeface="Helvetica Neue"/>
                <a:cs typeface="Helvetica Neue"/>
              </a:rPr>
              <a:t>Voice controls</a:t>
            </a:r>
          </a:p>
        </p:txBody>
      </p:sp>
      <p:sp>
        <p:nvSpPr>
          <p:cNvPr id="5" name="">
            <a:extLst xmlns:a="http://schemas.openxmlformats.org/drawingml/2006/main">
              <a:ext uri="{FF2B5EF4-FFF2-40B4-BE49-F238E27FC236}">
                <a16:creationId xmlns:a16="http://schemas.microsoft.com/office/drawing/2014/main" id="{82E76C14-9AFA-47EB-807B-E7EC871CECD5}"/>
              </a:ext>
            </a:extLst>
          </p:cNvPr>
          <p:cNvSpPr>
            <a:spLocks xmlns:a="http://schemas.openxmlformats.org/drawingml/2006/main" noGrp="1"/>
          </p:cNvSpPr>
          <p:nvPr/>
        </p:nvSpPr>
        <p:spPr>
          <a:xfrm xmlns:a="http://schemas.openxmlformats.org/drawingml/2006/main">
            <a:off x="704850" y="3133725"/>
            <a:ext cx="5267325"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Echo cancellation, noise suppression and gain control</a:t>
            </a:r>
          </a:p>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Local energy detection; 200 ms of speech ignores clicks</a:t>
            </a:r>
          </a:p>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Pause: 1.2 s / 2 s default / 3.5 s thinking time</a:t>
            </a:r>
          </a:p>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No speech for 10 s: discard; recording limit: 45 s</a:t>
            </a:r>
          </a:p>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English, Hindi, Kannada and Hinglish input</a:t>
            </a:r>
          </a:p>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Gemini natural playback; device voice fallback</a:t>
            </a:r>
          </a:p>
        </p:txBody>
      </p:sp>
      <p:sp>
        <p:nvSpPr>
          <p:cNvPr id="6" name="">
            <a:extLst xmlns:a="http://schemas.openxmlformats.org/drawingml/2006/main">
              <a:ext uri="{FF2B5EF4-FFF2-40B4-BE49-F238E27FC236}">
                <a16:creationId xmlns:a16="http://schemas.microsoft.com/office/drawing/2014/main" id="{C0FFC240-0164-4ADC-8727-FFB6DE2FA9BA}"/>
              </a:ext>
            </a:extLst>
          </p:cNvPr>
          <p:cNvSpPr>
            <a:spLocks xmlns:a="http://schemas.openxmlformats.org/drawingml/2006/main" noGrp="1"/>
          </p:cNvSpPr>
          <p:nvPr/>
        </p:nvSpPr>
        <p:spPr>
          <a:xfrm xmlns:a="http://schemas.openxmlformats.org/drawingml/2006/main">
            <a:off x="704850" y="5495925"/>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A9D6"/>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2025" b="1">
                <a:solidFill>
                  <a:srgbClr val="00A9D6"/>
                </a:solidFill>
                <a:latin typeface="Helvetica Neue"/>
                <a:ea typeface="Helvetica Neue"/>
                <a:cs typeface="Helvetica Neue"/>
              </a:defRPr>
            </a:pPr>
            <a:r>
              <a:rPr sz="2025" b="1">
                <a:solidFill>
                  <a:srgbClr val="00A9D6"/>
                </a:solidFill>
                <a:latin typeface="Helvetica Neue"/>
                <a:ea typeface="Helvetica Neue"/>
                <a:cs typeface="Helvetica Neue"/>
              </a:rPr>
              <a:t>Runtime and data boundary</a:t>
            </a:r>
          </a:p>
        </p:txBody>
      </p:sp>
      <p:sp>
        <p:nvSpPr>
          <p:cNvPr id="7" name="">
            <a:extLst xmlns:a="http://schemas.openxmlformats.org/drawingml/2006/main">
              <a:ext uri="{FF2B5EF4-FFF2-40B4-BE49-F238E27FC236}">
                <a16:creationId xmlns:a16="http://schemas.microsoft.com/office/drawing/2014/main" id="{1C027901-8D5C-466F-BCCB-56E2B05F6D7E}"/>
              </a:ext>
            </a:extLst>
          </p:cNvPr>
          <p:cNvSpPr>
            <a:spLocks xmlns:a="http://schemas.openxmlformats.org/drawingml/2006/main" noGrp="1"/>
          </p:cNvSpPr>
          <p:nvPr/>
        </p:nvSpPr>
        <p:spPr>
          <a:xfrm xmlns:a="http://schemas.openxmlformats.org/drawingml/2006/main">
            <a:off x="704850" y="59055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React 19 · TypeScript · Vinext/Vite · Node 24</a:t>
            </a:r>
          </a:p>
          <a:p xmlns:a="http://schemas.openxmlformats.org/drawingml/2006/main">
            <a:pPr>
              <a:buNone/>
              <a:defRPr sz="1725" b="0">
                <a:solidFill>
                  <a:srgbClr val="102F43"/>
                </a:solidFill>
                <a:latin typeface="Helvetica Neue"/>
                <a:ea typeface="Helvetica Neue"/>
                <a:cs typeface="Helvetica Neue"/>
              </a:defRPr>
            </a:pPr>
            <a:r>
              <a:rPr sz="1725" b="0">
                <a:solidFill>
                  <a:srgbClr val="102F43"/>
                </a:solidFill>
                <a:latin typeface="Helvetica Neue"/>
                <a:ea typeface="Helvetica Neue"/>
                <a:cs typeface="Helvetica Neue"/>
              </a:rPr>
              <a:t>Cloud Run (Mumbai) · Secret Manager · local storage</a:t>
            </a:r>
          </a:p>
        </p:txBody>
      </p:sp>
      <p:sp>
        <p:nvSpPr>
          <p:cNvPr id="8" name="">
            <a:extLst xmlns:a="http://schemas.openxmlformats.org/drawingml/2006/main">
              <a:ext uri="{FF2B5EF4-FFF2-40B4-BE49-F238E27FC236}">
                <a16:creationId xmlns:a16="http://schemas.microsoft.com/office/drawing/2014/main" id="{8F761684-395D-4C0A-BF3F-25C6670035DE}"/>
              </a:ext>
            </a:extLst>
          </p:cNvPr>
          <p:cNvSpPr>
            <a:spLocks xmlns:a="http://schemas.openxmlformats.org/drawingml/2006/main" noGrp="1"/>
          </p:cNvSpPr>
          <p:nvPr/>
        </p:nvSpPr>
        <p:spPr>
          <a:xfrm xmlns:a="http://schemas.openxmlformats.org/drawingml/2006/main">
            <a:off x="6343650" y="530542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42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425" b="0">
                <a:solidFill>
                  <a:srgbClr val="526B7C"/>
                </a:solidFill>
                <a:latin typeface="Helvetica Neue"/>
                <a:ea typeface="Helvetica Neue"/>
                <a:cs typeface="Helvetica Neue"/>
              </a:defRPr>
            </a:pPr>
            <a:r>
              <a:rPr sz="1425" b="0">
                <a:solidFill>
                  <a:srgbClr val="526B7C"/>
                </a:solidFill>
                <a:latin typeface="Helvetica Neue"/>
                <a:ea typeface="Helvetica Neue"/>
                <a:cs typeface="Helvetica Neue"/>
              </a:rPr>
              <a:t>Deployed voice controls; existing partial human interview</a:t>
            </a:r>
          </a:p>
        </p:txBody>
      </p:sp>
      <p:pic>
        <p:nvPicPr>
          <p:cNvPr id="9" name="">
            <a:extLst xmlns:a="http://schemas.openxmlformats.org/drawingml/2006/main">
              <a:ext uri="{FF2B5EF4-FFF2-40B4-BE49-F238E27FC236}">
                <a16:creationId xmlns:a16="http://schemas.microsoft.com/office/drawing/2014/main" id="{2DDB8482-B75D-45DB-AA87-2184AA340E63}"/>
              </a:ext>
            </a:extLst>
          </p:cNvPr>
          <p:cNvPicPr>
            <a:picLocks xmlns:a="http://schemas.openxmlformats.org/drawingml/2006/main" noChangeAspect="1"/>
          </p:cNvPicPr>
          <p:nvPr/>
        </p:nvPicPr>
        <p:blipFill>
          <a:blip xmlns:r="http://schemas.openxmlformats.org/officeDocument/2006/relationships" xmlns:a="http://schemas.openxmlformats.org/drawingml/2006/main" r:embed="Rc95aeed5dd554d4e"/>
          <a:stretch xmlns:a="http://schemas.openxmlformats.org/drawingml/2006/main"/>
        </p:blipFill>
        <p:spPr>
          <a:xfrm xmlns:a="http://schemas.openxmlformats.org/drawingml/2006/main">
            <a:off x="6502400" y="2505075"/>
            <a:ext cx="4826000" cy="2714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9FE30614-6150-426A-816B-CC93E888DEAC}"/>
              </a:ext>
            </a:extLst>
          </p:cNvPr>
          <p:cNvSpPr>
            <a:spLocks xmlns:a="http://schemas.openxmlformats.org/drawingml/2006/main" noGrp="1"/>
          </p:cNvSpPr>
          <p:nvPr/>
        </p:nvSpPr>
        <p:spPr>
          <a:xfrm xmlns:a="http://schemas.openxmlformats.org/drawingml/2006/main">
            <a:off x="6343650" y="5705475"/>
            <a:ext cx="5143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26B7C"/>
                </a:solidFill>
                <a:latin typeface="Helvetica Neue"/>
                <a:ea typeface="Helvetica Neue"/>
                <a:cs typeface="Helvetica Neue"/>
              </a:defRPr>
            </a:defPPr>
            <a:lvl1pPr>
              <a:buNone/>
              <a:defRPr sz="1650" b="1">
                <a:solidFill>
                  <a:srgbClr val="00A9D6"/>
                </a:solidFill>
                <a:latin typeface="Helvetica Neue"/>
                <a:ea typeface="Helvetica Neue"/>
                <a:cs typeface="Helvetica Neue"/>
              </a:defRPr>
            </a:lvl1pPr>
            <a:lvl2pPr>
              <a:buNone/>
              <a:defRPr sz="1650" b="1">
                <a:solidFill>
                  <a:srgbClr val="00A9D6"/>
                </a:solidFill>
                <a:latin typeface="Helvetica Neue"/>
                <a:ea typeface="Helvetica Neue"/>
                <a:cs typeface="Helvetica Neue"/>
              </a:defRPr>
            </a:lvl2pPr>
            <a:lvl3pPr>
              <a:buNone/>
              <a:defRPr sz="1650" b="1">
                <a:solidFill>
                  <a:srgbClr val="00A9D6"/>
                </a:solidFill>
                <a:latin typeface="Helvetica Neue"/>
                <a:ea typeface="Helvetica Neue"/>
                <a:cs typeface="Helvetica Neue"/>
              </a:defRPr>
            </a:lvl3pPr>
            <a:lvl4pPr>
              <a:buNone/>
              <a:defRPr sz="1650" b="1">
                <a:solidFill>
                  <a:srgbClr val="00A9D6"/>
                </a:solidFill>
                <a:latin typeface="Helvetica Neue"/>
                <a:ea typeface="Helvetica Neue"/>
                <a:cs typeface="Helvetica Neue"/>
              </a:defRPr>
            </a:lvl4pPr>
            <a:lvl5pPr>
              <a:buNone/>
              <a:defRPr sz="1650" b="1">
                <a:solidFill>
                  <a:srgbClr val="00A9D6"/>
                </a:solidFill>
                <a:latin typeface="Helvetica Neue"/>
                <a:ea typeface="Helvetica Neue"/>
                <a:cs typeface="Helvetica Neue"/>
              </a:defRPr>
            </a:lvl5pPr>
            <a:lvl6pPr>
              <a:buNone/>
              <a:defRPr sz="1650" b="1">
                <a:solidFill>
                  <a:srgbClr val="00A9D6"/>
                </a:solidFill>
                <a:latin typeface="Helvetica Neue"/>
                <a:ea typeface="Helvetica Neue"/>
                <a:cs typeface="Helvetica Neue"/>
              </a:defRPr>
            </a:lvl6pPr>
            <a:lvl7pPr>
              <a:buNone/>
              <a:defRPr sz="1650" b="1">
                <a:solidFill>
                  <a:srgbClr val="00A9D6"/>
                </a:solidFill>
                <a:latin typeface="Helvetica Neue"/>
                <a:ea typeface="Helvetica Neue"/>
                <a:cs typeface="Helvetica Neue"/>
              </a:defRPr>
            </a:lvl7pPr>
            <a:lvl8pPr>
              <a:buNone/>
              <a:defRPr sz="1650" b="1">
                <a:solidFill>
                  <a:srgbClr val="00A9D6"/>
                </a:solidFill>
                <a:latin typeface="Helvetica Neue"/>
                <a:ea typeface="Helvetica Neue"/>
                <a:cs typeface="Helvetica Neue"/>
              </a:defRPr>
            </a:lvl8pPr>
            <a:lvl9pPr>
              <a:buNone/>
              <a:defRPr sz="1650" b="1">
                <a:solidFill>
                  <a:srgbClr val="00A9D6"/>
                </a:solidFill>
                <a:latin typeface="Helvetica Neue"/>
                <a:ea typeface="Helvetica Neue"/>
                <a:cs typeface="Helvetica Neue"/>
              </a:defRPr>
            </a:lvl9pPr>
          </a:lstStyle>
          <a:p xmlns:a="http://schemas.openxmlformats.org/drawingml/2006/main">
            <a:pPr>
              <a:buNone/>
              <a:defRPr sz="1650" b="0">
                <a:solidFill>
                  <a:srgbClr val="526B7C"/>
                </a:solidFill>
                <a:latin typeface="Helvetica Neue"/>
                <a:ea typeface="Helvetica Neue"/>
                <a:cs typeface="Helvetica Neue"/>
              </a:defRPr>
            </a:pPr>
            <a:r>
              <a:rPr sz="1650" b="0">
                <a:solidFill>
                  <a:srgbClr val="526B7C"/>
                </a:solidFill>
                <a:latin typeface="Helvetica Neue"/>
                <a:ea typeface="Helvetica Neue"/>
                <a:cs typeface="Helvetica Neue"/>
              </a:rPr>
              <a:t>Gemini works. OpenAI audio is blocked by exhausted credits; GPT-Live is not connected.</a:t>
            </a:r>
          </a:p>
        </p:txBody>
      </p:sp>
      <p:sp>
        <p:nvSpPr>
          <p:cNvPr id="11" name="">
            <a:extLst xmlns:a="http://schemas.openxmlformats.org/drawingml/2006/main">
              <a:ext uri="{FF2B5EF4-FFF2-40B4-BE49-F238E27FC236}">
                <a16:creationId xmlns:a16="http://schemas.microsoft.com/office/drawing/2014/main" id="{6673D979-F1FB-4998-8AD0-D7E0C5ADBDEF}"/>
              </a:ext>
            </a:extLst>
          </p:cNvPr>
          <p:cNvSpPr>
            <a:spLocks xmlns:a="http://schemas.openxmlformats.org/drawingml/2006/main" noGrp="1"/>
          </p:cNvSpPr>
          <p:nvPr/>
        </p:nvSpPr>
        <p:spPr>
          <a:xfrm xmlns:a="http://schemas.openxmlformats.org/drawingml/2006/main">
            <a:off x="685800" y="6467475"/>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75" b="0">
                <a:solidFill>
                  <a:srgbClr val="526B7C"/>
                </a:solidFill>
                <a:latin typeface="Helvetica Neue"/>
                <a:ea typeface="Helvetica Neue"/>
                <a:cs typeface="Helvetica Neue"/>
              </a:defRPr>
            </a:lvl1pPr>
            <a:lvl2pPr>
              <a:buNone/>
              <a:defRPr sz="1275" b="0">
                <a:solidFill>
                  <a:srgbClr val="526B7C"/>
                </a:solidFill>
                <a:latin typeface="Helvetica Neue"/>
                <a:ea typeface="Helvetica Neue"/>
                <a:cs typeface="Helvetica Neue"/>
              </a:defRPr>
            </a:lvl2pPr>
            <a:lvl3pPr>
              <a:buNone/>
              <a:defRPr sz="1275" b="0">
                <a:solidFill>
                  <a:srgbClr val="526B7C"/>
                </a:solidFill>
                <a:latin typeface="Helvetica Neue"/>
                <a:ea typeface="Helvetica Neue"/>
                <a:cs typeface="Helvetica Neue"/>
              </a:defRPr>
            </a:lvl3pPr>
            <a:lvl4pPr>
              <a:buNone/>
              <a:defRPr sz="1275" b="0">
                <a:solidFill>
                  <a:srgbClr val="526B7C"/>
                </a:solidFill>
                <a:latin typeface="Helvetica Neue"/>
                <a:ea typeface="Helvetica Neue"/>
                <a:cs typeface="Helvetica Neue"/>
              </a:defRPr>
            </a:lvl4pPr>
            <a:lvl5pPr>
              <a:buNone/>
              <a:defRPr sz="1275" b="0">
                <a:solidFill>
                  <a:srgbClr val="526B7C"/>
                </a:solidFill>
                <a:latin typeface="Helvetica Neue"/>
                <a:ea typeface="Helvetica Neue"/>
                <a:cs typeface="Helvetica Neue"/>
              </a:defRPr>
            </a:lvl5pPr>
            <a:lvl6pPr>
              <a:buNone/>
              <a:defRPr sz="1275" b="0">
                <a:solidFill>
                  <a:srgbClr val="526B7C"/>
                </a:solidFill>
                <a:latin typeface="Helvetica Neue"/>
                <a:ea typeface="Helvetica Neue"/>
                <a:cs typeface="Helvetica Neue"/>
              </a:defRPr>
            </a:lvl6pPr>
            <a:lvl7pPr>
              <a:buNone/>
              <a:defRPr sz="1275" b="0">
                <a:solidFill>
                  <a:srgbClr val="526B7C"/>
                </a:solidFill>
                <a:latin typeface="Helvetica Neue"/>
                <a:ea typeface="Helvetica Neue"/>
                <a:cs typeface="Helvetica Neue"/>
              </a:defRPr>
            </a:lvl7pPr>
            <a:lvl8pPr>
              <a:buNone/>
              <a:defRPr sz="1275" b="0">
                <a:solidFill>
                  <a:srgbClr val="526B7C"/>
                </a:solidFill>
                <a:latin typeface="Helvetica Neue"/>
                <a:ea typeface="Helvetica Neue"/>
                <a:cs typeface="Helvetica Neue"/>
              </a:defRPr>
            </a:lvl8pPr>
            <a:lvl9pPr>
              <a:buNone/>
              <a:defRPr sz="1275"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Gowtham Ramachandra</a:t>
            </a:r>
          </a:p>
        </p:txBody>
      </p:sp>
      <p:sp>
        <p:nvSpPr>
          <p:cNvPr id="12" name="">
            <a:extLst xmlns:a="http://schemas.openxmlformats.org/drawingml/2006/main">
              <a:ext uri="{FF2B5EF4-FFF2-40B4-BE49-F238E27FC236}">
                <a16:creationId xmlns:a16="http://schemas.microsoft.com/office/drawing/2014/main" id="{B9353544-BAB3-4BAD-8A2A-499CF3C83A75}"/>
              </a:ext>
            </a:extLst>
          </p:cNvPr>
          <p:cNvSpPr>
            <a:spLocks xmlns:a="http://schemas.openxmlformats.org/drawingml/2006/main" noGrp="1"/>
          </p:cNvSpPr>
          <p:nvPr/>
        </p:nvSpPr>
        <p:spPr>
          <a:xfrm xmlns:a="http://schemas.openxmlformats.org/drawingml/2006/main">
            <a:off x="10839450" y="6467475"/>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75" b="0">
                <a:solidFill>
                  <a:srgbClr val="526B7C"/>
                </a:solidFill>
                <a:latin typeface="Helvetica Neue"/>
                <a:ea typeface="Helvetica Neue"/>
                <a:cs typeface="Helvetica Neue"/>
              </a:defRPr>
            </a:lvl1pPr>
            <a:lvl2pPr>
              <a:buNone/>
              <a:defRPr sz="1275" b="0">
                <a:solidFill>
                  <a:srgbClr val="526B7C"/>
                </a:solidFill>
                <a:latin typeface="Helvetica Neue"/>
                <a:ea typeface="Helvetica Neue"/>
                <a:cs typeface="Helvetica Neue"/>
              </a:defRPr>
            </a:lvl2pPr>
            <a:lvl3pPr>
              <a:buNone/>
              <a:defRPr sz="1275" b="0">
                <a:solidFill>
                  <a:srgbClr val="526B7C"/>
                </a:solidFill>
                <a:latin typeface="Helvetica Neue"/>
                <a:ea typeface="Helvetica Neue"/>
                <a:cs typeface="Helvetica Neue"/>
              </a:defRPr>
            </a:lvl3pPr>
            <a:lvl4pPr>
              <a:buNone/>
              <a:defRPr sz="1275" b="0">
                <a:solidFill>
                  <a:srgbClr val="526B7C"/>
                </a:solidFill>
                <a:latin typeface="Helvetica Neue"/>
                <a:ea typeface="Helvetica Neue"/>
                <a:cs typeface="Helvetica Neue"/>
              </a:defRPr>
            </a:lvl4pPr>
            <a:lvl5pPr>
              <a:buNone/>
              <a:defRPr sz="1275" b="0">
                <a:solidFill>
                  <a:srgbClr val="526B7C"/>
                </a:solidFill>
                <a:latin typeface="Helvetica Neue"/>
                <a:ea typeface="Helvetica Neue"/>
                <a:cs typeface="Helvetica Neue"/>
              </a:defRPr>
            </a:lvl5pPr>
            <a:lvl6pPr>
              <a:buNone/>
              <a:defRPr sz="1275" b="0">
                <a:solidFill>
                  <a:srgbClr val="526B7C"/>
                </a:solidFill>
                <a:latin typeface="Helvetica Neue"/>
                <a:ea typeface="Helvetica Neue"/>
                <a:cs typeface="Helvetica Neue"/>
              </a:defRPr>
            </a:lvl6pPr>
            <a:lvl7pPr>
              <a:buNone/>
              <a:defRPr sz="1275" b="0">
                <a:solidFill>
                  <a:srgbClr val="526B7C"/>
                </a:solidFill>
                <a:latin typeface="Helvetica Neue"/>
                <a:ea typeface="Helvetica Neue"/>
                <a:cs typeface="Helvetica Neue"/>
              </a:defRPr>
            </a:lvl7pPr>
            <a:lvl8pPr>
              <a:buNone/>
              <a:defRPr sz="1275" b="0">
                <a:solidFill>
                  <a:srgbClr val="526B7C"/>
                </a:solidFill>
                <a:latin typeface="Helvetica Neue"/>
                <a:ea typeface="Helvetica Neue"/>
                <a:cs typeface="Helvetica Neue"/>
              </a:defRPr>
            </a:lvl8pPr>
            <a:lvl9pPr>
              <a:buNone/>
              <a:defRPr sz="1275"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3 / 5</a:t>
            </a:r>
          </a:p>
        </p:txBody>
      </p:sp>
    </p:spTree>
    <p:extLst>
      <p:ext uri="{BB962C8B-B14F-4D97-AF65-F5344CB8AC3E}">
        <p14:creationId xmlns:p14="http://schemas.microsoft.com/office/powerpoint/2010/main" val="657620494"/>
      </p:ext>
    </p:extLst>
  </p:cSld>
</p:sld>
</file>

<file path=ppt/slides/slide4.xml><?xml version="1.0" encoding="utf-8"?>
<p:sld xmlns:p="http://schemas.openxmlformats.org/presentationml/2006/main">
  <p:cSld>
    <p:bg>
      <p:bgPr>
        <a:solidFill xmlns:a="http://schemas.openxmlformats.org/drawingml/2006/main">
          <a:srgbClr val="0B203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4282DD-45D4-4B1E-A5E8-FEF2B180EF03}"/>
              </a:ext>
            </a:extLst>
          </p:cNvPr>
          <p:cNvSpPr>
            <a:spLocks xmlns:a="http://schemas.openxmlformats.org/drawingml/2006/main" noGrp="1"/>
          </p:cNvSpPr>
          <p:nvPr/>
        </p:nvSpPr>
        <p:spPr>
          <a:xfrm xmlns:a="http://schemas.openxmlformats.org/drawingml/2006/main">
            <a:off x="685800" y="5334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FFFFFF"/>
                </a:solidFill>
                <a:latin typeface="Helvetica Neue"/>
                <a:ea typeface="Helvetica Neue"/>
                <a:cs typeface="Helvetica Neue"/>
              </a:defRPr>
            </a:defPPr>
            <a:lvl1pPr>
              <a:buNone/>
              <a:defRPr sz="3300" b="1">
                <a:solidFill>
                  <a:srgbClr val="FFFFFF"/>
                </a:solidFill>
                <a:latin typeface="Helvetica Neue"/>
                <a:ea typeface="Helvetica Neue"/>
                <a:cs typeface="Helvetica Neue"/>
              </a:defRPr>
            </a:lvl1pPr>
            <a:lvl2pPr>
              <a:buNone/>
              <a:defRPr sz="3300" b="1">
                <a:solidFill>
                  <a:srgbClr val="FFFFFF"/>
                </a:solidFill>
                <a:latin typeface="Helvetica Neue"/>
                <a:ea typeface="Helvetica Neue"/>
                <a:cs typeface="Helvetica Neue"/>
              </a:defRPr>
            </a:lvl2pPr>
            <a:lvl3pPr>
              <a:buNone/>
              <a:defRPr sz="3300" b="1">
                <a:solidFill>
                  <a:srgbClr val="FFFFFF"/>
                </a:solidFill>
                <a:latin typeface="Helvetica Neue"/>
                <a:ea typeface="Helvetica Neue"/>
                <a:cs typeface="Helvetica Neue"/>
              </a:defRPr>
            </a:lvl3pPr>
            <a:lvl4pPr>
              <a:buNone/>
              <a:defRPr sz="3300" b="1">
                <a:solidFill>
                  <a:srgbClr val="FFFFFF"/>
                </a:solidFill>
                <a:latin typeface="Helvetica Neue"/>
                <a:ea typeface="Helvetica Neue"/>
                <a:cs typeface="Helvetica Neue"/>
              </a:defRPr>
            </a:lvl4pPr>
            <a:lvl5pPr>
              <a:buNone/>
              <a:defRPr sz="3300" b="1">
                <a:solidFill>
                  <a:srgbClr val="FFFFFF"/>
                </a:solidFill>
                <a:latin typeface="Helvetica Neue"/>
                <a:ea typeface="Helvetica Neue"/>
                <a:cs typeface="Helvetica Neue"/>
              </a:defRPr>
            </a:lvl5pPr>
            <a:lvl6pPr>
              <a:buNone/>
              <a:defRPr sz="3300" b="1">
                <a:solidFill>
                  <a:srgbClr val="FFFFFF"/>
                </a:solidFill>
                <a:latin typeface="Helvetica Neue"/>
                <a:ea typeface="Helvetica Neue"/>
                <a:cs typeface="Helvetica Neue"/>
              </a:defRPr>
            </a:lvl6pPr>
            <a:lvl7pPr>
              <a:buNone/>
              <a:defRPr sz="3300" b="1">
                <a:solidFill>
                  <a:srgbClr val="FFFFFF"/>
                </a:solidFill>
                <a:latin typeface="Helvetica Neue"/>
                <a:ea typeface="Helvetica Neue"/>
                <a:cs typeface="Helvetica Neue"/>
              </a:defRPr>
            </a:lvl7pPr>
            <a:lvl8pPr>
              <a:buNone/>
              <a:defRPr sz="3300" b="1">
                <a:solidFill>
                  <a:srgbClr val="FFFFFF"/>
                </a:solidFill>
                <a:latin typeface="Helvetica Neue"/>
                <a:ea typeface="Helvetica Neue"/>
                <a:cs typeface="Helvetica Neue"/>
              </a:defRPr>
            </a:lvl8pPr>
            <a:lvl9pPr>
              <a:buNone/>
              <a:defRPr sz="3300" b="1">
                <a:solidFill>
                  <a:srgbClr val="FFFFFF"/>
                </a:solidFill>
                <a:latin typeface="Helvetica Neue"/>
                <a:ea typeface="Helvetica Neue"/>
                <a:cs typeface="Helvetica Neue"/>
              </a:defRPr>
            </a:lvl9pPr>
          </a:lstStyle>
          <a:p xmlns:a="http://schemas.openxmlformats.org/drawingml/2006/main">
            <a:pPr>
              <a:buNone/>
              <a:defRPr sz="3300" b="1">
                <a:solidFill>
                  <a:srgbClr val="102F43"/>
                </a:solidFill>
                <a:latin typeface="Helvetica Neue"/>
                <a:ea typeface="Helvetica Neue"/>
                <a:cs typeface="Helvetica Neue"/>
              </a:defRPr>
            </a:pPr>
            <a:r>
              <a:rPr sz="3300" b="1">
                <a:solidFill>
                  <a:srgbClr val="FFFFFF"/>
                </a:solidFill>
                <a:latin typeface="Helvetica Neue"/>
                <a:ea typeface="Helvetica Neue"/>
                <a:cs typeface="Helvetica Neue"/>
              </a:rPr>
              <a:t>Agent harness, guardrails and evaluations</a:t>
            </a:r>
          </a:p>
        </p:txBody>
      </p:sp>
      <p:sp>
        <p:nvSpPr>
          <p:cNvPr id="2" name="">
            <a:extLst xmlns:a="http://schemas.openxmlformats.org/drawingml/2006/main">
              <a:ext uri="{FF2B5EF4-FFF2-40B4-BE49-F238E27FC236}">
                <a16:creationId xmlns:a16="http://schemas.microsoft.com/office/drawing/2014/main" id="{A8C68962-3011-4A52-BF06-48EF418A3C3D}"/>
              </a:ext>
            </a:extLst>
          </p:cNvPr>
          <p:cNvSpPr>
            <a:spLocks xmlns:a="http://schemas.openxmlformats.org/drawingml/2006/main" noGrp="1"/>
          </p:cNvSpPr>
          <p:nvPr/>
        </p:nvSpPr>
        <p:spPr>
          <a:xfrm xmlns:a="http://schemas.openxmlformats.org/drawingml/2006/main">
            <a:off x="704850" y="1400175"/>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0A9D6"/>
                </a:solidFill>
                <a:latin typeface="Helvetica Neue"/>
                <a:ea typeface="Helvetica Neue"/>
                <a:cs typeface="Helvetica Neue"/>
              </a:defRPr>
            </a:defPPr>
            <a:lvl1pPr>
              <a:buNone/>
              <a:defRPr sz="2400" b="1">
                <a:solidFill>
                  <a:srgbClr val="FFFFFF"/>
                </a:solidFill>
                <a:latin typeface="Helvetica Neue"/>
                <a:ea typeface="Helvetica Neue"/>
                <a:cs typeface="Helvetica Neue"/>
              </a:defRPr>
            </a:lvl1pPr>
            <a:lvl2pPr>
              <a:buNone/>
              <a:defRPr sz="2400" b="1">
                <a:solidFill>
                  <a:srgbClr val="FFFFFF"/>
                </a:solidFill>
                <a:latin typeface="Helvetica Neue"/>
                <a:ea typeface="Helvetica Neue"/>
                <a:cs typeface="Helvetica Neue"/>
              </a:defRPr>
            </a:lvl2pPr>
            <a:lvl3pPr>
              <a:buNone/>
              <a:defRPr sz="2400" b="1">
                <a:solidFill>
                  <a:srgbClr val="FFFFFF"/>
                </a:solidFill>
                <a:latin typeface="Helvetica Neue"/>
                <a:ea typeface="Helvetica Neue"/>
                <a:cs typeface="Helvetica Neue"/>
              </a:defRPr>
            </a:lvl3pPr>
            <a:lvl4pPr>
              <a:buNone/>
              <a:defRPr sz="2400" b="1">
                <a:solidFill>
                  <a:srgbClr val="FFFFFF"/>
                </a:solidFill>
                <a:latin typeface="Helvetica Neue"/>
                <a:ea typeface="Helvetica Neue"/>
                <a:cs typeface="Helvetica Neue"/>
              </a:defRPr>
            </a:lvl4pPr>
            <a:lvl5pPr>
              <a:buNone/>
              <a:defRPr sz="2400" b="1">
                <a:solidFill>
                  <a:srgbClr val="FFFFFF"/>
                </a:solidFill>
                <a:latin typeface="Helvetica Neue"/>
                <a:ea typeface="Helvetica Neue"/>
                <a:cs typeface="Helvetica Neue"/>
              </a:defRPr>
            </a:lvl5pPr>
            <a:lvl6pPr>
              <a:buNone/>
              <a:defRPr sz="2400" b="1">
                <a:solidFill>
                  <a:srgbClr val="FFFFFF"/>
                </a:solidFill>
                <a:latin typeface="Helvetica Neue"/>
                <a:ea typeface="Helvetica Neue"/>
                <a:cs typeface="Helvetica Neue"/>
              </a:defRPr>
            </a:lvl6pPr>
            <a:lvl7pPr>
              <a:buNone/>
              <a:defRPr sz="2400" b="1">
                <a:solidFill>
                  <a:srgbClr val="FFFFFF"/>
                </a:solidFill>
                <a:latin typeface="Helvetica Neue"/>
                <a:ea typeface="Helvetica Neue"/>
                <a:cs typeface="Helvetica Neue"/>
              </a:defRPr>
            </a:lvl7pPr>
            <a:lvl8pPr>
              <a:buNone/>
              <a:defRPr sz="2400" b="1">
                <a:solidFill>
                  <a:srgbClr val="FFFFFF"/>
                </a:solidFill>
                <a:latin typeface="Helvetica Neue"/>
                <a:ea typeface="Helvetica Neue"/>
                <a:cs typeface="Helvetica Neue"/>
              </a:defRPr>
            </a:lvl8pPr>
            <a:lvl9pPr>
              <a:buNone/>
              <a:defRPr sz="2400" b="1">
                <a:solidFill>
                  <a:srgbClr val="FFFFFF"/>
                </a:solidFill>
                <a:latin typeface="Helvetica Neue"/>
                <a:ea typeface="Helvetica Neue"/>
                <a:cs typeface="Helvetica Neue"/>
              </a:defRPr>
            </a:lvl9pPr>
          </a:lstStyle>
          <a:p xmlns:a="http://schemas.openxmlformats.org/drawingml/2006/main">
            <a:pPr>
              <a:buNone/>
              <a:defRPr sz="2175" b="1">
                <a:solidFill>
                  <a:srgbClr val="00A9D6"/>
                </a:solidFill>
                <a:latin typeface="Helvetica Neue"/>
                <a:ea typeface="Helvetica Neue"/>
                <a:cs typeface="Helvetica Neue"/>
              </a:defRPr>
            </a:pPr>
            <a:r>
              <a:rPr sz="2175" b="1">
                <a:solidFill>
                  <a:srgbClr val="00A9D6"/>
                </a:solidFill>
                <a:latin typeface="Helvetica Neue"/>
                <a:ea typeface="Helvetica Neue"/>
                <a:cs typeface="Helvetica Neue"/>
              </a:rPr>
              <a:t>How the agent decides</a:t>
            </a:r>
          </a:p>
        </p:txBody>
      </p:sp>
      <p:sp>
        <p:nvSpPr>
          <p:cNvPr id="3" name="">
            <a:extLst xmlns:a="http://schemas.openxmlformats.org/drawingml/2006/main">
              <a:ext uri="{FF2B5EF4-FFF2-40B4-BE49-F238E27FC236}">
                <a16:creationId xmlns:a16="http://schemas.microsoft.com/office/drawing/2014/main" id="{A0DED0BF-4010-4D98-A9E8-877AEE7CFD72}"/>
              </a:ext>
            </a:extLst>
          </p:cNvPr>
          <p:cNvSpPr>
            <a:spLocks xmlns:a="http://schemas.openxmlformats.org/drawingml/2006/main" noGrp="1"/>
          </p:cNvSpPr>
          <p:nvPr/>
        </p:nvSpPr>
        <p:spPr>
          <a:xfrm xmlns:a="http://schemas.openxmlformats.org/drawingml/2006/main">
            <a:off x="704850" y="197167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FFFFFF"/>
                </a:solidFill>
                <a:latin typeface="Helvetica Neue"/>
                <a:ea typeface="Helvetica Neue"/>
                <a:cs typeface="Helvetica Neue"/>
              </a:defRPr>
            </a:defPPr>
            <a:lvl1pPr>
              <a:buNone/>
              <a:defRPr sz="2175" b="0">
                <a:solidFill>
                  <a:srgbClr val="B9D0DE"/>
                </a:solidFill>
                <a:latin typeface="Helvetica Neue"/>
                <a:ea typeface="Helvetica Neue"/>
                <a:cs typeface="Helvetica Neue"/>
              </a:defRPr>
            </a:lvl1pPr>
            <a:lvl2pPr>
              <a:buNone/>
              <a:defRPr sz="2175" b="0">
                <a:solidFill>
                  <a:srgbClr val="B9D0DE"/>
                </a:solidFill>
                <a:latin typeface="Helvetica Neue"/>
                <a:ea typeface="Helvetica Neue"/>
                <a:cs typeface="Helvetica Neue"/>
              </a:defRPr>
            </a:lvl2pPr>
            <a:lvl3pPr>
              <a:buNone/>
              <a:defRPr sz="2175" b="0">
                <a:solidFill>
                  <a:srgbClr val="B9D0DE"/>
                </a:solidFill>
                <a:latin typeface="Helvetica Neue"/>
                <a:ea typeface="Helvetica Neue"/>
                <a:cs typeface="Helvetica Neue"/>
              </a:defRPr>
            </a:lvl3pPr>
            <a:lvl4pPr>
              <a:buNone/>
              <a:defRPr sz="2175" b="0">
                <a:solidFill>
                  <a:srgbClr val="B9D0DE"/>
                </a:solidFill>
                <a:latin typeface="Helvetica Neue"/>
                <a:ea typeface="Helvetica Neue"/>
                <a:cs typeface="Helvetica Neue"/>
              </a:defRPr>
            </a:lvl4pPr>
            <a:lvl5pPr>
              <a:buNone/>
              <a:defRPr sz="2175" b="0">
                <a:solidFill>
                  <a:srgbClr val="B9D0DE"/>
                </a:solidFill>
                <a:latin typeface="Helvetica Neue"/>
                <a:ea typeface="Helvetica Neue"/>
                <a:cs typeface="Helvetica Neue"/>
              </a:defRPr>
            </a:lvl5pPr>
            <a:lvl6pPr>
              <a:buNone/>
              <a:defRPr sz="2175" b="0">
                <a:solidFill>
                  <a:srgbClr val="B9D0DE"/>
                </a:solidFill>
                <a:latin typeface="Helvetica Neue"/>
                <a:ea typeface="Helvetica Neue"/>
                <a:cs typeface="Helvetica Neue"/>
              </a:defRPr>
            </a:lvl6pPr>
            <a:lvl7pPr>
              <a:buNone/>
              <a:defRPr sz="2175" b="0">
                <a:solidFill>
                  <a:srgbClr val="B9D0DE"/>
                </a:solidFill>
                <a:latin typeface="Helvetica Neue"/>
                <a:ea typeface="Helvetica Neue"/>
                <a:cs typeface="Helvetica Neue"/>
              </a:defRPr>
            </a:lvl7pPr>
            <a:lvl8pPr>
              <a:buNone/>
              <a:defRPr sz="2175" b="0">
                <a:solidFill>
                  <a:srgbClr val="B9D0DE"/>
                </a:solidFill>
                <a:latin typeface="Helvetica Neue"/>
                <a:ea typeface="Helvetica Neue"/>
                <a:cs typeface="Helvetica Neue"/>
              </a:defRPr>
            </a:lvl8pPr>
            <a:lvl9pPr>
              <a:buNone/>
              <a:defRPr sz="2175" b="0">
                <a:solidFill>
                  <a:srgbClr val="B9D0DE"/>
                </a:solidFill>
                <a:latin typeface="Helvetica Neue"/>
                <a:ea typeface="Helvetica Neue"/>
                <a:cs typeface="Helvetica Neue"/>
              </a:defRPr>
            </a:lvl9pPr>
          </a:lstStyle>
          <a:p xmlns:a="http://schemas.openxmlformats.org/drawingml/2006/main">
            <a:pPr>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Extractor → provenance check</a:t>
            </a:r>
          </a:p>
        </p:txBody>
      </p:sp>
      <p:sp>
        <p:nvSpPr>
          <p:cNvPr id="4" name="">
            <a:extLst xmlns:a="http://schemas.openxmlformats.org/drawingml/2006/main">
              <a:ext uri="{FF2B5EF4-FFF2-40B4-BE49-F238E27FC236}">
                <a16:creationId xmlns:a16="http://schemas.microsoft.com/office/drawing/2014/main" id="{2E648BBD-C4DD-415C-991A-110734B2092F}"/>
              </a:ext>
            </a:extLst>
          </p:cNvPr>
          <p:cNvSpPr>
            <a:spLocks xmlns:a="http://schemas.openxmlformats.org/drawingml/2006/main" noGrp="1"/>
          </p:cNvSpPr>
          <p:nvPr/>
        </p:nvSpPr>
        <p:spPr>
          <a:xfrm xmlns:a="http://schemas.openxmlformats.org/drawingml/2006/main">
            <a:off x="704850" y="2371725"/>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buNone/>
              <a:defRPr sz="2400" b="1">
                <a:solidFill>
                  <a:srgbClr val="FFFFFF"/>
                </a:solidFill>
                <a:latin typeface="Helvetica Neue"/>
                <a:ea typeface="Helvetica Neue"/>
                <a:cs typeface="Helvetica Neue"/>
              </a:defRPr>
            </a:lvl1pPr>
            <a:lvl2pPr>
              <a:buNone/>
              <a:defRPr sz="2400" b="1">
                <a:solidFill>
                  <a:srgbClr val="FFFFFF"/>
                </a:solidFill>
                <a:latin typeface="Helvetica Neue"/>
                <a:ea typeface="Helvetica Neue"/>
                <a:cs typeface="Helvetica Neue"/>
              </a:defRPr>
            </a:lvl2pPr>
            <a:lvl3pPr>
              <a:buNone/>
              <a:defRPr sz="2400" b="1">
                <a:solidFill>
                  <a:srgbClr val="FFFFFF"/>
                </a:solidFill>
                <a:latin typeface="Helvetica Neue"/>
                <a:ea typeface="Helvetica Neue"/>
                <a:cs typeface="Helvetica Neue"/>
              </a:defRPr>
            </a:lvl3pPr>
            <a:lvl4pPr>
              <a:buNone/>
              <a:defRPr sz="2400" b="1">
                <a:solidFill>
                  <a:srgbClr val="FFFFFF"/>
                </a:solidFill>
                <a:latin typeface="Helvetica Neue"/>
                <a:ea typeface="Helvetica Neue"/>
                <a:cs typeface="Helvetica Neue"/>
              </a:defRPr>
            </a:lvl4pPr>
            <a:lvl5pPr>
              <a:buNone/>
              <a:defRPr sz="2400" b="1">
                <a:solidFill>
                  <a:srgbClr val="FFFFFF"/>
                </a:solidFill>
                <a:latin typeface="Helvetica Neue"/>
                <a:ea typeface="Helvetica Neue"/>
                <a:cs typeface="Helvetica Neue"/>
              </a:defRPr>
            </a:lvl5pPr>
            <a:lvl6pPr>
              <a:buNone/>
              <a:defRPr sz="2400" b="1">
                <a:solidFill>
                  <a:srgbClr val="FFFFFF"/>
                </a:solidFill>
                <a:latin typeface="Helvetica Neue"/>
                <a:ea typeface="Helvetica Neue"/>
                <a:cs typeface="Helvetica Neue"/>
              </a:defRPr>
            </a:lvl6pPr>
            <a:lvl7pPr>
              <a:buNone/>
              <a:defRPr sz="2400" b="1">
                <a:solidFill>
                  <a:srgbClr val="FFFFFF"/>
                </a:solidFill>
                <a:latin typeface="Helvetica Neue"/>
                <a:ea typeface="Helvetica Neue"/>
                <a:cs typeface="Helvetica Neue"/>
              </a:defRPr>
            </a:lvl7pPr>
            <a:lvl8pPr>
              <a:buNone/>
              <a:defRPr sz="2400" b="1">
                <a:solidFill>
                  <a:srgbClr val="FFFFFF"/>
                </a:solidFill>
                <a:latin typeface="Helvetica Neue"/>
                <a:ea typeface="Helvetica Neue"/>
                <a:cs typeface="Helvetica Neue"/>
              </a:defRPr>
            </a:lvl8pPr>
            <a:lvl9pPr>
              <a:buNone/>
              <a:defRPr sz="2400" b="1">
                <a:solidFill>
                  <a:srgbClr val="FFFFFF"/>
                </a:solidFill>
                <a:latin typeface="Helvetica Neue"/>
                <a:ea typeface="Helvetica Neue"/>
                <a:cs typeface="Helvetica Neue"/>
              </a:defRPr>
            </a:lvl9pPr>
          </a:lstStyle>
          <a:p xmlns:a="http://schemas.openxmlformats.org/drawingml/2006/main">
            <a:pPr>
              <a:buNone/>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Proposes observations; code checks exact quotes and source turns before accepting evidence.</a:t>
            </a:r>
          </a:p>
        </p:txBody>
      </p:sp>
      <p:sp>
        <p:nvSpPr>
          <p:cNvPr id="5" name="">
            <a:extLst xmlns:a="http://schemas.openxmlformats.org/drawingml/2006/main">
              <a:ext uri="{FF2B5EF4-FFF2-40B4-BE49-F238E27FC236}">
                <a16:creationId xmlns:a16="http://schemas.microsoft.com/office/drawing/2014/main" id="{40E31791-D807-45D7-8C32-72C2BCE7BA40}"/>
              </a:ext>
            </a:extLst>
          </p:cNvPr>
          <p:cNvSpPr>
            <a:spLocks xmlns:a="http://schemas.openxmlformats.org/drawingml/2006/main" noGrp="1"/>
          </p:cNvSpPr>
          <p:nvPr/>
        </p:nvSpPr>
        <p:spPr>
          <a:xfrm xmlns:a="http://schemas.openxmlformats.org/drawingml/2006/main">
            <a:off x="704850" y="324802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FFFFFF"/>
                </a:solidFill>
                <a:latin typeface="Helvetica Neue"/>
                <a:ea typeface="Helvetica Neue"/>
                <a:cs typeface="Helvetica Neue"/>
              </a:defRPr>
            </a:defPPr>
            <a:lvl1pPr>
              <a:buNone/>
              <a:defRPr sz="2175" b="0">
                <a:solidFill>
                  <a:srgbClr val="B9D0DE"/>
                </a:solidFill>
                <a:latin typeface="Helvetica Neue"/>
                <a:ea typeface="Helvetica Neue"/>
                <a:cs typeface="Helvetica Neue"/>
              </a:defRPr>
            </a:lvl1pPr>
            <a:lvl2pPr>
              <a:buNone/>
              <a:defRPr sz="2175" b="0">
                <a:solidFill>
                  <a:srgbClr val="B9D0DE"/>
                </a:solidFill>
                <a:latin typeface="Helvetica Neue"/>
                <a:ea typeface="Helvetica Neue"/>
                <a:cs typeface="Helvetica Neue"/>
              </a:defRPr>
            </a:lvl2pPr>
            <a:lvl3pPr>
              <a:buNone/>
              <a:defRPr sz="2175" b="0">
                <a:solidFill>
                  <a:srgbClr val="B9D0DE"/>
                </a:solidFill>
                <a:latin typeface="Helvetica Neue"/>
                <a:ea typeface="Helvetica Neue"/>
                <a:cs typeface="Helvetica Neue"/>
              </a:defRPr>
            </a:lvl3pPr>
            <a:lvl4pPr>
              <a:buNone/>
              <a:defRPr sz="2175" b="0">
                <a:solidFill>
                  <a:srgbClr val="B9D0DE"/>
                </a:solidFill>
                <a:latin typeface="Helvetica Neue"/>
                <a:ea typeface="Helvetica Neue"/>
                <a:cs typeface="Helvetica Neue"/>
              </a:defRPr>
            </a:lvl4pPr>
            <a:lvl5pPr>
              <a:buNone/>
              <a:defRPr sz="2175" b="0">
                <a:solidFill>
                  <a:srgbClr val="B9D0DE"/>
                </a:solidFill>
                <a:latin typeface="Helvetica Neue"/>
                <a:ea typeface="Helvetica Neue"/>
                <a:cs typeface="Helvetica Neue"/>
              </a:defRPr>
            </a:lvl5pPr>
            <a:lvl6pPr>
              <a:buNone/>
              <a:defRPr sz="2175" b="0">
                <a:solidFill>
                  <a:srgbClr val="B9D0DE"/>
                </a:solidFill>
                <a:latin typeface="Helvetica Neue"/>
                <a:ea typeface="Helvetica Neue"/>
                <a:cs typeface="Helvetica Neue"/>
              </a:defRPr>
            </a:lvl6pPr>
            <a:lvl7pPr>
              <a:buNone/>
              <a:defRPr sz="2175" b="0">
                <a:solidFill>
                  <a:srgbClr val="B9D0DE"/>
                </a:solidFill>
                <a:latin typeface="Helvetica Neue"/>
                <a:ea typeface="Helvetica Neue"/>
                <a:cs typeface="Helvetica Neue"/>
              </a:defRPr>
            </a:lvl7pPr>
            <a:lvl8pPr>
              <a:buNone/>
              <a:defRPr sz="2175" b="0">
                <a:solidFill>
                  <a:srgbClr val="B9D0DE"/>
                </a:solidFill>
                <a:latin typeface="Helvetica Neue"/>
                <a:ea typeface="Helvetica Neue"/>
                <a:cs typeface="Helvetica Neue"/>
              </a:defRPr>
            </a:lvl8pPr>
            <a:lvl9pPr>
              <a:buNone/>
              <a:defRPr sz="2175" b="0">
                <a:solidFill>
                  <a:srgbClr val="B9D0DE"/>
                </a:solidFill>
                <a:latin typeface="Helvetica Neue"/>
                <a:ea typeface="Helvetica Neue"/>
                <a:cs typeface="Helvetica Neue"/>
              </a:defRPr>
            </a:lvl9pPr>
          </a:lstStyle>
          <a:p xmlns:a="http://schemas.openxmlformats.org/drawingml/2006/main">
            <a:pPr>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Critic + read-only tools in parallel</a:t>
            </a:r>
          </a:p>
        </p:txBody>
      </p:sp>
      <p:sp>
        <p:nvSpPr>
          <p:cNvPr id="6" name="">
            <a:extLst xmlns:a="http://schemas.openxmlformats.org/drawingml/2006/main">
              <a:ext uri="{FF2B5EF4-FFF2-40B4-BE49-F238E27FC236}">
                <a16:creationId xmlns:a16="http://schemas.microsoft.com/office/drawing/2014/main" id="{E69423DE-DB65-4CFD-B019-30D4FA86AD82}"/>
              </a:ext>
            </a:extLst>
          </p:cNvPr>
          <p:cNvSpPr>
            <a:spLocks xmlns:a="http://schemas.openxmlformats.org/drawingml/2006/main" noGrp="1"/>
          </p:cNvSpPr>
          <p:nvPr/>
        </p:nvSpPr>
        <p:spPr>
          <a:xfrm xmlns:a="http://schemas.openxmlformats.org/drawingml/2006/main">
            <a:off x="704850" y="3648075"/>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buNone/>
              <a:defRPr sz="2400" b="1">
                <a:solidFill>
                  <a:srgbClr val="FFFFFF"/>
                </a:solidFill>
                <a:latin typeface="Helvetica Neue"/>
                <a:ea typeface="Helvetica Neue"/>
                <a:cs typeface="Helvetica Neue"/>
              </a:defRPr>
            </a:lvl1pPr>
            <a:lvl2pPr>
              <a:buNone/>
              <a:defRPr sz="2400" b="1">
                <a:solidFill>
                  <a:srgbClr val="FFFFFF"/>
                </a:solidFill>
                <a:latin typeface="Helvetica Neue"/>
                <a:ea typeface="Helvetica Neue"/>
                <a:cs typeface="Helvetica Neue"/>
              </a:defRPr>
            </a:lvl2pPr>
            <a:lvl3pPr>
              <a:buNone/>
              <a:defRPr sz="2400" b="1">
                <a:solidFill>
                  <a:srgbClr val="FFFFFF"/>
                </a:solidFill>
                <a:latin typeface="Helvetica Neue"/>
                <a:ea typeface="Helvetica Neue"/>
                <a:cs typeface="Helvetica Neue"/>
              </a:defRPr>
            </a:lvl3pPr>
            <a:lvl4pPr>
              <a:buNone/>
              <a:defRPr sz="2400" b="1">
                <a:solidFill>
                  <a:srgbClr val="FFFFFF"/>
                </a:solidFill>
                <a:latin typeface="Helvetica Neue"/>
                <a:ea typeface="Helvetica Neue"/>
                <a:cs typeface="Helvetica Neue"/>
              </a:defRPr>
            </a:lvl4pPr>
            <a:lvl5pPr>
              <a:buNone/>
              <a:defRPr sz="2400" b="1">
                <a:solidFill>
                  <a:srgbClr val="FFFFFF"/>
                </a:solidFill>
                <a:latin typeface="Helvetica Neue"/>
                <a:ea typeface="Helvetica Neue"/>
                <a:cs typeface="Helvetica Neue"/>
              </a:defRPr>
            </a:lvl5pPr>
            <a:lvl6pPr>
              <a:buNone/>
              <a:defRPr sz="2400" b="1">
                <a:solidFill>
                  <a:srgbClr val="FFFFFF"/>
                </a:solidFill>
                <a:latin typeface="Helvetica Neue"/>
                <a:ea typeface="Helvetica Neue"/>
                <a:cs typeface="Helvetica Neue"/>
              </a:defRPr>
            </a:lvl6pPr>
            <a:lvl7pPr>
              <a:buNone/>
              <a:defRPr sz="2400" b="1">
                <a:solidFill>
                  <a:srgbClr val="FFFFFF"/>
                </a:solidFill>
                <a:latin typeface="Helvetica Neue"/>
                <a:ea typeface="Helvetica Neue"/>
                <a:cs typeface="Helvetica Neue"/>
              </a:defRPr>
            </a:lvl7pPr>
            <a:lvl8pPr>
              <a:buNone/>
              <a:defRPr sz="2400" b="1">
                <a:solidFill>
                  <a:srgbClr val="FFFFFF"/>
                </a:solidFill>
                <a:latin typeface="Helvetica Neue"/>
                <a:ea typeface="Helvetica Neue"/>
                <a:cs typeface="Helvetica Neue"/>
              </a:defRPr>
            </a:lvl8pPr>
            <a:lvl9pPr>
              <a:buNone/>
              <a:defRPr sz="2400" b="1">
                <a:solidFill>
                  <a:srgbClr val="FFFFFF"/>
                </a:solidFill>
                <a:latin typeface="Helvetica Neue"/>
                <a:ea typeface="Helvetica Neue"/>
                <a:cs typeface="Helvetica Neue"/>
              </a:defRPr>
            </a:lvl9pPr>
          </a:lstStyle>
          <a:p xmlns:a="http://schemas.openxmlformats.org/drawingml/2006/main">
            <a:pPr>
              <a:buNone/>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Challenges unsupported claims; retrieves curated context, checks coverage and inspects evidence.</a:t>
            </a:r>
          </a:p>
        </p:txBody>
      </p:sp>
      <p:sp>
        <p:nvSpPr>
          <p:cNvPr id="7" name="">
            <a:extLst xmlns:a="http://schemas.openxmlformats.org/drawingml/2006/main">
              <a:ext uri="{FF2B5EF4-FFF2-40B4-BE49-F238E27FC236}">
                <a16:creationId xmlns:a16="http://schemas.microsoft.com/office/drawing/2014/main" id="{56A6B471-4674-47E5-9B61-E44114B0FCAD}"/>
              </a:ext>
            </a:extLst>
          </p:cNvPr>
          <p:cNvSpPr>
            <a:spLocks xmlns:a="http://schemas.openxmlformats.org/drawingml/2006/main" noGrp="1"/>
          </p:cNvSpPr>
          <p:nvPr/>
        </p:nvSpPr>
        <p:spPr>
          <a:xfrm xmlns:a="http://schemas.openxmlformats.org/drawingml/2006/main">
            <a:off x="704850" y="452437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FFFFFF"/>
                </a:solidFill>
                <a:latin typeface="Helvetica Neue"/>
                <a:ea typeface="Helvetica Neue"/>
                <a:cs typeface="Helvetica Neue"/>
              </a:defRPr>
            </a:defPPr>
            <a:lvl1pPr>
              <a:buNone/>
              <a:defRPr sz="2175" b="0">
                <a:solidFill>
                  <a:srgbClr val="B9D0DE"/>
                </a:solidFill>
                <a:latin typeface="Helvetica Neue"/>
                <a:ea typeface="Helvetica Neue"/>
                <a:cs typeface="Helvetica Neue"/>
              </a:defRPr>
            </a:lvl1pPr>
            <a:lvl2pPr>
              <a:buNone/>
              <a:defRPr sz="2175" b="0">
                <a:solidFill>
                  <a:srgbClr val="B9D0DE"/>
                </a:solidFill>
                <a:latin typeface="Helvetica Neue"/>
                <a:ea typeface="Helvetica Neue"/>
                <a:cs typeface="Helvetica Neue"/>
              </a:defRPr>
            </a:lvl2pPr>
            <a:lvl3pPr>
              <a:buNone/>
              <a:defRPr sz="2175" b="0">
                <a:solidFill>
                  <a:srgbClr val="B9D0DE"/>
                </a:solidFill>
                <a:latin typeface="Helvetica Neue"/>
                <a:ea typeface="Helvetica Neue"/>
                <a:cs typeface="Helvetica Neue"/>
              </a:defRPr>
            </a:lvl3pPr>
            <a:lvl4pPr>
              <a:buNone/>
              <a:defRPr sz="2175" b="0">
                <a:solidFill>
                  <a:srgbClr val="B9D0DE"/>
                </a:solidFill>
                <a:latin typeface="Helvetica Neue"/>
                <a:ea typeface="Helvetica Neue"/>
                <a:cs typeface="Helvetica Neue"/>
              </a:defRPr>
            </a:lvl4pPr>
            <a:lvl5pPr>
              <a:buNone/>
              <a:defRPr sz="2175" b="0">
                <a:solidFill>
                  <a:srgbClr val="B9D0DE"/>
                </a:solidFill>
                <a:latin typeface="Helvetica Neue"/>
                <a:ea typeface="Helvetica Neue"/>
                <a:cs typeface="Helvetica Neue"/>
              </a:defRPr>
            </a:lvl5pPr>
            <a:lvl6pPr>
              <a:buNone/>
              <a:defRPr sz="2175" b="0">
                <a:solidFill>
                  <a:srgbClr val="B9D0DE"/>
                </a:solidFill>
                <a:latin typeface="Helvetica Neue"/>
                <a:ea typeface="Helvetica Neue"/>
                <a:cs typeface="Helvetica Neue"/>
              </a:defRPr>
            </a:lvl6pPr>
            <a:lvl7pPr>
              <a:buNone/>
              <a:defRPr sz="2175" b="0">
                <a:solidFill>
                  <a:srgbClr val="B9D0DE"/>
                </a:solidFill>
                <a:latin typeface="Helvetica Neue"/>
                <a:ea typeface="Helvetica Neue"/>
                <a:cs typeface="Helvetica Neue"/>
              </a:defRPr>
            </a:lvl7pPr>
            <a:lvl8pPr>
              <a:buNone/>
              <a:defRPr sz="2175" b="0">
                <a:solidFill>
                  <a:srgbClr val="B9D0DE"/>
                </a:solidFill>
                <a:latin typeface="Helvetica Neue"/>
                <a:ea typeface="Helvetica Neue"/>
                <a:cs typeface="Helvetica Neue"/>
              </a:defRPr>
            </a:lvl8pPr>
            <a:lvl9pPr>
              <a:buNone/>
              <a:defRPr sz="2175" b="0">
                <a:solidFill>
                  <a:srgbClr val="B9D0DE"/>
                </a:solidFill>
                <a:latin typeface="Helvetica Neue"/>
                <a:ea typeface="Helvetica Neue"/>
                <a:cs typeface="Helvetica Neue"/>
              </a:defRPr>
            </a:lvl9pPr>
          </a:lstStyle>
          <a:p xmlns:a="http://schemas.openxmlformats.org/drawingml/2006/main">
            <a:pPr>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Planner → policy gate → checkpoint</a:t>
            </a:r>
          </a:p>
        </p:txBody>
      </p:sp>
      <p:sp>
        <p:nvSpPr>
          <p:cNvPr id="8" name="">
            <a:extLst xmlns:a="http://schemas.openxmlformats.org/drawingml/2006/main">
              <a:ext uri="{FF2B5EF4-FFF2-40B4-BE49-F238E27FC236}">
                <a16:creationId xmlns:a16="http://schemas.microsoft.com/office/drawing/2014/main" id="{4F956464-2D27-4259-8BEB-68761BCBE7D6}"/>
              </a:ext>
            </a:extLst>
          </p:cNvPr>
          <p:cNvSpPr>
            <a:spLocks xmlns:a="http://schemas.openxmlformats.org/drawingml/2006/main" noGrp="1"/>
          </p:cNvSpPr>
          <p:nvPr/>
        </p:nvSpPr>
        <p:spPr>
          <a:xfrm xmlns:a="http://schemas.openxmlformats.org/drawingml/2006/main">
            <a:off x="704850" y="4924425"/>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buNone/>
              <a:defRPr sz="2100" b="0">
                <a:solidFill>
                  <a:srgbClr val="FFFFFF"/>
                </a:solidFill>
                <a:latin typeface="Helvetica Neue"/>
                <a:ea typeface="Helvetica Neue"/>
                <a:cs typeface="Helvetica Neue"/>
              </a:defRPr>
            </a:lvl1pPr>
            <a:lvl2pPr>
              <a:buNone/>
              <a:defRPr sz="2100" b="0">
                <a:solidFill>
                  <a:srgbClr val="FFFFFF"/>
                </a:solidFill>
                <a:latin typeface="Helvetica Neue"/>
                <a:ea typeface="Helvetica Neue"/>
                <a:cs typeface="Helvetica Neue"/>
              </a:defRPr>
            </a:lvl2pPr>
            <a:lvl3pPr>
              <a:buNone/>
              <a:defRPr sz="2100" b="0">
                <a:solidFill>
                  <a:srgbClr val="FFFFFF"/>
                </a:solidFill>
                <a:latin typeface="Helvetica Neue"/>
                <a:ea typeface="Helvetica Neue"/>
                <a:cs typeface="Helvetica Neue"/>
              </a:defRPr>
            </a:lvl3pPr>
            <a:lvl4pPr>
              <a:buNone/>
              <a:defRPr sz="2100" b="0">
                <a:solidFill>
                  <a:srgbClr val="FFFFFF"/>
                </a:solidFill>
                <a:latin typeface="Helvetica Neue"/>
                <a:ea typeface="Helvetica Neue"/>
                <a:cs typeface="Helvetica Neue"/>
              </a:defRPr>
            </a:lvl4pPr>
            <a:lvl5pPr>
              <a:buNone/>
              <a:defRPr sz="2100" b="0">
                <a:solidFill>
                  <a:srgbClr val="FFFFFF"/>
                </a:solidFill>
                <a:latin typeface="Helvetica Neue"/>
                <a:ea typeface="Helvetica Neue"/>
                <a:cs typeface="Helvetica Neue"/>
              </a:defRPr>
            </a:lvl5pPr>
            <a:lvl6pPr>
              <a:buNone/>
              <a:defRPr sz="2100" b="0">
                <a:solidFill>
                  <a:srgbClr val="FFFFFF"/>
                </a:solidFill>
                <a:latin typeface="Helvetica Neue"/>
                <a:ea typeface="Helvetica Neue"/>
                <a:cs typeface="Helvetica Neue"/>
              </a:defRPr>
            </a:lvl6pPr>
            <a:lvl7pPr>
              <a:buNone/>
              <a:defRPr sz="2100" b="0">
                <a:solidFill>
                  <a:srgbClr val="FFFFFF"/>
                </a:solidFill>
                <a:latin typeface="Helvetica Neue"/>
                <a:ea typeface="Helvetica Neue"/>
                <a:cs typeface="Helvetica Neue"/>
              </a:defRPr>
            </a:lvl7pPr>
            <a:lvl8pPr>
              <a:buNone/>
              <a:defRPr sz="2100" b="0">
                <a:solidFill>
                  <a:srgbClr val="FFFFFF"/>
                </a:solidFill>
                <a:latin typeface="Helvetica Neue"/>
                <a:ea typeface="Helvetica Neue"/>
                <a:cs typeface="Helvetica Neue"/>
              </a:defRPr>
            </a:lvl8pPr>
            <a:lvl9pPr>
              <a:buNone/>
              <a:defRPr sz="2100" b="0">
                <a:solidFill>
                  <a:srgbClr val="FFFFFF"/>
                </a:solidFill>
                <a:latin typeface="Helvetica Neue"/>
                <a:ea typeface="Helvetica Neue"/>
                <a:cs typeface="Helvetica Neue"/>
              </a:defRPr>
            </a:lvl9pPr>
          </a:lstStyle>
          <a:p xmlns:a="http://schemas.openxmlformats.org/drawingml/2006/main">
            <a:pPr>
              <a:buNone/>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Ranks gaps and contradictions. Code can override a question, request clarification or end for review.</a:t>
            </a:r>
          </a:p>
        </p:txBody>
      </p:sp>
      <p:sp>
        <p:nvSpPr>
          <p:cNvPr id="9" name="">
            <a:extLst xmlns:a="http://schemas.openxmlformats.org/drawingml/2006/main">
              <a:ext uri="{FF2B5EF4-FFF2-40B4-BE49-F238E27FC236}">
                <a16:creationId xmlns:a16="http://schemas.microsoft.com/office/drawing/2014/main" id="{7FB03845-909B-490E-A3E7-35BC138F8611}"/>
              </a:ext>
            </a:extLst>
          </p:cNvPr>
          <p:cNvSpPr>
            <a:spLocks xmlns:a="http://schemas.openxmlformats.org/drawingml/2006/main" noGrp="1"/>
          </p:cNvSpPr>
          <p:nvPr/>
        </p:nvSpPr>
        <p:spPr>
          <a:xfrm xmlns:a="http://schemas.openxmlformats.org/drawingml/2006/main">
            <a:off x="6343650" y="1400175"/>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0A9D6"/>
                </a:solidFill>
                <a:latin typeface="Helvetica Neue"/>
                <a:ea typeface="Helvetica Neue"/>
                <a:cs typeface="Helvetica Neue"/>
              </a:defRPr>
            </a:defPPr>
            <a:lvl1pPr>
              <a:buNone/>
              <a:defRPr sz="1950" b="1">
                <a:solidFill>
                  <a:srgbClr val="00A9D6"/>
                </a:solidFill>
                <a:latin typeface="Helvetica Neue"/>
                <a:ea typeface="Helvetica Neue"/>
                <a:cs typeface="Helvetica Neue"/>
              </a:defRPr>
            </a:lvl1pPr>
            <a:lvl2pPr>
              <a:buNone/>
              <a:defRPr sz="1950" b="1">
                <a:solidFill>
                  <a:srgbClr val="00A9D6"/>
                </a:solidFill>
                <a:latin typeface="Helvetica Neue"/>
                <a:ea typeface="Helvetica Neue"/>
                <a:cs typeface="Helvetica Neue"/>
              </a:defRPr>
            </a:lvl2pPr>
            <a:lvl3pPr>
              <a:buNone/>
              <a:defRPr sz="1950" b="1">
                <a:solidFill>
                  <a:srgbClr val="00A9D6"/>
                </a:solidFill>
                <a:latin typeface="Helvetica Neue"/>
                <a:ea typeface="Helvetica Neue"/>
                <a:cs typeface="Helvetica Neue"/>
              </a:defRPr>
            </a:lvl3pPr>
            <a:lvl4pPr>
              <a:buNone/>
              <a:defRPr sz="1950" b="1">
                <a:solidFill>
                  <a:srgbClr val="00A9D6"/>
                </a:solidFill>
                <a:latin typeface="Helvetica Neue"/>
                <a:ea typeface="Helvetica Neue"/>
                <a:cs typeface="Helvetica Neue"/>
              </a:defRPr>
            </a:lvl4pPr>
            <a:lvl5pPr>
              <a:buNone/>
              <a:defRPr sz="1950" b="1">
                <a:solidFill>
                  <a:srgbClr val="00A9D6"/>
                </a:solidFill>
                <a:latin typeface="Helvetica Neue"/>
                <a:ea typeface="Helvetica Neue"/>
                <a:cs typeface="Helvetica Neue"/>
              </a:defRPr>
            </a:lvl5pPr>
            <a:lvl6pPr>
              <a:buNone/>
              <a:defRPr sz="1950" b="1">
                <a:solidFill>
                  <a:srgbClr val="00A9D6"/>
                </a:solidFill>
                <a:latin typeface="Helvetica Neue"/>
                <a:ea typeface="Helvetica Neue"/>
                <a:cs typeface="Helvetica Neue"/>
              </a:defRPr>
            </a:lvl6pPr>
            <a:lvl7pPr>
              <a:buNone/>
              <a:defRPr sz="1950" b="1">
                <a:solidFill>
                  <a:srgbClr val="00A9D6"/>
                </a:solidFill>
                <a:latin typeface="Helvetica Neue"/>
                <a:ea typeface="Helvetica Neue"/>
                <a:cs typeface="Helvetica Neue"/>
              </a:defRPr>
            </a:lvl7pPr>
            <a:lvl8pPr>
              <a:buNone/>
              <a:defRPr sz="1950" b="1">
                <a:solidFill>
                  <a:srgbClr val="00A9D6"/>
                </a:solidFill>
                <a:latin typeface="Helvetica Neue"/>
                <a:ea typeface="Helvetica Neue"/>
                <a:cs typeface="Helvetica Neue"/>
              </a:defRPr>
            </a:lvl8pPr>
            <a:lvl9pPr>
              <a:buNone/>
              <a:defRPr sz="1950" b="1">
                <a:solidFill>
                  <a:srgbClr val="00A9D6"/>
                </a:solidFill>
                <a:latin typeface="Helvetica Neue"/>
                <a:ea typeface="Helvetica Neue"/>
                <a:cs typeface="Helvetica Neue"/>
              </a:defRPr>
            </a:lvl9pPr>
          </a:lstStyle>
          <a:p xmlns:a="http://schemas.openxmlformats.org/drawingml/2006/main">
            <a:pPr>
              <a:buNone/>
              <a:defRPr sz="2175" b="1">
                <a:solidFill>
                  <a:srgbClr val="00A9D6"/>
                </a:solidFill>
                <a:latin typeface="Helvetica Neue"/>
                <a:ea typeface="Helvetica Neue"/>
                <a:cs typeface="Helvetica Neue"/>
              </a:defRPr>
            </a:pPr>
            <a:r>
              <a:rPr sz="2175" b="1">
                <a:solidFill>
                  <a:srgbClr val="00A9D6"/>
                </a:solidFill>
                <a:latin typeface="Helvetica Neue"/>
                <a:ea typeface="Helvetica Neue"/>
                <a:cs typeface="Helvetica Neue"/>
              </a:rPr>
              <a:t>What code enforces</a:t>
            </a:r>
          </a:p>
        </p:txBody>
      </p:sp>
      <p:sp>
        <p:nvSpPr>
          <p:cNvPr id="10" name="">
            <a:extLst xmlns:a="http://schemas.openxmlformats.org/drawingml/2006/main">
              <a:ext uri="{FF2B5EF4-FFF2-40B4-BE49-F238E27FC236}">
                <a16:creationId xmlns:a16="http://schemas.microsoft.com/office/drawing/2014/main" id="{62C161FC-0292-43F6-8297-23D1171AEB8C}"/>
              </a:ext>
            </a:extLst>
          </p:cNvPr>
          <p:cNvSpPr>
            <a:spLocks xmlns:a="http://schemas.openxmlformats.org/drawingml/2006/main" noGrp="1"/>
          </p:cNvSpPr>
          <p:nvPr/>
        </p:nvSpPr>
        <p:spPr>
          <a:xfrm xmlns:a="http://schemas.openxmlformats.org/drawingml/2006/main">
            <a:off x="6343650" y="197167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FFFFFF"/>
                </a:solidFill>
                <a:latin typeface="Helvetica Neue"/>
                <a:ea typeface="Helvetica Neue"/>
                <a:cs typeface="Helvetica Neue"/>
              </a:defRPr>
            </a:defPPr>
            <a:lvl1pPr>
              <a:buNone/>
              <a:defRPr sz="1950" b="1">
                <a:solidFill>
                  <a:srgbClr val="00A9D6"/>
                </a:solidFill>
                <a:latin typeface="Helvetica Neue"/>
                <a:ea typeface="Helvetica Neue"/>
                <a:cs typeface="Helvetica Neue"/>
              </a:defRPr>
            </a:lvl1pPr>
            <a:lvl2pPr>
              <a:buNone/>
              <a:defRPr sz="1950" b="1">
                <a:solidFill>
                  <a:srgbClr val="00A9D6"/>
                </a:solidFill>
                <a:latin typeface="Helvetica Neue"/>
                <a:ea typeface="Helvetica Neue"/>
                <a:cs typeface="Helvetica Neue"/>
              </a:defRPr>
            </a:lvl2pPr>
            <a:lvl3pPr>
              <a:buNone/>
              <a:defRPr sz="1950" b="1">
                <a:solidFill>
                  <a:srgbClr val="00A9D6"/>
                </a:solidFill>
                <a:latin typeface="Helvetica Neue"/>
                <a:ea typeface="Helvetica Neue"/>
                <a:cs typeface="Helvetica Neue"/>
              </a:defRPr>
            </a:lvl3pPr>
            <a:lvl4pPr>
              <a:buNone/>
              <a:defRPr sz="1950" b="1">
                <a:solidFill>
                  <a:srgbClr val="00A9D6"/>
                </a:solidFill>
                <a:latin typeface="Helvetica Neue"/>
                <a:ea typeface="Helvetica Neue"/>
                <a:cs typeface="Helvetica Neue"/>
              </a:defRPr>
            </a:lvl4pPr>
            <a:lvl5pPr>
              <a:buNone/>
              <a:defRPr sz="1950" b="1">
                <a:solidFill>
                  <a:srgbClr val="00A9D6"/>
                </a:solidFill>
                <a:latin typeface="Helvetica Neue"/>
                <a:ea typeface="Helvetica Neue"/>
                <a:cs typeface="Helvetica Neue"/>
              </a:defRPr>
            </a:lvl5pPr>
            <a:lvl6pPr>
              <a:buNone/>
              <a:defRPr sz="1950" b="1">
                <a:solidFill>
                  <a:srgbClr val="00A9D6"/>
                </a:solidFill>
                <a:latin typeface="Helvetica Neue"/>
                <a:ea typeface="Helvetica Neue"/>
                <a:cs typeface="Helvetica Neue"/>
              </a:defRPr>
            </a:lvl6pPr>
            <a:lvl7pPr>
              <a:buNone/>
              <a:defRPr sz="1950" b="1">
                <a:solidFill>
                  <a:srgbClr val="00A9D6"/>
                </a:solidFill>
                <a:latin typeface="Helvetica Neue"/>
                <a:ea typeface="Helvetica Neue"/>
                <a:cs typeface="Helvetica Neue"/>
              </a:defRPr>
            </a:lvl7pPr>
            <a:lvl8pPr>
              <a:buNone/>
              <a:defRPr sz="1950" b="1">
                <a:solidFill>
                  <a:srgbClr val="00A9D6"/>
                </a:solidFill>
                <a:latin typeface="Helvetica Neue"/>
                <a:ea typeface="Helvetica Neue"/>
                <a:cs typeface="Helvetica Neue"/>
              </a:defRPr>
            </a:lvl8pPr>
            <a:lvl9pPr>
              <a:buNone/>
              <a:defRPr sz="1950" b="1">
                <a:solidFill>
                  <a:srgbClr val="00A9D6"/>
                </a:solidFill>
                <a:latin typeface="Helvetica Neue"/>
                <a:ea typeface="Helvetica Neue"/>
                <a:cs typeface="Helvetica Neue"/>
              </a:defRPr>
            </a:lvl9pPr>
          </a:lstStyle>
          <a:p xmlns:a="http://schemas.openxmlformats.org/drawingml/2006/main">
            <a:pPr>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Bounded execution</a:t>
            </a:r>
          </a:p>
        </p:txBody>
      </p:sp>
      <p:sp>
        <p:nvSpPr>
          <p:cNvPr id="11" name="">
            <a:extLst xmlns:a="http://schemas.openxmlformats.org/drawingml/2006/main">
              <a:ext uri="{FF2B5EF4-FFF2-40B4-BE49-F238E27FC236}">
                <a16:creationId xmlns:a16="http://schemas.microsoft.com/office/drawing/2014/main" id="{AFDA5CCD-84D0-4A77-894B-EE4ACB816B50}"/>
              </a:ext>
            </a:extLst>
          </p:cNvPr>
          <p:cNvSpPr>
            <a:spLocks xmlns:a="http://schemas.openxmlformats.org/drawingml/2006/main" noGrp="1"/>
          </p:cNvSpPr>
          <p:nvPr/>
        </p:nvSpPr>
        <p:spPr>
          <a:xfrm xmlns:a="http://schemas.openxmlformats.org/drawingml/2006/main">
            <a:off x="6343650" y="2371725"/>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buNone/>
              <a:defRPr sz="1275" b="0">
                <a:solidFill>
                  <a:srgbClr val="B9D0DE"/>
                </a:solidFill>
                <a:latin typeface="Helvetica Neue"/>
                <a:ea typeface="Helvetica Neue"/>
                <a:cs typeface="Helvetica Neue"/>
              </a:defRPr>
            </a:lvl1pPr>
            <a:lvl2pPr>
              <a:buNone/>
              <a:defRPr sz="1275" b="0">
                <a:solidFill>
                  <a:srgbClr val="B9D0DE"/>
                </a:solidFill>
                <a:latin typeface="Helvetica Neue"/>
                <a:ea typeface="Helvetica Neue"/>
                <a:cs typeface="Helvetica Neue"/>
              </a:defRPr>
            </a:lvl2pPr>
            <a:lvl3pPr>
              <a:buNone/>
              <a:defRPr sz="1275" b="0">
                <a:solidFill>
                  <a:srgbClr val="B9D0DE"/>
                </a:solidFill>
                <a:latin typeface="Helvetica Neue"/>
                <a:ea typeface="Helvetica Neue"/>
                <a:cs typeface="Helvetica Neue"/>
              </a:defRPr>
            </a:lvl3pPr>
            <a:lvl4pPr>
              <a:buNone/>
              <a:defRPr sz="1275" b="0">
                <a:solidFill>
                  <a:srgbClr val="B9D0DE"/>
                </a:solidFill>
                <a:latin typeface="Helvetica Neue"/>
                <a:ea typeface="Helvetica Neue"/>
                <a:cs typeface="Helvetica Neue"/>
              </a:defRPr>
            </a:lvl4pPr>
            <a:lvl5pPr>
              <a:buNone/>
              <a:defRPr sz="1275" b="0">
                <a:solidFill>
                  <a:srgbClr val="B9D0DE"/>
                </a:solidFill>
                <a:latin typeface="Helvetica Neue"/>
                <a:ea typeface="Helvetica Neue"/>
                <a:cs typeface="Helvetica Neue"/>
              </a:defRPr>
            </a:lvl5pPr>
            <a:lvl6pPr>
              <a:buNone/>
              <a:defRPr sz="1275" b="0">
                <a:solidFill>
                  <a:srgbClr val="B9D0DE"/>
                </a:solidFill>
                <a:latin typeface="Helvetica Neue"/>
                <a:ea typeface="Helvetica Neue"/>
                <a:cs typeface="Helvetica Neue"/>
              </a:defRPr>
            </a:lvl6pPr>
            <a:lvl7pPr>
              <a:buNone/>
              <a:defRPr sz="1275" b="0">
                <a:solidFill>
                  <a:srgbClr val="B9D0DE"/>
                </a:solidFill>
                <a:latin typeface="Helvetica Neue"/>
                <a:ea typeface="Helvetica Neue"/>
                <a:cs typeface="Helvetica Neue"/>
              </a:defRPr>
            </a:lvl7pPr>
            <a:lvl8pPr>
              <a:buNone/>
              <a:defRPr sz="1275" b="0">
                <a:solidFill>
                  <a:srgbClr val="B9D0DE"/>
                </a:solidFill>
                <a:latin typeface="Helvetica Neue"/>
                <a:ea typeface="Helvetica Neue"/>
                <a:cs typeface="Helvetica Neue"/>
              </a:defRPr>
            </a:lvl8pPr>
            <a:lvl9pPr>
              <a:buNone/>
              <a:defRPr sz="1275" b="0">
                <a:solidFill>
                  <a:srgbClr val="B9D0DE"/>
                </a:solidFill>
                <a:latin typeface="Helvetica Neue"/>
                <a:ea typeface="Helvetica Neue"/>
                <a:cs typeface="Helvetica Neue"/>
              </a:defRPr>
            </a:lvl9pPr>
          </a:lstStyle>
          <a:p xmlns:a="http://schemas.openxmlformats.org/drawingml/2006/main">
            <a:pPr>
              <a:buNone/>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Per turn: ≤4 model calls, ≤3 tools, one shared repair; 55 s deadline. Interview: ≤14 merchant turns.</a:t>
            </a:r>
          </a:p>
        </p:txBody>
      </p:sp>
      <p:sp>
        <p:nvSpPr>
          <p:cNvPr id="12" name="">
            <a:extLst xmlns:a="http://schemas.openxmlformats.org/drawingml/2006/main">
              <a:ext uri="{FF2B5EF4-FFF2-40B4-BE49-F238E27FC236}">
                <a16:creationId xmlns:a16="http://schemas.microsoft.com/office/drawing/2014/main" id="{1E0D5428-D6EE-4F43-A10F-A481245F0E0E}"/>
              </a:ext>
            </a:extLst>
          </p:cNvPr>
          <p:cNvSpPr>
            <a:spLocks xmlns:a="http://schemas.openxmlformats.org/drawingml/2006/main" noGrp="1"/>
          </p:cNvSpPr>
          <p:nvPr/>
        </p:nvSpPr>
        <p:spPr>
          <a:xfrm xmlns:a="http://schemas.openxmlformats.org/drawingml/2006/main">
            <a:off x="6343650" y="324802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FFFFFF"/>
                </a:solidFill>
                <a:latin typeface="Helvetica Neue"/>
                <a:ea typeface="Helvetica Neue"/>
                <a:cs typeface="Helvetica Neue"/>
              </a:defRPr>
            </a:defPPr>
            <a:lvl1pPr>
              <a:buNone/>
              <a:defRPr sz="1275" b="0">
                <a:solidFill>
                  <a:srgbClr val="B9D0DE"/>
                </a:solidFill>
                <a:latin typeface="Helvetica Neue"/>
                <a:ea typeface="Helvetica Neue"/>
                <a:cs typeface="Helvetica Neue"/>
              </a:defRPr>
            </a:lvl1pPr>
            <a:lvl2pPr>
              <a:buNone/>
              <a:defRPr sz="1275" b="0">
                <a:solidFill>
                  <a:srgbClr val="B9D0DE"/>
                </a:solidFill>
                <a:latin typeface="Helvetica Neue"/>
                <a:ea typeface="Helvetica Neue"/>
                <a:cs typeface="Helvetica Neue"/>
              </a:defRPr>
            </a:lvl2pPr>
            <a:lvl3pPr>
              <a:buNone/>
              <a:defRPr sz="1275" b="0">
                <a:solidFill>
                  <a:srgbClr val="B9D0DE"/>
                </a:solidFill>
                <a:latin typeface="Helvetica Neue"/>
                <a:ea typeface="Helvetica Neue"/>
                <a:cs typeface="Helvetica Neue"/>
              </a:defRPr>
            </a:lvl3pPr>
            <a:lvl4pPr>
              <a:buNone/>
              <a:defRPr sz="1275" b="0">
                <a:solidFill>
                  <a:srgbClr val="B9D0DE"/>
                </a:solidFill>
                <a:latin typeface="Helvetica Neue"/>
                <a:ea typeface="Helvetica Neue"/>
                <a:cs typeface="Helvetica Neue"/>
              </a:defRPr>
            </a:lvl4pPr>
            <a:lvl5pPr>
              <a:buNone/>
              <a:defRPr sz="1275" b="0">
                <a:solidFill>
                  <a:srgbClr val="B9D0DE"/>
                </a:solidFill>
                <a:latin typeface="Helvetica Neue"/>
                <a:ea typeface="Helvetica Neue"/>
                <a:cs typeface="Helvetica Neue"/>
              </a:defRPr>
            </a:lvl5pPr>
            <a:lvl6pPr>
              <a:buNone/>
              <a:defRPr sz="1275" b="0">
                <a:solidFill>
                  <a:srgbClr val="B9D0DE"/>
                </a:solidFill>
                <a:latin typeface="Helvetica Neue"/>
                <a:ea typeface="Helvetica Neue"/>
                <a:cs typeface="Helvetica Neue"/>
              </a:defRPr>
            </a:lvl6pPr>
            <a:lvl7pPr>
              <a:buNone/>
              <a:defRPr sz="1275" b="0">
                <a:solidFill>
                  <a:srgbClr val="B9D0DE"/>
                </a:solidFill>
                <a:latin typeface="Helvetica Neue"/>
                <a:ea typeface="Helvetica Neue"/>
                <a:cs typeface="Helvetica Neue"/>
              </a:defRPr>
            </a:lvl7pPr>
            <a:lvl8pPr>
              <a:buNone/>
              <a:defRPr sz="1275" b="0">
                <a:solidFill>
                  <a:srgbClr val="B9D0DE"/>
                </a:solidFill>
                <a:latin typeface="Helvetica Neue"/>
                <a:ea typeface="Helvetica Neue"/>
                <a:cs typeface="Helvetica Neue"/>
              </a:defRPr>
            </a:lvl8pPr>
            <a:lvl9pPr>
              <a:buNone/>
              <a:defRPr sz="1275" b="0">
                <a:solidFill>
                  <a:srgbClr val="B9D0DE"/>
                </a:solidFill>
                <a:latin typeface="Helvetica Neue"/>
                <a:ea typeface="Helvetica Neue"/>
                <a:cs typeface="Helvetica Neue"/>
              </a:defRPr>
            </a:lvl9pPr>
          </a:lstStyle>
          <a:p xmlns:a="http://schemas.openxmlformats.org/drawingml/2006/main">
            <a:pPr>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Authority and evidence</a:t>
            </a:r>
          </a:p>
        </p:txBody>
      </p:sp>
      <p:sp>
        <p:nvSpPr>
          <p:cNvPr id="14" name="">
            <a:extLst xmlns:a="http://schemas.openxmlformats.org/drawingml/2006/main">
              <a:ext uri="{FF2B5EF4-FFF2-40B4-BE49-F238E27FC236}">
                <a16:creationId xmlns:a16="http://schemas.microsoft.com/office/drawing/2014/main" id="{343EE19A-B18A-4282-90D8-1C6004384926}"/>
              </a:ext>
            </a:extLst>
          </p:cNvPr>
          <p:cNvSpPr>
            <a:spLocks xmlns:a="http://schemas.openxmlformats.org/drawingml/2006/main" noGrp="1"/>
          </p:cNvSpPr>
          <p:nvPr/>
        </p:nvSpPr>
        <p:spPr>
          <a:xfrm xmlns:a="http://schemas.openxmlformats.org/drawingml/2006/main">
            <a:off x="6343650" y="3648075"/>
            <a:ext cx="5143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buNone/>
              <a:defRPr sz="1425" b="0">
                <a:solidFill>
                  <a:srgbClr val="B9D0DE"/>
                </a:solidFill>
                <a:latin typeface="Helvetica Neue"/>
                <a:ea typeface="Helvetica Neue"/>
                <a:cs typeface="Helvetica Neue"/>
              </a:defRPr>
            </a:lvl1pPr>
            <a:lvl2pPr>
              <a:buNone/>
              <a:defRPr sz="1425" b="0">
                <a:solidFill>
                  <a:srgbClr val="B9D0DE"/>
                </a:solidFill>
                <a:latin typeface="Helvetica Neue"/>
                <a:ea typeface="Helvetica Neue"/>
                <a:cs typeface="Helvetica Neue"/>
              </a:defRPr>
            </a:lvl2pPr>
            <a:lvl3pPr>
              <a:buNone/>
              <a:defRPr sz="1425" b="0">
                <a:solidFill>
                  <a:srgbClr val="B9D0DE"/>
                </a:solidFill>
                <a:latin typeface="Helvetica Neue"/>
                <a:ea typeface="Helvetica Neue"/>
                <a:cs typeface="Helvetica Neue"/>
              </a:defRPr>
            </a:lvl3pPr>
            <a:lvl4pPr>
              <a:buNone/>
              <a:defRPr sz="1425" b="0">
                <a:solidFill>
                  <a:srgbClr val="B9D0DE"/>
                </a:solidFill>
                <a:latin typeface="Helvetica Neue"/>
                <a:ea typeface="Helvetica Neue"/>
                <a:cs typeface="Helvetica Neue"/>
              </a:defRPr>
            </a:lvl4pPr>
            <a:lvl5pPr>
              <a:buNone/>
              <a:defRPr sz="1425" b="0">
                <a:solidFill>
                  <a:srgbClr val="B9D0DE"/>
                </a:solidFill>
                <a:latin typeface="Helvetica Neue"/>
                <a:ea typeface="Helvetica Neue"/>
                <a:cs typeface="Helvetica Neue"/>
              </a:defRPr>
            </a:lvl5pPr>
            <a:lvl6pPr>
              <a:buNone/>
              <a:defRPr sz="1425" b="0">
                <a:solidFill>
                  <a:srgbClr val="B9D0DE"/>
                </a:solidFill>
                <a:latin typeface="Helvetica Neue"/>
                <a:ea typeface="Helvetica Neue"/>
                <a:cs typeface="Helvetica Neue"/>
              </a:defRPr>
            </a:lvl6pPr>
            <a:lvl7pPr>
              <a:buNone/>
              <a:defRPr sz="1425" b="0">
                <a:solidFill>
                  <a:srgbClr val="B9D0DE"/>
                </a:solidFill>
                <a:latin typeface="Helvetica Neue"/>
                <a:ea typeface="Helvetica Neue"/>
                <a:cs typeface="Helvetica Neue"/>
              </a:defRPr>
            </a:lvl7pPr>
            <a:lvl8pPr>
              <a:buNone/>
              <a:defRPr sz="1425" b="0">
                <a:solidFill>
                  <a:srgbClr val="B9D0DE"/>
                </a:solidFill>
                <a:latin typeface="Helvetica Neue"/>
                <a:ea typeface="Helvetica Neue"/>
                <a:cs typeface="Helvetica Neue"/>
              </a:defRPr>
            </a:lvl8pPr>
            <a:lvl9pPr>
              <a:buNone/>
              <a:defRPr sz="1425" b="0">
                <a:solidFill>
                  <a:srgbClr val="B9D0DE"/>
                </a:solidFill>
                <a:latin typeface="Helvetica Neue"/>
                <a:ea typeface="Helvetica Neue"/>
                <a:cs typeface="Helvetica Neue"/>
              </a:defRPr>
            </a:lvl9pPr>
          </a:lstStyle>
          <a:p xmlns:a="http://schemas.openxmlformats.org/drawingml/2006/main">
            <a:pPr>
              <a:buNone/>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No OTP/PIN requests or payment/refund tools. Merchant text cannot grant export approval. Edits reset approval.</a:t>
            </a:r>
          </a:p>
        </p:txBody>
      </p:sp>
      <p:sp>
        <p:nvSpPr>
          <p:cNvPr id="15" name="">
            <a:extLst xmlns:a="http://schemas.openxmlformats.org/drawingml/2006/main">
              <a:ext uri="{FF2B5EF4-FFF2-40B4-BE49-F238E27FC236}">
                <a16:creationId xmlns:a16="http://schemas.microsoft.com/office/drawing/2014/main" id="{E70F335E-076A-4D56-A688-7B351C472849}"/>
              </a:ext>
            </a:extLst>
          </p:cNvPr>
          <p:cNvSpPr>
            <a:spLocks xmlns:a="http://schemas.openxmlformats.org/drawingml/2006/main" noGrp="1"/>
          </p:cNvSpPr>
          <p:nvPr/>
        </p:nvSpPr>
        <p:spPr>
          <a:xfrm xmlns:a="http://schemas.openxmlformats.org/drawingml/2006/main">
            <a:off x="6343650" y="4524375"/>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FFFFFF"/>
                </a:solidFill>
                <a:latin typeface="Helvetica Neue"/>
                <a:ea typeface="Helvetica Neue"/>
                <a:cs typeface="Helvetica Neue"/>
              </a:defRPr>
            </a:defPPr>
            <a:lvl1pPr>
              <a:defRPr sz="1950" b="1">
                <a:solidFill>
                  <a:srgbClr val="FFFFFF"/>
                </a:solidFill>
                <a:latin typeface="Helvetica Neue"/>
                <a:ea typeface="Helvetica Neue"/>
                <a:cs typeface="Helvetica Neue"/>
              </a:defRPr>
            </a:lvl1pPr>
            <a:lvl2pPr>
              <a:defRPr sz="1950" b="1">
                <a:solidFill>
                  <a:srgbClr val="FFFFFF"/>
                </a:solidFill>
                <a:latin typeface="Helvetica Neue"/>
                <a:ea typeface="Helvetica Neue"/>
                <a:cs typeface="Helvetica Neue"/>
              </a:defRPr>
            </a:lvl2pPr>
            <a:lvl3pPr>
              <a:defRPr sz="1950" b="1">
                <a:solidFill>
                  <a:srgbClr val="FFFFFF"/>
                </a:solidFill>
                <a:latin typeface="Helvetica Neue"/>
                <a:ea typeface="Helvetica Neue"/>
                <a:cs typeface="Helvetica Neue"/>
              </a:defRPr>
            </a:lvl3pPr>
            <a:lvl4pPr>
              <a:defRPr sz="1950" b="1">
                <a:solidFill>
                  <a:srgbClr val="FFFFFF"/>
                </a:solidFill>
                <a:latin typeface="Helvetica Neue"/>
                <a:ea typeface="Helvetica Neue"/>
                <a:cs typeface="Helvetica Neue"/>
              </a:defRPr>
            </a:lvl4pPr>
            <a:lvl5pPr>
              <a:defRPr sz="1950" b="1">
                <a:solidFill>
                  <a:srgbClr val="FFFFFF"/>
                </a:solidFill>
                <a:latin typeface="Helvetica Neue"/>
                <a:ea typeface="Helvetica Neue"/>
                <a:cs typeface="Helvetica Neue"/>
              </a:defRPr>
            </a:lvl5pPr>
            <a:lvl6pPr>
              <a:defRPr sz="1950" b="1">
                <a:solidFill>
                  <a:srgbClr val="FFFFFF"/>
                </a:solidFill>
                <a:latin typeface="Helvetica Neue"/>
                <a:ea typeface="Helvetica Neue"/>
                <a:cs typeface="Helvetica Neue"/>
              </a:defRPr>
            </a:lvl6pPr>
            <a:lvl7pPr>
              <a:defRPr sz="1950" b="1">
                <a:solidFill>
                  <a:srgbClr val="FFFFFF"/>
                </a:solidFill>
                <a:latin typeface="Helvetica Neue"/>
                <a:ea typeface="Helvetica Neue"/>
                <a:cs typeface="Helvetica Neue"/>
              </a:defRPr>
            </a:lvl7pPr>
            <a:lvl8pPr>
              <a:defRPr sz="1950" b="1">
                <a:solidFill>
                  <a:srgbClr val="FFFFFF"/>
                </a:solidFill>
                <a:latin typeface="Helvetica Neue"/>
                <a:ea typeface="Helvetica Neue"/>
                <a:cs typeface="Helvetica Neue"/>
              </a:defRPr>
            </a:lvl8pPr>
            <a:lvl9pPr>
              <a:defRPr sz="1950" b="1">
                <a:solidFill>
                  <a:srgbClr val="FFFFFF"/>
                </a:solidFill>
                <a:latin typeface="Helvetica Neue"/>
                <a:ea typeface="Helvetica Neue"/>
                <a:cs typeface="Helvetica Neue"/>
              </a:defRPr>
            </a:lvl9pPr>
          </a:lstStyle>
          <a:p xmlns:a="http://schemas.openxmlformats.org/drawingml/2006/main">
            <a:pPr>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Exit and failure behavior</a:t>
            </a:r>
          </a:p>
        </p:txBody>
      </p:sp>
      <p:sp>
        <p:nvSpPr>
          <p:cNvPr id="16" name="">
            <a:extLst xmlns:a="http://schemas.openxmlformats.org/drawingml/2006/main">
              <a:ext uri="{FF2B5EF4-FFF2-40B4-BE49-F238E27FC236}">
                <a16:creationId xmlns:a16="http://schemas.microsoft.com/office/drawing/2014/main" id="{7DB3521A-F3D7-4468-81A0-E1F0CB8F4D24}"/>
              </a:ext>
            </a:extLst>
          </p:cNvPr>
          <p:cNvSpPr>
            <a:spLocks xmlns:a="http://schemas.openxmlformats.org/drawingml/2006/main" noGrp="1"/>
          </p:cNvSpPr>
          <p:nvPr/>
        </p:nvSpPr>
        <p:spPr>
          <a:xfrm xmlns:a="http://schemas.openxmlformats.org/drawingml/2006/main">
            <a:off x="6343650" y="4924425"/>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B9D0DE"/>
                </a:solidFill>
                <a:latin typeface="Helvetica Neue"/>
                <a:ea typeface="Helvetica Neue"/>
                <a:cs typeface="Helvetica Neue"/>
              </a:defRPr>
            </a:defPPr>
            <a:lvl1pPr>
              <a:defRPr sz="1725" b="0">
                <a:solidFill>
                  <a:srgbClr val="B9D0DE"/>
                </a:solidFill>
                <a:latin typeface="Helvetica Neue"/>
                <a:ea typeface="Helvetica Neue"/>
                <a:cs typeface="Helvetica Neue"/>
              </a:defRPr>
            </a:lvl1pPr>
            <a:lvl2pPr>
              <a:defRPr sz="1725" b="0">
                <a:solidFill>
                  <a:srgbClr val="B9D0DE"/>
                </a:solidFill>
                <a:latin typeface="Helvetica Neue"/>
                <a:ea typeface="Helvetica Neue"/>
                <a:cs typeface="Helvetica Neue"/>
              </a:defRPr>
            </a:lvl2pPr>
            <a:lvl3pPr>
              <a:defRPr sz="1725" b="0">
                <a:solidFill>
                  <a:srgbClr val="B9D0DE"/>
                </a:solidFill>
                <a:latin typeface="Helvetica Neue"/>
                <a:ea typeface="Helvetica Neue"/>
                <a:cs typeface="Helvetica Neue"/>
              </a:defRPr>
            </a:lvl3pPr>
            <a:lvl4pPr>
              <a:defRPr sz="1725" b="0">
                <a:solidFill>
                  <a:srgbClr val="B9D0DE"/>
                </a:solidFill>
                <a:latin typeface="Helvetica Neue"/>
                <a:ea typeface="Helvetica Neue"/>
                <a:cs typeface="Helvetica Neue"/>
              </a:defRPr>
            </a:lvl4pPr>
            <a:lvl5pPr>
              <a:defRPr sz="1725" b="0">
                <a:solidFill>
                  <a:srgbClr val="B9D0DE"/>
                </a:solidFill>
                <a:latin typeface="Helvetica Neue"/>
                <a:ea typeface="Helvetica Neue"/>
                <a:cs typeface="Helvetica Neue"/>
              </a:defRPr>
            </a:lvl5pPr>
            <a:lvl6pPr>
              <a:defRPr sz="1725" b="0">
                <a:solidFill>
                  <a:srgbClr val="B9D0DE"/>
                </a:solidFill>
                <a:latin typeface="Helvetica Neue"/>
                <a:ea typeface="Helvetica Neue"/>
                <a:cs typeface="Helvetica Neue"/>
              </a:defRPr>
            </a:lvl6pPr>
            <a:lvl7pPr>
              <a:defRPr sz="1725" b="0">
                <a:solidFill>
                  <a:srgbClr val="B9D0DE"/>
                </a:solidFill>
                <a:latin typeface="Helvetica Neue"/>
                <a:ea typeface="Helvetica Neue"/>
                <a:cs typeface="Helvetica Neue"/>
              </a:defRPr>
            </a:lvl7pPr>
            <a:lvl8pPr>
              <a:defRPr sz="1725" b="0">
                <a:solidFill>
                  <a:srgbClr val="B9D0DE"/>
                </a:solidFill>
                <a:latin typeface="Helvetica Neue"/>
                <a:ea typeface="Helvetica Neue"/>
                <a:cs typeface="Helvetica Neue"/>
              </a:defRPr>
            </a:lvl8pPr>
            <a:lvl9pPr>
              <a:defRPr sz="1725" b="0">
                <a:solidFill>
                  <a:srgbClr val="B9D0DE"/>
                </a:solidFill>
                <a:latin typeface="Helvetica Neue"/>
                <a:ea typeface="Helvetica Neue"/>
                <a:cs typeface="Helvetica Neue"/>
              </a:defRPr>
            </a:lvl9pPr>
          </a:lstStyle>
          <a:p xmlns:a="http://schemas.openxmlformats.org/drawingml/2006/main">
            <a:pPr>
              <a:defRPr sz="1725" b="0">
                <a:solidFill>
                  <a:srgbClr val="B9D0DE"/>
                </a:solidFill>
                <a:latin typeface="Helvetica Neue"/>
                <a:ea typeface="Helvetica Neue"/>
                <a:cs typeface="Helvetica Neue"/>
              </a:defRPr>
            </a:pPr>
            <a:r>
              <a:rPr sz="1725" b="0">
                <a:solidFill>
                  <a:srgbClr val="B9D0DE"/>
                </a:solidFill>
                <a:latin typeface="Helvetica Neue"/>
                <a:ea typeface="Helvetica Neue"/>
                <a:cs typeface="Helvetica Neue"/>
              </a:rPr>
              <a:t>Stop on request, topic coverage or turn limit; preserve unknowns. Failure preserves the typed answer.</a:t>
            </a:r>
          </a:p>
        </p:txBody>
      </p:sp>
      <p:sp>
        <p:nvSpPr>
          <p:cNvPr id="17" name="">
            <a:extLst xmlns:a="http://schemas.openxmlformats.org/drawingml/2006/main">
              <a:ext uri="{FF2B5EF4-FFF2-40B4-BE49-F238E27FC236}">
                <a16:creationId xmlns:a16="http://schemas.microsoft.com/office/drawing/2014/main" id="{4B31C2C3-A851-45F0-93D7-1C20957D7E40}"/>
              </a:ext>
            </a:extLst>
          </p:cNvPr>
          <p:cNvSpPr>
            <a:spLocks xmlns:a="http://schemas.openxmlformats.org/drawingml/2006/main" noGrp="1"/>
          </p:cNvSpPr>
          <p:nvPr/>
        </p:nvSpPr>
        <p:spPr>
          <a:xfrm xmlns:a="http://schemas.openxmlformats.org/drawingml/2006/main">
            <a:off x="704850" y="5848350"/>
            <a:ext cx="10801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00A9D6"/>
                </a:solidFill>
                <a:latin typeface="Helvetica Neue"/>
                <a:ea typeface="Helvetica Neue"/>
                <a:cs typeface="Helvetica Neue"/>
              </a:defRPr>
            </a:defPPr>
            <a:lvl1pPr>
              <a:defRPr sz="1875" b="1">
                <a:solidFill>
                  <a:srgbClr val="00A9D6"/>
                </a:solidFill>
                <a:latin typeface="Helvetica Neue"/>
                <a:ea typeface="Helvetica Neue"/>
                <a:cs typeface="Helvetica Neue"/>
              </a:defRPr>
            </a:lvl1pPr>
            <a:lvl2pPr>
              <a:defRPr sz="1875" b="1">
                <a:solidFill>
                  <a:srgbClr val="00A9D6"/>
                </a:solidFill>
                <a:latin typeface="Helvetica Neue"/>
                <a:ea typeface="Helvetica Neue"/>
                <a:cs typeface="Helvetica Neue"/>
              </a:defRPr>
            </a:lvl2pPr>
            <a:lvl3pPr>
              <a:defRPr sz="1875" b="1">
                <a:solidFill>
                  <a:srgbClr val="00A9D6"/>
                </a:solidFill>
                <a:latin typeface="Helvetica Neue"/>
                <a:ea typeface="Helvetica Neue"/>
                <a:cs typeface="Helvetica Neue"/>
              </a:defRPr>
            </a:lvl3pPr>
            <a:lvl4pPr>
              <a:defRPr sz="1875" b="1">
                <a:solidFill>
                  <a:srgbClr val="00A9D6"/>
                </a:solidFill>
                <a:latin typeface="Helvetica Neue"/>
                <a:ea typeface="Helvetica Neue"/>
                <a:cs typeface="Helvetica Neue"/>
              </a:defRPr>
            </a:lvl4pPr>
            <a:lvl5pPr>
              <a:defRPr sz="1875" b="1">
                <a:solidFill>
                  <a:srgbClr val="00A9D6"/>
                </a:solidFill>
                <a:latin typeface="Helvetica Neue"/>
                <a:ea typeface="Helvetica Neue"/>
                <a:cs typeface="Helvetica Neue"/>
              </a:defRPr>
            </a:lvl5pPr>
            <a:lvl6pPr>
              <a:defRPr sz="1875" b="1">
                <a:solidFill>
                  <a:srgbClr val="00A9D6"/>
                </a:solidFill>
                <a:latin typeface="Helvetica Neue"/>
                <a:ea typeface="Helvetica Neue"/>
                <a:cs typeface="Helvetica Neue"/>
              </a:defRPr>
            </a:lvl6pPr>
            <a:lvl7pPr>
              <a:defRPr sz="1875" b="1">
                <a:solidFill>
                  <a:srgbClr val="00A9D6"/>
                </a:solidFill>
                <a:latin typeface="Helvetica Neue"/>
                <a:ea typeface="Helvetica Neue"/>
                <a:cs typeface="Helvetica Neue"/>
              </a:defRPr>
            </a:lvl7pPr>
            <a:lvl8pPr>
              <a:defRPr sz="1875" b="1">
                <a:solidFill>
                  <a:srgbClr val="00A9D6"/>
                </a:solidFill>
                <a:latin typeface="Helvetica Neue"/>
                <a:ea typeface="Helvetica Neue"/>
                <a:cs typeface="Helvetica Neue"/>
              </a:defRPr>
            </a:lvl8pPr>
            <a:lvl9pPr>
              <a:defRPr sz="1875" b="1">
                <a:solidFill>
                  <a:srgbClr val="00A9D6"/>
                </a:solidFill>
                <a:latin typeface="Helvetica Neue"/>
                <a:ea typeface="Helvetica Neue"/>
                <a:cs typeface="Helvetica Neue"/>
              </a:defRPr>
            </a:lvl9pPr>
          </a:lstStyle>
          <a:p xmlns:a="http://schemas.openxmlformats.org/drawingml/2006/main">
            <a:pPr>
              <a:defRPr sz="1875" b="1">
                <a:solidFill>
                  <a:srgbClr val="00A9D6"/>
                </a:solidFill>
                <a:latin typeface="Helvetica Neue"/>
                <a:ea typeface="Helvetica Neue"/>
                <a:cs typeface="Helvetica Neue"/>
              </a:defRPr>
            </a:pPr>
            <a:r>
              <a:rPr sz="1875" b="1">
                <a:solidFill>
                  <a:srgbClr val="00A9D6"/>
                </a:solidFill>
                <a:latin typeface="Helvetica Neue"/>
                <a:ea typeface="Helvetica Neue"/>
                <a:cs typeface="Helvetica Neue"/>
              </a:rPr>
              <a:t>56 passing tests + 7 guided probes; visible calls, tools, tokens, timings and source links</a:t>
            </a:r>
          </a:p>
        </p:txBody>
      </p:sp>
      <p:sp>
        <p:nvSpPr>
          <p:cNvPr id="18" name="">
            <a:extLst xmlns:a="http://schemas.openxmlformats.org/drawingml/2006/main">
              <a:ext uri="{FF2B5EF4-FFF2-40B4-BE49-F238E27FC236}">
                <a16:creationId xmlns:a16="http://schemas.microsoft.com/office/drawing/2014/main" id="{C87496BD-1E84-4D68-AC0F-68A48BECEFF8}"/>
              </a:ext>
            </a:extLst>
          </p:cNvPr>
          <p:cNvSpPr>
            <a:spLocks xmlns:a="http://schemas.openxmlformats.org/drawingml/2006/main" noGrp="1"/>
          </p:cNvSpPr>
          <p:nvPr/>
        </p:nvSpPr>
        <p:spPr>
          <a:xfrm xmlns:a="http://schemas.openxmlformats.org/drawingml/2006/main">
            <a:off x="704850" y="6238875"/>
            <a:ext cx="10801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425" b="0">
                <a:solidFill>
                  <a:srgbClr val="B9D0DE"/>
                </a:solidFill>
                <a:latin typeface="Helvetica Neue"/>
                <a:ea typeface="Helvetica Neue"/>
                <a:cs typeface="Helvetica Neue"/>
              </a:defRPr>
            </a:defPPr>
            <a:lvl1pPr>
              <a:defRPr sz="1425" b="0">
                <a:solidFill>
                  <a:srgbClr val="B9D0DE"/>
                </a:solidFill>
                <a:latin typeface="Helvetica Neue"/>
                <a:ea typeface="Helvetica Neue"/>
                <a:cs typeface="Helvetica Neue"/>
              </a:defRPr>
            </a:lvl1pPr>
            <a:lvl2pPr>
              <a:defRPr sz="1425" b="0">
                <a:solidFill>
                  <a:srgbClr val="B9D0DE"/>
                </a:solidFill>
                <a:latin typeface="Helvetica Neue"/>
                <a:ea typeface="Helvetica Neue"/>
                <a:cs typeface="Helvetica Neue"/>
              </a:defRPr>
            </a:lvl2pPr>
            <a:lvl3pPr>
              <a:defRPr sz="1425" b="0">
                <a:solidFill>
                  <a:srgbClr val="B9D0DE"/>
                </a:solidFill>
                <a:latin typeface="Helvetica Neue"/>
                <a:ea typeface="Helvetica Neue"/>
                <a:cs typeface="Helvetica Neue"/>
              </a:defRPr>
            </a:lvl3pPr>
            <a:lvl4pPr>
              <a:defRPr sz="1425" b="0">
                <a:solidFill>
                  <a:srgbClr val="B9D0DE"/>
                </a:solidFill>
                <a:latin typeface="Helvetica Neue"/>
                <a:ea typeface="Helvetica Neue"/>
                <a:cs typeface="Helvetica Neue"/>
              </a:defRPr>
            </a:lvl4pPr>
            <a:lvl5pPr>
              <a:defRPr sz="1425" b="0">
                <a:solidFill>
                  <a:srgbClr val="B9D0DE"/>
                </a:solidFill>
                <a:latin typeface="Helvetica Neue"/>
                <a:ea typeface="Helvetica Neue"/>
                <a:cs typeface="Helvetica Neue"/>
              </a:defRPr>
            </a:lvl5pPr>
            <a:lvl6pPr>
              <a:defRPr sz="1425" b="0">
                <a:solidFill>
                  <a:srgbClr val="B9D0DE"/>
                </a:solidFill>
                <a:latin typeface="Helvetica Neue"/>
                <a:ea typeface="Helvetica Neue"/>
                <a:cs typeface="Helvetica Neue"/>
              </a:defRPr>
            </a:lvl6pPr>
            <a:lvl7pPr>
              <a:defRPr sz="1425" b="0">
                <a:solidFill>
                  <a:srgbClr val="B9D0DE"/>
                </a:solidFill>
                <a:latin typeface="Helvetica Neue"/>
                <a:ea typeface="Helvetica Neue"/>
                <a:cs typeface="Helvetica Neue"/>
              </a:defRPr>
            </a:lvl7pPr>
            <a:lvl8pPr>
              <a:defRPr sz="1425" b="0">
                <a:solidFill>
                  <a:srgbClr val="B9D0DE"/>
                </a:solidFill>
                <a:latin typeface="Helvetica Neue"/>
                <a:ea typeface="Helvetica Neue"/>
                <a:cs typeface="Helvetica Neue"/>
              </a:defRPr>
            </a:lvl8pPr>
            <a:lvl9pPr>
              <a:defRPr sz="1425" b="0">
                <a:solidFill>
                  <a:srgbClr val="B9D0DE"/>
                </a:solidFill>
                <a:latin typeface="Helvetica Neue"/>
                <a:ea typeface="Helvetica Neue"/>
                <a:cs typeface="Helvetica Neue"/>
              </a:defRPr>
            </a:lvl9pPr>
          </a:lstStyle>
          <a:p xmlns:a="http://schemas.openxmlformats.org/drawingml/2006/main">
            <a:pPr>
              <a:defRPr sz="1425" b="0">
                <a:solidFill>
                  <a:srgbClr val="B9D0DE"/>
                </a:solidFill>
                <a:latin typeface="Helvetica Neue"/>
                <a:ea typeface="Helvetica Neue"/>
                <a:cs typeface="Helvetica Neue"/>
              </a:defRPr>
            </a:pPr>
            <a:r>
              <a:rPr sz="1425" b="0">
                <a:solidFill>
                  <a:srgbClr val="B9D0DE"/>
                </a:solidFill>
                <a:latin typeface="Helvetica Neue"/>
                <a:ea typeface="Helvetica Neue"/>
                <a:cs typeface="Helvetica Neue"/>
              </a:rPr>
              <a:t>Regression checks and synthetic voice smoke tests; no live-model accuracy or noisy-shop benchmark</a:t>
            </a:r>
          </a:p>
        </p:txBody>
      </p:sp>
      <p:sp>
        <p:nvSpPr>
          <p:cNvPr id="19" name="">
            <a:extLst xmlns:a="http://schemas.openxmlformats.org/drawingml/2006/main">
              <a:ext uri="{FF2B5EF4-FFF2-40B4-BE49-F238E27FC236}">
                <a16:creationId xmlns:a16="http://schemas.microsoft.com/office/drawing/2014/main" id="{2453FB69-A089-4FD0-A795-45D8A1C5B59C}"/>
              </a:ext>
            </a:extLst>
          </p:cNvPr>
          <p:cNvSpPr>
            <a:spLocks xmlns:a="http://schemas.openxmlformats.org/drawingml/2006/main" noGrp="1"/>
          </p:cNvSpPr>
          <p:nvPr/>
        </p:nvSpPr>
        <p:spPr>
          <a:xfrm xmlns:a="http://schemas.openxmlformats.org/drawingml/2006/main">
            <a:off x="704850" y="6553200"/>
            <a:ext cx="1009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125" b="0">
                <a:solidFill>
                  <a:srgbClr val="B9D0DE"/>
                </a:solidFill>
                <a:latin typeface="Helvetica Neue"/>
                <a:ea typeface="Helvetica Neue"/>
                <a:cs typeface="Helvetica Neue"/>
              </a:defRPr>
            </a:defPPr>
            <a:lvl1pPr>
              <a:defRPr sz="1125" b="0">
                <a:solidFill>
                  <a:srgbClr val="B9D0DE"/>
                </a:solidFill>
                <a:latin typeface="Helvetica Neue"/>
                <a:ea typeface="Helvetica Neue"/>
                <a:cs typeface="Helvetica Neue"/>
              </a:defRPr>
            </a:lvl1pPr>
            <a:lvl2pPr>
              <a:defRPr sz="1125" b="0">
                <a:solidFill>
                  <a:srgbClr val="B9D0DE"/>
                </a:solidFill>
                <a:latin typeface="Helvetica Neue"/>
                <a:ea typeface="Helvetica Neue"/>
                <a:cs typeface="Helvetica Neue"/>
              </a:defRPr>
            </a:lvl2pPr>
            <a:lvl3pPr>
              <a:defRPr sz="1125" b="0">
                <a:solidFill>
                  <a:srgbClr val="B9D0DE"/>
                </a:solidFill>
                <a:latin typeface="Helvetica Neue"/>
                <a:ea typeface="Helvetica Neue"/>
                <a:cs typeface="Helvetica Neue"/>
              </a:defRPr>
            </a:lvl3pPr>
            <a:lvl4pPr>
              <a:defRPr sz="1125" b="0">
                <a:solidFill>
                  <a:srgbClr val="B9D0DE"/>
                </a:solidFill>
                <a:latin typeface="Helvetica Neue"/>
                <a:ea typeface="Helvetica Neue"/>
                <a:cs typeface="Helvetica Neue"/>
              </a:defRPr>
            </a:lvl4pPr>
            <a:lvl5pPr>
              <a:defRPr sz="1125" b="0">
                <a:solidFill>
                  <a:srgbClr val="B9D0DE"/>
                </a:solidFill>
                <a:latin typeface="Helvetica Neue"/>
                <a:ea typeface="Helvetica Neue"/>
                <a:cs typeface="Helvetica Neue"/>
              </a:defRPr>
            </a:lvl5pPr>
            <a:lvl6pPr>
              <a:defRPr sz="1125" b="0">
                <a:solidFill>
                  <a:srgbClr val="B9D0DE"/>
                </a:solidFill>
                <a:latin typeface="Helvetica Neue"/>
                <a:ea typeface="Helvetica Neue"/>
                <a:cs typeface="Helvetica Neue"/>
              </a:defRPr>
            </a:lvl6pPr>
            <a:lvl7pPr>
              <a:defRPr sz="1125" b="0">
                <a:solidFill>
                  <a:srgbClr val="B9D0DE"/>
                </a:solidFill>
                <a:latin typeface="Helvetica Neue"/>
                <a:ea typeface="Helvetica Neue"/>
                <a:cs typeface="Helvetica Neue"/>
              </a:defRPr>
            </a:lvl7pPr>
            <a:lvl8pPr>
              <a:defRPr sz="1125" b="0">
                <a:solidFill>
                  <a:srgbClr val="B9D0DE"/>
                </a:solidFill>
                <a:latin typeface="Helvetica Neue"/>
                <a:ea typeface="Helvetica Neue"/>
                <a:cs typeface="Helvetica Neue"/>
              </a:defRPr>
            </a:lvl8pPr>
            <a:lvl9pPr>
              <a:defRPr sz="1125" b="0">
                <a:solidFill>
                  <a:srgbClr val="B9D0DE"/>
                </a:solidFill>
                <a:latin typeface="Helvetica Neue"/>
                <a:ea typeface="Helvetica Neue"/>
                <a:cs typeface="Helvetica Neue"/>
              </a:defRPr>
            </a:lvl9pPr>
          </a:lstStyle>
          <a:p xmlns:a="http://schemas.openxmlformats.org/drawingml/2006/main">
            <a:pPr>
              <a:defRPr sz="1125" b="0">
                <a:solidFill>
                  <a:srgbClr val="B9D0DE"/>
                </a:solidFill>
                <a:latin typeface="Helvetica Neue"/>
                <a:ea typeface="Helvetica Neue"/>
                <a:cs typeface="Helvetica Neue"/>
              </a:defRPr>
            </a:pPr>
            <a:r>
              <a:rPr sz="1125" b="0">
                <a:solidFill>
                  <a:srgbClr val="B9D0DE"/>
                </a:solidFill>
                <a:latin typeface="Helvetica Neue"/>
                <a:ea typeface="Helvetica Neue"/>
                <a:cs typeface="Helvetica Neue"/>
              </a:rPr>
              <a:t>MerchantLens · One harness, three Gemini roles; guided rules mode also available</a:t>
            </a:r>
          </a:p>
        </p:txBody>
      </p:sp>
      <p:sp>
        <p:nvSpPr>
          <p:cNvPr id="20" name="">
            <a:extLst xmlns:a="http://schemas.openxmlformats.org/drawingml/2006/main">
              <a:ext uri="{FF2B5EF4-FFF2-40B4-BE49-F238E27FC236}">
                <a16:creationId xmlns:a16="http://schemas.microsoft.com/office/drawing/2014/main" id="{39CBD579-1DDA-439C-9984-5DE3C7D0906A}"/>
              </a:ext>
            </a:extLst>
          </p:cNvPr>
          <p:cNvSpPr>
            <a:spLocks xmlns:a="http://schemas.openxmlformats.org/drawingml/2006/main" noGrp="1"/>
          </p:cNvSpPr>
          <p:nvPr/>
        </p:nvSpPr>
        <p:spPr>
          <a:xfrm xmlns:a="http://schemas.openxmlformats.org/drawingml/2006/main">
            <a:off x="10839450" y="655320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125" b="0">
                <a:solidFill>
                  <a:srgbClr val="B9D0DE"/>
                </a:solidFill>
                <a:latin typeface="Helvetica Neue"/>
                <a:ea typeface="Helvetica Neue"/>
                <a:cs typeface="Helvetica Neue"/>
              </a:defRPr>
            </a:defPPr>
            <a:lvl1pPr>
              <a:defRPr sz="1125" b="0">
                <a:solidFill>
                  <a:srgbClr val="B9D0DE"/>
                </a:solidFill>
                <a:latin typeface="Helvetica Neue"/>
                <a:ea typeface="Helvetica Neue"/>
                <a:cs typeface="Helvetica Neue"/>
              </a:defRPr>
            </a:lvl1pPr>
            <a:lvl2pPr>
              <a:defRPr sz="1125" b="0">
                <a:solidFill>
                  <a:srgbClr val="B9D0DE"/>
                </a:solidFill>
                <a:latin typeface="Helvetica Neue"/>
                <a:ea typeface="Helvetica Neue"/>
                <a:cs typeface="Helvetica Neue"/>
              </a:defRPr>
            </a:lvl2pPr>
            <a:lvl3pPr>
              <a:defRPr sz="1125" b="0">
                <a:solidFill>
                  <a:srgbClr val="B9D0DE"/>
                </a:solidFill>
                <a:latin typeface="Helvetica Neue"/>
                <a:ea typeface="Helvetica Neue"/>
                <a:cs typeface="Helvetica Neue"/>
              </a:defRPr>
            </a:lvl3pPr>
            <a:lvl4pPr>
              <a:defRPr sz="1125" b="0">
                <a:solidFill>
                  <a:srgbClr val="B9D0DE"/>
                </a:solidFill>
                <a:latin typeface="Helvetica Neue"/>
                <a:ea typeface="Helvetica Neue"/>
                <a:cs typeface="Helvetica Neue"/>
              </a:defRPr>
            </a:lvl4pPr>
            <a:lvl5pPr>
              <a:defRPr sz="1125" b="0">
                <a:solidFill>
                  <a:srgbClr val="B9D0DE"/>
                </a:solidFill>
                <a:latin typeface="Helvetica Neue"/>
                <a:ea typeface="Helvetica Neue"/>
                <a:cs typeface="Helvetica Neue"/>
              </a:defRPr>
            </a:lvl5pPr>
            <a:lvl6pPr>
              <a:defRPr sz="1125" b="0">
                <a:solidFill>
                  <a:srgbClr val="B9D0DE"/>
                </a:solidFill>
                <a:latin typeface="Helvetica Neue"/>
                <a:ea typeface="Helvetica Neue"/>
                <a:cs typeface="Helvetica Neue"/>
              </a:defRPr>
            </a:lvl6pPr>
            <a:lvl7pPr>
              <a:defRPr sz="1125" b="0">
                <a:solidFill>
                  <a:srgbClr val="B9D0DE"/>
                </a:solidFill>
                <a:latin typeface="Helvetica Neue"/>
                <a:ea typeface="Helvetica Neue"/>
                <a:cs typeface="Helvetica Neue"/>
              </a:defRPr>
            </a:lvl7pPr>
            <a:lvl8pPr>
              <a:defRPr sz="1125" b="0">
                <a:solidFill>
                  <a:srgbClr val="B9D0DE"/>
                </a:solidFill>
                <a:latin typeface="Helvetica Neue"/>
                <a:ea typeface="Helvetica Neue"/>
                <a:cs typeface="Helvetica Neue"/>
              </a:defRPr>
            </a:lvl8pPr>
            <a:lvl9pPr>
              <a:defRPr sz="1125" b="0">
                <a:solidFill>
                  <a:srgbClr val="B9D0DE"/>
                </a:solidFill>
                <a:latin typeface="Helvetica Neue"/>
                <a:ea typeface="Helvetica Neue"/>
                <a:cs typeface="Helvetica Neue"/>
              </a:defRPr>
            </a:lvl9pPr>
          </a:lstStyle>
          <a:p xmlns:a="http://schemas.openxmlformats.org/drawingml/2006/main">
            <a:pPr>
              <a:defRPr sz="1125" b="0">
                <a:solidFill>
                  <a:srgbClr val="B9D0DE"/>
                </a:solidFill>
                <a:latin typeface="Helvetica Neue"/>
                <a:ea typeface="Helvetica Neue"/>
                <a:cs typeface="Helvetica Neue"/>
              </a:defRPr>
            </a:pPr>
            <a:r>
              <a:rPr sz="1125" b="0">
                <a:solidFill>
                  <a:srgbClr val="B9D0DE"/>
                </a:solidFill>
                <a:latin typeface="Helvetica Neue"/>
                <a:ea typeface="Helvetica Neue"/>
                <a:cs typeface="Helvetica Neue"/>
              </a:rPr>
              <a:t>4 / 5</a:t>
            </a:r>
          </a:p>
        </p:txBody>
      </p:sp>
    </p:spTree>
    <p:extLst>
      <p:ext uri="{BB962C8B-B14F-4D97-AF65-F5344CB8AC3E}">
        <p14:creationId xmlns:p14="http://schemas.microsoft.com/office/powerpoint/2010/main" val="1045329647"/>
      </p:ext>
    </p:extLst>
  </p:cSld>
</p:sld>
</file>

<file path=ppt/slides/slide5.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B5331A-3001-46FC-89C9-F19D1A6E57AC}"/>
              </a:ext>
            </a:extLst>
          </p:cNvPr>
          <p:cNvSpPr>
            <a:spLocks xmlns:a="http://schemas.openxmlformats.org/drawingml/2006/main" noGrp="1"/>
          </p:cNvSpPr>
          <p:nvPr/>
        </p:nvSpPr>
        <p:spPr>
          <a:xfrm xmlns:a="http://schemas.openxmlformats.org/drawingml/2006/main">
            <a:off x="685800" y="5334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300" b="1">
                <a:solidFill>
                  <a:srgbClr val="102F43"/>
                </a:solidFill>
                <a:latin typeface="Helvetica Neue"/>
                <a:ea typeface="Helvetica Neue"/>
                <a:cs typeface="Helvetica Neue"/>
              </a:defRPr>
            </a:pPr>
            <a:r>
              <a:rPr sz="3300" b="1">
                <a:solidFill>
                  <a:srgbClr val="102F43"/>
                </a:solidFill>
                <a:latin typeface="Helvetica Neue"/>
                <a:ea typeface="Helvetica Neue"/>
                <a:cs typeface="Helvetica Neue"/>
              </a:rPr>
              <a:t>Paytm ROI, pilot and integration path</a:t>
            </a:r>
          </a:p>
        </p:txBody>
      </p:sp>
      <p:sp>
        <p:nvSpPr>
          <p:cNvPr id="2" name="">
            <a:extLst xmlns:a="http://schemas.openxmlformats.org/drawingml/2006/main">
              <a:ext uri="{FF2B5EF4-FFF2-40B4-BE49-F238E27FC236}">
                <a16:creationId xmlns:a16="http://schemas.microsoft.com/office/drawing/2014/main" id="{D412D0A9-CC9D-4133-9626-E72CC9B11BEB}"/>
              </a:ext>
            </a:extLst>
          </p:cNvPr>
          <p:cNvSpPr>
            <a:spLocks xmlns:a="http://schemas.openxmlformats.org/drawingml/2006/main" noGrp="1"/>
          </p:cNvSpPr>
          <p:nvPr/>
        </p:nvSpPr>
        <p:spPr>
          <a:xfrm xmlns:a="http://schemas.openxmlformats.org/drawingml/2006/main">
            <a:off x="704850" y="1400175"/>
            <a:ext cx="519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0A9D6"/>
                </a:solidFill>
                <a:latin typeface="Helvetica Neue"/>
                <a:ea typeface="Helvetica Neue"/>
                <a:cs typeface="Helvetica Neue"/>
              </a:defRPr>
            </a:defPPr>
            <a:lvl1pPr>
              <a:buNone/>
              <a:defRPr sz="3900" b="1">
                <a:solidFill>
                  <a:srgbClr val="102F43"/>
                </a:solidFill>
                <a:latin typeface="Helvetica Neue"/>
                <a:ea typeface="Helvetica Neue"/>
                <a:cs typeface="Helvetica Neue"/>
              </a:defRPr>
            </a:lvl1pPr>
            <a:lvl2pPr>
              <a:buNone/>
              <a:defRPr sz="3900" b="1">
                <a:solidFill>
                  <a:srgbClr val="102F43"/>
                </a:solidFill>
                <a:latin typeface="Helvetica Neue"/>
                <a:ea typeface="Helvetica Neue"/>
                <a:cs typeface="Helvetica Neue"/>
              </a:defRPr>
            </a:lvl2pPr>
            <a:lvl3pPr>
              <a:buNone/>
              <a:defRPr sz="3900" b="1">
                <a:solidFill>
                  <a:srgbClr val="102F43"/>
                </a:solidFill>
                <a:latin typeface="Helvetica Neue"/>
                <a:ea typeface="Helvetica Neue"/>
                <a:cs typeface="Helvetica Neue"/>
              </a:defRPr>
            </a:lvl3pPr>
            <a:lvl4pPr>
              <a:buNone/>
              <a:defRPr sz="3900" b="1">
                <a:solidFill>
                  <a:srgbClr val="102F43"/>
                </a:solidFill>
                <a:latin typeface="Helvetica Neue"/>
                <a:ea typeface="Helvetica Neue"/>
                <a:cs typeface="Helvetica Neue"/>
              </a:defRPr>
            </a:lvl4pPr>
            <a:lvl5pPr>
              <a:buNone/>
              <a:defRPr sz="3900" b="1">
                <a:solidFill>
                  <a:srgbClr val="102F43"/>
                </a:solidFill>
                <a:latin typeface="Helvetica Neue"/>
                <a:ea typeface="Helvetica Neue"/>
                <a:cs typeface="Helvetica Neue"/>
              </a:defRPr>
            </a:lvl5pPr>
            <a:lvl6pPr>
              <a:buNone/>
              <a:defRPr sz="3900" b="1">
                <a:solidFill>
                  <a:srgbClr val="102F43"/>
                </a:solidFill>
                <a:latin typeface="Helvetica Neue"/>
                <a:ea typeface="Helvetica Neue"/>
                <a:cs typeface="Helvetica Neue"/>
              </a:defRPr>
            </a:lvl6pPr>
            <a:lvl7pPr>
              <a:buNone/>
              <a:defRPr sz="3900" b="1">
                <a:solidFill>
                  <a:srgbClr val="102F43"/>
                </a:solidFill>
                <a:latin typeface="Helvetica Neue"/>
                <a:ea typeface="Helvetica Neue"/>
                <a:cs typeface="Helvetica Neue"/>
              </a:defRPr>
            </a:lvl7pPr>
            <a:lvl8pPr>
              <a:buNone/>
              <a:defRPr sz="3900" b="1">
                <a:solidFill>
                  <a:srgbClr val="102F43"/>
                </a:solidFill>
                <a:latin typeface="Helvetica Neue"/>
                <a:ea typeface="Helvetica Neue"/>
                <a:cs typeface="Helvetica Neue"/>
              </a:defRPr>
            </a:lvl8pPr>
            <a:lvl9pPr>
              <a:buNone/>
              <a:defRPr sz="3900" b="1">
                <a:solidFill>
                  <a:srgbClr val="102F43"/>
                </a:solidFill>
                <a:latin typeface="Helvetica Neue"/>
                <a:ea typeface="Helvetica Neue"/>
                <a:cs typeface="Helvetica Neue"/>
              </a:defRPr>
            </a:lvl9pPr>
          </a:lstStyle>
          <a:p xmlns:a="http://schemas.openxmlformats.org/drawingml/2006/main">
            <a:pPr>
              <a:buNone/>
              <a:defRPr sz="2100" b="1">
                <a:solidFill>
                  <a:srgbClr val="00A9D6"/>
                </a:solidFill>
                <a:latin typeface="Helvetica Neue"/>
                <a:ea typeface="Helvetica Neue"/>
                <a:cs typeface="Helvetica Neue"/>
              </a:defRPr>
            </a:pPr>
            <a:r>
              <a:rPr sz="2100" b="1">
                <a:solidFill>
                  <a:srgbClr val="00A9D6"/>
                </a:solidFill>
                <a:latin typeface="Helvetica Neue"/>
                <a:ea typeface="Helvetica Neue"/>
                <a:cs typeface="Helvetica Neue"/>
              </a:rPr>
              <a:t>Business hypothesis and measurement</a:t>
            </a:r>
          </a:p>
        </p:txBody>
      </p:sp>
      <p:sp>
        <p:nvSpPr>
          <p:cNvPr id="3" name="">
            <a:extLst xmlns:a="http://schemas.openxmlformats.org/drawingml/2006/main">
              <a:ext uri="{FF2B5EF4-FFF2-40B4-BE49-F238E27FC236}">
                <a16:creationId xmlns:a16="http://schemas.microsoft.com/office/drawing/2014/main" id="{29EDF56B-AC65-4472-8D66-FAEC305302C0}"/>
              </a:ext>
            </a:extLst>
          </p:cNvPr>
          <p:cNvSpPr>
            <a:spLocks xmlns:a="http://schemas.openxmlformats.org/drawingml/2006/main" noGrp="1"/>
          </p:cNvSpPr>
          <p:nvPr/>
        </p:nvSpPr>
        <p:spPr>
          <a:xfrm xmlns:a="http://schemas.openxmlformats.org/drawingml/2006/main">
            <a:off x="704850" y="2000250"/>
            <a:ext cx="5191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02F43"/>
                </a:solidFill>
                <a:latin typeface="Helvetica Neue"/>
                <a:ea typeface="Helvetica Neue"/>
                <a:cs typeface="Helvetica Neue"/>
              </a:defRPr>
            </a:defPPr>
            <a:lvl1pPr>
              <a:buNone/>
              <a:defRPr sz="2175" b="0">
                <a:solidFill>
                  <a:srgbClr val="526B7C"/>
                </a:solidFill>
                <a:latin typeface="Helvetica Neue"/>
                <a:ea typeface="Helvetica Neue"/>
                <a:cs typeface="Helvetica Neue"/>
              </a:defRPr>
            </a:lvl1pPr>
            <a:lvl2pPr>
              <a:buNone/>
              <a:defRPr sz="2175" b="0">
                <a:solidFill>
                  <a:srgbClr val="526B7C"/>
                </a:solidFill>
                <a:latin typeface="Helvetica Neue"/>
                <a:ea typeface="Helvetica Neue"/>
                <a:cs typeface="Helvetica Neue"/>
              </a:defRPr>
            </a:lvl2pPr>
            <a:lvl3pPr>
              <a:buNone/>
              <a:defRPr sz="2175" b="0">
                <a:solidFill>
                  <a:srgbClr val="526B7C"/>
                </a:solidFill>
                <a:latin typeface="Helvetica Neue"/>
                <a:ea typeface="Helvetica Neue"/>
                <a:cs typeface="Helvetica Neue"/>
              </a:defRPr>
            </a:lvl3pPr>
            <a:lvl4pPr>
              <a:buNone/>
              <a:defRPr sz="2175" b="0">
                <a:solidFill>
                  <a:srgbClr val="526B7C"/>
                </a:solidFill>
                <a:latin typeface="Helvetica Neue"/>
                <a:ea typeface="Helvetica Neue"/>
                <a:cs typeface="Helvetica Neue"/>
              </a:defRPr>
            </a:lvl4pPr>
            <a:lvl5pPr>
              <a:buNone/>
              <a:defRPr sz="2175" b="0">
                <a:solidFill>
                  <a:srgbClr val="526B7C"/>
                </a:solidFill>
                <a:latin typeface="Helvetica Neue"/>
                <a:ea typeface="Helvetica Neue"/>
                <a:cs typeface="Helvetica Neue"/>
              </a:defRPr>
            </a:lvl5pPr>
            <a:lvl6pPr>
              <a:buNone/>
              <a:defRPr sz="2175" b="0">
                <a:solidFill>
                  <a:srgbClr val="526B7C"/>
                </a:solidFill>
                <a:latin typeface="Helvetica Neue"/>
                <a:ea typeface="Helvetica Neue"/>
                <a:cs typeface="Helvetica Neue"/>
              </a:defRPr>
            </a:lvl6pPr>
            <a:lvl7pPr>
              <a:buNone/>
              <a:defRPr sz="2175" b="0">
                <a:solidFill>
                  <a:srgbClr val="526B7C"/>
                </a:solidFill>
                <a:latin typeface="Helvetica Neue"/>
                <a:ea typeface="Helvetica Neue"/>
                <a:cs typeface="Helvetica Neue"/>
              </a:defRPr>
            </a:lvl7pPr>
            <a:lvl8pPr>
              <a:buNone/>
              <a:defRPr sz="2175" b="0">
                <a:solidFill>
                  <a:srgbClr val="526B7C"/>
                </a:solidFill>
                <a:latin typeface="Helvetica Neue"/>
                <a:ea typeface="Helvetica Neue"/>
                <a:cs typeface="Helvetica Neue"/>
              </a:defRPr>
            </a:lvl8pPr>
            <a:lvl9pPr>
              <a:buNone/>
              <a:defRPr sz="2175" b="0">
                <a:solidFill>
                  <a:srgbClr val="526B7C"/>
                </a:solidFill>
                <a:latin typeface="Helvetica Neue"/>
                <a:ea typeface="Helvetica Neue"/>
                <a:cs typeface="Helvetica Neue"/>
              </a:defRPr>
            </a:lvl9pPr>
          </a:lstStyle>
          <a:p xmlns:a="http://schemas.openxmlformats.org/drawingml/2006/main">
            <a:pPr>
              <a:buNone/>
              <a:defRPr sz="2100" b="1">
                <a:solidFill>
                  <a:srgbClr val="102F43"/>
                </a:solidFill>
                <a:latin typeface="Helvetica Neue"/>
                <a:ea typeface="Helvetica Neue"/>
                <a:cs typeface="Helvetica Neue"/>
              </a:defRPr>
            </a:pPr>
            <a:r>
              <a:rPr sz="2100" b="1">
                <a:solidFill>
                  <a:srgbClr val="102F43"/>
                </a:solidFill>
                <a:latin typeface="Helvetica Neue"/>
                <a:ea typeface="Helvetica Neue"/>
                <a:cs typeface="Helvetica Neue"/>
              </a:rPr>
              <a:t>Reduce repeat clarification and triage time</a:t>
            </a:r>
          </a:p>
        </p:txBody>
      </p:sp>
      <p:sp>
        <p:nvSpPr>
          <p:cNvPr id="4" name="">
            <a:extLst xmlns:a="http://schemas.openxmlformats.org/drawingml/2006/main">
              <a:ext uri="{FF2B5EF4-FFF2-40B4-BE49-F238E27FC236}">
                <a16:creationId xmlns:a16="http://schemas.microsoft.com/office/drawing/2014/main" id="{3F89108C-E419-4D75-8429-A25016BBC916}"/>
              </a:ext>
            </a:extLst>
          </p:cNvPr>
          <p:cNvSpPr>
            <a:spLocks xmlns:a="http://schemas.openxmlformats.org/drawingml/2006/main" noGrp="1"/>
          </p:cNvSpPr>
          <p:nvPr/>
        </p:nvSpPr>
        <p:spPr>
          <a:xfrm xmlns:a="http://schemas.openxmlformats.org/drawingml/2006/main">
            <a:off x="704850" y="2733675"/>
            <a:ext cx="5162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26B7C"/>
                </a:solidFill>
                <a:latin typeface="Helvetica Neue"/>
                <a:ea typeface="Helvetica Neue"/>
                <a:cs typeface="Helvetica Neue"/>
              </a:defRPr>
            </a:defPPr>
            <a:lvl1pPr>
              <a:buNone/>
              <a:defRPr sz="2175" b="1">
                <a:solidFill>
                  <a:srgbClr val="00A9D6"/>
                </a:solidFill>
                <a:latin typeface="Helvetica Neue"/>
                <a:ea typeface="Helvetica Neue"/>
                <a:cs typeface="Helvetica Neue"/>
              </a:defRPr>
            </a:lvl1pPr>
            <a:lvl2pPr>
              <a:buNone/>
              <a:defRPr sz="2175" b="1">
                <a:solidFill>
                  <a:srgbClr val="00A9D6"/>
                </a:solidFill>
                <a:latin typeface="Helvetica Neue"/>
                <a:ea typeface="Helvetica Neue"/>
                <a:cs typeface="Helvetica Neue"/>
              </a:defRPr>
            </a:lvl2pPr>
            <a:lvl3pPr>
              <a:buNone/>
              <a:defRPr sz="2175" b="1">
                <a:solidFill>
                  <a:srgbClr val="00A9D6"/>
                </a:solidFill>
                <a:latin typeface="Helvetica Neue"/>
                <a:ea typeface="Helvetica Neue"/>
                <a:cs typeface="Helvetica Neue"/>
              </a:defRPr>
            </a:lvl3pPr>
            <a:lvl4pPr>
              <a:buNone/>
              <a:defRPr sz="2175" b="1">
                <a:solidFill>
                  <a:srgbClr val="00A9D6"/>
                </a:solidFill>
                <a:latin typeface="Helvetica Neue"/>
                <a:ea typeface="Helvetica Neue"/>
                <a:cs typeface="Helvetica Neue"/>
              </a:defRPr>
            </a:lvl4pPr>
            <a:lvl5pPr>
              <a:buNone/>
              <a:defRPr sz="2175" b="1">
                <a:solidFill>
                  <a:srgbClr val="00A9D6"/>
                </a:solidFill>
                <a:latin typeface="Helvetica Neue"/>
                <a:ea typeface="Helvetica Neue"/>
                <a:cs typeface="Helvetica Neue"/>
              </a:defRPr>
            </a:lvl5pPr>
            <a:lvl6pPr>
              <a:buNone/>
              <a:defRPr sz="2175" b="1">
                <a:solidFill>
                  <a:srgbClr val="00A9D6"/>
                </a:solidFill>
                <a:latin typeface="Helvetica Neue"/>
                <a:ea typeface="Helvetica Neue"/>
                <a:cs typeface="Helvetica Neue"/>
              </a:defRPr>
            </a:lvl6pPr>
            <a:lvl7pPr>
              <a:buNone/>
              <a:defRPr sz="2175" b="1">
                <a:solidFill>
                  <a:srgbClr val="00A9D6"/>
                </a:solidFill>
                <a:latin typeface="Helvetica Neue"/>
                <a:ea typeface="Helvetica Neue"/>
                <a:cs typeface="Helvetica Neue"/>
              </a:defRPr>
            </a:lvl7pPr>
            <a:lvl8pPr>
              <a:buNone/>
              <a:defRPr sz="2175" b="1">
                <a:solidFill>
                  <a:srgbClr val="00A9D6"/>
                </a:solidFill>
                <a:latin typeface="Helvetica Neue"/>
                <a:ea typeface="Helvetica Neue"/>
                <a:cs typeface="Helvetica Neue"/>
              </a:defRPr>
            </a:lvl8pPr>
            <a:lvl9pPr>
              <a:buNone/>
              <a:defRPr sz="2175" b="1">
                <a:solidFill>
                  <a:srgbClr val="00A9D6"/>
                </a:solidFill>
                <a:latin typeface="Helvetica Neue"/>
                <a:ea typeface="Helvetica Neue"/>
                <a:cs typeface="Helvetica Neue"/>
              </a:defRPr>
            </a:lvl9pPr>
          </a:lstStyle>
          <a:p xmlns:a="http://schemas.openxmlformats.org/drawingml/2006/main">
            <a:pPr>
              <a:buNone/>
              <a:defRPr sz="1800" b="0">
                <a:solidFill>
                  <a:srgbClr val="526B7C"/>
                </a:solidFill>
                <a:latin typeface="Helvetica Neue"/>
                <a:ea typeface="Helvetica Neue"/>
                <a:cs typeface="Helvetica Neue"/>
              </a:defRPr>
            </a:pPr>
            <a:r>
              <a:rPr sz="1800" b="0">
                <a:solidFill>
                  <a:srgbClr val="526B7C"/>
                </a:solidFill>
                <a:latin typeface="Helvetica Neue"/>
                <a:ea typeface="Helvetica Neue"/>
                <a:cs typeface="Helvetica Neue"/>
              </a:rPr>
              <a:t>Pilot with 10 consenting merchants and operations reviewers. Compare the current intake flow with a reviewed MerchantLens brief.</a:t>
            </a:r>
          </a:p>
        </p:txBody>
      </p:sp>
      <p:sp>
        <p:nvSpPr>
          <p:cNvPr id="5" name="">
            <a:extLst xmlns:a="http://schemas.openxmlformats.org/drawingml/2006/main">
              <a:ext uri="{FF2B5EF4-FFF2-40B4-BE49-F238E27FC236}">
                <a16:creationId xmlns:a16="http://schemas.microsoft.com/office/drawing/2014/main" id="{1B04CC03-03E3-466E-838D-BF026E9BB494}"/>
              </a:ext>
            </a:extLst>
          </p:cNvPr>
          <p:cNvSpPr>
            <a:spLocks xmlns:a="http://schemas.openxmlformats.org/drawingml/2006/main" noGrp="1"/>
          </p:cNvSpPr>
          <p:nvPr/>
        </p:nvSpPr>
        <p:spPr>
          <a:xfrm xmlns:a="http://schemas.openxmlformats.org/drawingml/2006/main">
            <a:off x="704850" y="3838575"/>
            <a:ext cx="51625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02F43"/>
                </a:solidFill>
                <a:latin typeface="Helvetica Neue"/>
                <a:ea typeface="Helvetica Neue"/>
                <a:cs typeface="Helvetica Neue"/>
              </a:defRPr>
            </a:defPPr>
            <a:lvl1pPr>
              <a:buNone/>
              <a:defRPr sz="2100" b="0">
                <a:solidFill>
                  <a:srgbClr val="102F43"/>
                </a:solidFill>
                <a:latin typeface="Helvetica Neue"/>
                <a:ea typeface="Helvetica Neue"/>
                <a:cs typeface="Helvetica Neue"/>
              </a:defRPr>
            </a:lvl1pPr>
            <a:lvl2pPr>
              <a:buNone/>
              <a:defRPr sz="2100" b="0">
                <a:solidFill>
                  <a:srgbClr val="102F43"/>
                </a:solidFill>
                <a:latin typeface="Helvetica Neue"/>
                <a:ea typeface="Helvetica Neue"/>
                <a:cs typeface="Helvetica Neue"/>
              </a:defRPr>
            </a:lvl2pPr>
            <a:lvl3pPr>
              <a:buNone/>
              <a:defRPr sz="2100" b="0">
                <a:solidFill>
                  <a:srgbClr val="102F43"/>
                </a:solidFill>
                <a:latin typeface="Helvetica Neue"/>
                <a:ea typeface="Helvetica Neue"/>
                <a:cs typeface="Helvetica Neue"/>
              </a:defRPr>
            </a:lvl3pPr>
            <a:lvl4pPr>
              <a:buNone/>
              <a:defRPr sz="2100" b="0">
                <a:solidFill>
                  <a:srgbClr val="102F43"/>
                </a:solidFill>
                <a:latin typeface="Helvetica Neue"/>
                <a:ea typeface="Helvetica Neue"/>
                <a:cs typeface="Helvetica Neue"/>
              </a:defRPr>
            </a:lvl4pPr>
            <a:lvl5pPr>
              <a:buNone/>
              <a:defRPr sz="2100" b="0">
                <a:solidFill>
                  <a:srgbClr val="102F43"/>
                </a:solidFill>
                <a:latin typeface="Helvetica Neue"/>
                <a:ea typeface="Helvetica Neue"/>
                <a:cs typeface="Helvetica Neue"/>
              </a:defRPr>
            </a:lvl5pPr>
            <a:lvl6pPr>
              <a:buNone/>
              <a:defRPr sz="2100" b="0">
                <a:solidFill>
                  <a:srgbClr val="102F43"/>
                </a:solidFill>
                <a:latin typeface="Helvetica Neue"/>
                <a:ea typeface="Helvetica Neue"/>
                <a:cs typeface="Helvetica Neue"/>
              </a:defRPr>
            </a:lvl6pPr>
            <a:lvl7pPr>
              <a:buNone/>
              <a:defRPr sz="2100" b="0">
                <a:solidFill>
                  <a:srgbClr val="102F43"/>
                </a:solidFill>
                <a:latin typeface="Helvetica Neue"/>
                <a:ea typeface="Helvetica Neue"/>
                <a:cs typeface="Helvetica Neue"/>
              </a:defRPr>
            </a:lvl7pPr>
            <a:lvl8pPr>
              <a:buNone/>
              <a:defRPr sz="2100" b="0">
                <a:solidFill>
                  <a:srgbClr val="102F43"/>
                </a:solidFill>
                <a:latin typeface="Helvetica Neue"/>
                <a:ea typeface="Helvetica Neue"/>
                <a:cs typeface="Helvetica Neue"/>
              </a:defRPr>
            </a:lvl8pPr>
            <a:lvl9pPr>
              <a:buNone/>
              <a:defRPr sz="2100" b="0">
                <a:solidFill>
                  <a:srgbClr val="102F43"/>
                </a:solidFill>
                <a:latin typeface="Helvetica Neue"/>
                <a:ea typeface="Helvetica Neue"/>
                <a:cs typeface="Helvetica Neue"/>
              </a:defRPr>
            </a:lvl9pPr>
          </a:lstStyle>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Measure time to a useful brief, repeat contacts, routing agreement, factual corrections, voice failures and AI cost per case.</a:t>
            </a:r>
          </a:p>
        </p:txBody>
      </p:sp>
      <p:sp>
        <p:nvSpPr>
          <p:cNvPr id="6" name="">
            <a:extLst xmlns:a="http://schemas.openxmlformats.org/drawingml/2006/main">
              <a:ext uri="{FF2B5EF4-FFF2-40B4-BE49-F238E27FC236}">
                <a16:creationId xmlns:a16="http://schemas.microsoft.com/office/drawing/2014/main" id="{59D9145F-BFCC-40CD-B709-B303C47CB94F}"/>
              </a:ext>
            </a:extLst>
          </p:cNvPr>
          <p:cNvSpPr>
            <a:spLocks xmlns:a="http://schemas.openxmlformats.org/drawingml/2006/main" noGrp="1"/>
          </p:cNvSpPr>
          <p:nvPr/>
        </p:nvSpPr>
        <p:spPr>
          <a:xfrm xmlns:a="http://schemas.openxmlformats.org/drawingml/2006/main">
            <a:off x="723900" y="55435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A9D6"/>
                </a:solidFill>
                <a:latin typeface="Helvetica Neue"/>
                <a:ea typeface="Helvetica Neue"/>
                <a:cs typeface="Helvetica Neue"/>
              </a:defRPr>
            </a:defPPr>
            <a:lvl1pPr>
              <a:buNone/>
              <a:defRPr sz="2025" b="1">
                <a:solidFill>
                  <a:srgbClr val="00A9D6"/>
                </a:solidFill>
                <a:latin typeface="Helvetica Neue"/>
                <a:ea typeface="Helvetica Neue"/>
                <a:cs typeface="Helvetica Neue"/>
              </a:defRPr>
            </a:lvl1pPr>
            <a:lvl2pPr>
              <a:buNone/>
              <a:defRPr sz="2025" b="1">
                <a:solidFill>
                  <a:srgbClr val="00A9D6"/>
                </a:solidFill>
                <a:latin typeface="Helvetica Neue"/>
                <a:ea typeface="Helvetica Neue"/>
                <a:cs typeface="Helvetica Neue"/>
              </a:defRPr>
            </a:lvl2pPr>
            <a:lvl3pPr>
              <a:buNone/>
              <a:defRPr sz="2025" b="1">
                <a:solidFill>
                  <a:srgbClr val="00A9D6"/>
                </a:solidFill>
                <a:latin typeface="Helvetica Neue"/>
                <a:ea typeface="Helvetica Neue"/>
                <a:cs typeface="Helvetica Neue"/>
              </a:defRPr>
            </a:lvl3pPr>
            <a:lvl4pPr>
              <a:buNone/>
              <a:defRPr sz="2025" b="1">
                <a:solidFill>
                  <a:srgbClr val="00A9D6"/>
                </a:solidFill>
                <a:latin typeface="Helvetica Neue"/>
                <a:ea typeface="Helvetica Neue"/>
                <a:cs typeface="Helvetica Neue"/>
              </a:defRPr>
            </a:lvl4pPr>
            <a:lvl5pPr>
              <a:buNone/>
              <a:defRPr sz="2025" b="1">
                <a:solidFill>
                  <a:srgbClr val="00A9D6"/>
                </a:solidFill>
                <a:latin typeface="Helvetica Neue"/>
                <a:ea typeface="Helvetica Neue"/>
                <a:cs typeface="Helvetica Neue"/>
              </a:defRPr>
            </a:lvl5pPr>
            <a:lvl6pPr>
              <a:buNone/>
              <a:defRPr sz="2025" b="1">
                <a:solidFill>
                  <a:srgbClr val="00A9D6"/>
                </a:solidFill>
                <a:latin typeface="Helvetica Neue"/>
                <a:ea typeface="Helvetica Neue"/>
                <a:cs typeface="Helvetica Neue"/>
              </a:defRPr>
            </a:lvl6pPr>
            <a:lvl7pPr>
              <a:buNone/>
              <a:defRPr sz="2025" b="1">
                <a:solidFill>
                  <a:srgbClr val="00A9D6"/>
                </a:solidFill>
                <a:latin typeface="Helvetica Neue"/>
                <a:ea typeface="Helvetica Neue"/>
                <a:cs typeface="Helvetica Neue"/>
              </a:defRPr>
            </a:lvl7pPr>
            <a:lvl8pPr>
              <a:buNone/>
              <a:defRPr sz="2025" b="1">
                <a:solidFill>
                  <a:srgbClr val="00A9D6"/>
                </a:solidFill>
                <a:latin typeface="Helvetica Neue"/>
                <a:ea typeface="Helvetica Neue"/>
                <a:cs typeface="Helvetica Neue"/>
              </a:defRPr>
            </a:lvl8pPr>
            <a:lvl9pPr>
              <a:buNone/>
              <a:defRPr sz="2025" b="1">
                <a:solidFill>
                  <a:srgbClr val="00A9D6"/>
                </a:solidFill>
                <a:latin typeface="Helvetica Neue"/>
                <a:ea typeface="Helvetica Neue"/>
                <a:cs typeface="Helvetica Neue"/>
              </a:defRPr>
            </a:lvl9pPr>
          </a:lstStyle>
          <a:p xmlns:a="http://schemas.openxmlformats.org/drawingml/2006/main">
            <a:pPr>
              <a:buNone/>
              <a:defRPr sz="2025"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e67f8fc4739e4e0d"/>
              </a:rPr>
              <a:t/>
            </a:r>
          </a:p>
        </p:txBody>
      </p:sp>
      <p:sp>
        <p:nvSpPr>
          <p:cNvPr id="7" name="">
            <a:extLst xmlns:a="http://schemas.openxmlformats.org/drawingml/2006/main">
              <a:ext uri="{FF2B5EF4-FFF2-40B4-BE49-F238E27FC236}">
                <a16:creationId xmlns:a16="http://schemas.microsoft.com/office/drawing/2014/main" id="{4F9CF6D8-749F-4271-928C-D54881D1244A}"/>
              </a:ext>
            </a:extLst>
          </p:cNvPr>
          <p:cNvSpPr>
            <a:spLocks xmlns:a="http://schemas.openxmlformats.org/drawingml/2006/main" noGrp="1"/>
          </p:cNvSpPr>
          <p:nvPr/>
        </p:nvSpPr>
        <p:spPr>
          <a:xfrm xmlns:a="http://schemas.openxmlformats.org/drawingml/2006/main">
            <a:off x="6381750" y="55435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A9D6"/>
                </a:solidFill>
                <a:latin typeface="Helvetica Neue"/>
                <a:ea typeface="Helvetica Neue"/>
                <a:cs typeface="Helvetica Neue"/>
              </a:defRPr>
            </a:defPPr>
            <a:lvl1pPr>
              <a:buNone/>
              <a:defRPr sz="2025" b="1">
                <a:solidFill>
                  <a:srgbClr val="00A9D6"/>
                </a:solidFill>
                <a:latin typeface="Helvetica Neue"/>
                <a:ea typeface="Helvetica Neue"/>
                <a:cs typeface="Helvetica Neue"/>
              </a:defRPr>
            </a:lvl1pPr>
            <a:lvl2pPr>
              <a:buNone/>
              <a:defRPr sz="2025" b="1">
                <a:solidFill>
                  <a:srgbClr val="00A9D6"/>
                </a:solidFill>
                <a:latin typeface="Helvetica Neue"/>
                <a:ea typeface="Helvetica Neue"/>
                <a:cs typeface="Helvetica Neue"/>
              </a:defRPr>
            </a:lvl2pPr>
            <a:lvl3pPr>
              <a:buNone/>
              <a:defRPr sz="2025" b="1">
                <a:solidFill>
                  <a:srgbClr val="00A9D6"/>
                </a:solidFill>
                <a:latin typeface="Helvetica Neue"/>
                <a:ea typeface="Helvetica Neue"/>
                <a:cs typeface="Helvetica Neue"/>
              </a:defRPr>
            </a:lvl3pPr>
            <a:lvl4pPr>
              <a:buNone/>
              <a:defRPr sz="2025" b="1">
                <a:solidFill>
                  <a:srgbClr val="00A9D6"/>
                </a:solidFill>
                <a:latin typeface="Helvetica Neue"/>
                <a:ea typeface="Helvetica Neue"/>
                <a:cs typeface="Helvetica Neue"/>
              </a:defRPr>
            </a:lvl4pPr>
            <a:lvl5pPr>
              <a:buNone/>
              <a:defRPr sz="2025" b="1">
                <a:solidFill>
                  <a:srgbClr val="00A9D6"/>
                </a:solidFill>
                <a:latin typeface="Helvetica Neue"/>
                <a:ea typeface="Helvetica Neue"/>
                <a:cs typeface="Helvetica Neue"/>
              </a:defRPr>
            </a:lvl5pPr>
            <a:lvl6pPr>
              <a:buNone/>
              <a:defRPr sz="2025" b="1">
                <a:solidFill>
                  <a:srgbClr val="00A9D6"/>
                </a:solidFill>
                <a:latin typeface="Helvetica Neue"/>
                <a:ea typeface="Helvetica Neue"/>
                <a:cs typeface="Helvetica Neue"/>
              </a:defRPr>
            </a:lvl6pPr>
            <a:lvl7pPr>
              <a:buNone/>
              <a:defRPr sz="2025" b="1">
                <a:solidFill>
                  <a:srgbClr val="00A9D6"/>
                </a:solidFill>
                <a:latin typeface="Helvetica Neue"/>
                <a:ea typeface="Helvetica Neue"/>
                <a:cs typeface="Helvetica Neue"/>
              </a:defRPr>
            </a:lvl7pPr>
            <a:lvl8pPr>
              <a:buNone/>
              <a:defRPr sz="2025" b="1">
                <a:solidFill>
                  <a:srgbClr val="00A9D6"/>
                </a:solidFill>
                <a:latin typeface="Helvetica Neue"/>
                <a:ea typeface="Helvetica Neue"/>
                <a:cs typeface="Helvetica Neue"/>
              </a:defRPr>
            </a:lvl8pPr>
            <a:lvl9pPr>
              <a:buNone/>
              <a:defRPr sz="2025" b="1">
                <a:solidFill>
                  <a:srgbClr val="00A9D6"/>
                </a:solidFill>
                <a:latin typeface="Helvetica Neue"/>
                <a:ea typeface="Helvetica Neue"/>
                <a:cs typeface="Helvetica Neue"/>
              </a:defRPr>
            </a:lvl9pPr>
          </a:lstStyle>
          <a:p xmlns:a="http://schemas.openxmlformats.org/drawingml/2006/main">
            <a:pPr>
              <a:buNone/>
              <a:defRPr sz="2025"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0bdfae6617a842f7"/>
              </a:rPr>
              <a:t/>
            </a:r>
          </a:p>
        </p:txBody>
      </p:sp>
      <p:sp>
        <p:nvSpPr>
          <p:cNvPr id="8" name="">
            <a:extLst xmlns:a="http://schemas.openxmlformats.org/drawingml/2006/main">
              <a:ext uri="{FF2B5EF4-FFF2-40B4-BE49-F238E27FC236}">
                <a16:creationId xmlns:a16="http://schemas.microsoft.com/office/drawing/2014/main" id="{9508F6BB-84AD-4DDE-9CA6-A9EE32885462}"/>
              </a:ext>
            </a:extLst>
          </p:cNvPr>
          <p:cNvSpPr>
            <a:spLocks xmlns:a="http://schemas.openxmlformats.org/drawingml/2006/main" noGrp="1"/>
          </p:cNvSpPr>
          <p:nvPr/>
        </p:nvSpPr>
        <p:spPr>
          <a:xfrm xmlns:a="http://schemas.openxmlformats.org/drawingml/2006/main">
            <a:off x="704850" y="5048250"/>
            <a:ext cx="5162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02F43"/>
                </a:solidFill>
                <a:latin typeface="Helvetica Neue"/>
                <a:ea typeface="Helvetica Neue"/>
                <a:cs typeface="Helvetica Neue"/>
              </a:defRPr>
            </a:defPPr>
            <a:lvl1pPr>
              <a:buNone/>
              <a:defRPr sz="1350" b="0">
                <a:solidFill>
                  <a:srgbClr val="526B7C"/>
                </a:solidFill>
                <a:latin typeface="Helvetica Neue"/>
                <a:ea typeface="Helvetica Neue"/>
                <a:cs typeface="Helvetica Neue"/>
              </a:defRPr>
            </a:lvl1pPr>
            <a:lvl2pPr>
              <a:buNone/>
              <a:defRPr sz="1350" b="0">
                <a:solidFill>
                  <a:srgbClr val="526B7C"/>
                </a:solidFill>
                <a:latin typeface="Helvetica Neue"/>
                <a:ea typeface="Helvetica Neue"/>
                <a:cs typeface="Helvetica Neue"/>
              </a:defRPr>
            </a:lvl2pPr>
            <a:lvl3pPr>
              <a:buNone/>
              <a:defRPr sz="1350" b="0">
                <a:solidFill>
                  <a:srgbClr val="526B7C"/>
                </a:solidFill>
                <a:latin typeface="Helvetica Neue"/>
                <a:ea typeface="Helvetica Neue"/>
                <a:cs typeface="Helvetica Neue"/>
              </a:defRPr>
            </a:lvl3pPr>
            <a:lvl4pPr>
              <a:buNone/>
              <a:defRPr sz="1350" b="0">
                <a:solidFill>
                  <a:srgbClr val="526B7C"/>
                </a:solidFill>
                <a:latin typeface="Helvetica Neue"/>
                <a:ea typeface="Helvetica Neue"/>
                <a:cs typeface="Helvetica Neue"/>
              </a:defRPr>
            </a:lvl4pPr>
            <a:lvl5pPr>
              <a:buNone/>
              <a:defRPr sz="1350" b="0">
                <a:solidFill>
                  <a:srgbClr val="526B7C"/>
                </a:solidFill>
                <a:latin typeface="Helvetica Neue"/>
                <a:ea typeface="Helvetica Neue"/>
                <a:cs typeface="Helvetica Neue"/>
              </a:defRPr>
            </a:lvl5pPr>
            <a:lvl6pPr>
              <a:buNone/>
              <a:defRPr sz="1350" b="0">
                <a:solidFill>
                  <a:srgbClr val="526B7C"/>
                </a:solidFill>
                <a:latin typeface="Helvetica Neue"/>
                <a:ea typeface="Helvetica Neue"/>
                <a:cs typeface="Helvetica Neue"/>
              </a:defRPr>
            </a:lvl6pPr>
            <a:lvl7pPr>
              <a:buNone/>
              <a:defRPr sz="1350" b="0">
                <a:solidFill>
                  <a:srgbClr val="526B7C"/>
                </a:solidFill>
                <a:latin typeface="Helvetica Neue"/>
                <a:ea typeface="Helvetica Neue"/>
                <a:cs typeface="Helvetica Neue"/>
              </a:defRPr>
            </a:lvl7pPr>
            <a:lvl8pPr>
              <a:buNone/>
              <a:defRPr sz="1350" b="0">
                <a:solidFill>
                  <a:srgbClr val="526B7C"/>
                </a:solidFill>
                <a:latin typeface="Helvetica Neue"/>
                <a:ea typeface="Helvetica Neue"/>
                <a:cs typeface="Helvetica Neue"/>
              </a:defRPr>
            </a:lvl8pPr>
            <a:lvl9pPr>
              <a:buNone/>
              <a:defRPr sz="1350" b="0">
                <a:solidFill>
                  <a:srgbClr val="526B7C"/>
                </a:solidFill>
                <a:latin typeface="Helvetica Neue"/>
                <a:ea typeface="Helvetica Neue"/>
                <a:cs typeface="Helvetica Neue"/>
              </a:defRPr>
            </a:lvl9pPr>
          </a:lstStyle>
          <a:p xmlns:a="http://schemas.openxmlformats.org/drawingml/2006/main">
            <a:pPr>
              <a:buNone/>
              <a:defRPr sz="1875" b="1">
                <a:solidFill>
                  <a:srgbClr val="102F43"/>
                </a:solidFill>
                <a:latin typeface="Helvetica Neue"/>
                <a:ea typeface="Helvetica Neue"/>
                <a:cs typeface="Helvetica Neue"/>
              </a:defRPr>
            </a:pPr>
            <a:r>
              <a:rPr sz="1875" b="1">
                <a:solidFill>
                  <a:srgbClr val="102F43"/>
                </a:solidFill>
                <a:latin typeface="Helvetica Neue"/>
                <a:ea typeface="Helvetica Neue"/>
                <a:cs typeface="Helvetica Neue"/>
              </a:rPr>
              <a:t>Net value = cases × minutes saved × staff cost/min</a:t>
            </a:r>
          </a:p>
          <a:p xmlns:a="http://schemas.openxmlformats.org/drawingml/2006/main">
            <a:pPr>
              <a:buNone/>
              <a:defRPr sz="1875" b="1">
                <a:solidFill>
                  <a:srgbClr val="102F43"/>
                </a:solidFill>
                <a:latin typeface="Helvetica Neue"/>
                <a:ea typeface="Helvetica Neue"/>
                <a:cs typeface="Helvetica Neue"/>
              </a:defRPr>
            </a:pPr>
            <a:r>
              <a:rPr sz="1875" b="1">
                <a:solidFill>
                  <a:srgbClr val="102F43"/>
                </a:solidFill>
                <a:latin typeface="Helvetica Neue"/>
                <a:ea typeface="Helvetica Neue"/>
                <a:cs typeface="Helvetica Neue"/>
              </a:rPr>
              <a:t>− AI, review, integration and operating costs</a:t>
            </a:r>
          </a:p>
        </p:txBody>
      </p:sp>
      <p:sp>
        <p:nvSpPr>
          <p:cNvPr id="9" name="">
            <a:extLst xmlns:a="http://schemas.openxmlformats.org/drawingml/2006/main">
              <a:ext uri="{FF2B5EF4-FFF2-40B4-BE49-F238E27FC236}">
                <a16:creationId xmlns:a16="http://schemas.microsoft.com/office/drawing/2014/main" id="{248D8905-AD2E-400D-87D2-E7366E2613A4}"/>
              </a:ext>
            </a:extLst>
          </p:cNvPr>
          <p:cNvSpPr>
            <a:spLocks xmlns:a="http://schemas.openxmlformats.org/drawingml/2006/main" noGrp="1"/>
          </p:cNvSpPr>
          <p:nvPr/>
        </p:nvSpPr>
        <p:spPr>
          <a:xfrm xmlns:a="http://schemas.openxmlformats.org/drawingml/2006/main">
            <a:off x="6343650" y="1400175"/>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0A9D6"/>
                </a:solidFill>
                <a:latin typeface="Helvetica Neue"/>
                <a:ea typeface="Helvetica Neue"/>
                <a:cs typeface="Helvetica Neue"/>
              </a:defRPr>
            </a:defPPr>
            <a:lvl1pPr>
              <a:buNone/>
              <a:defRPr sz="1275" b="0">
                <a:solidFill>
                  <a:srgbClr val="526B7C"/>
                </a:solidFill>
                <a:latin typeface="Helvetica Neue"/>
                <a:ea typeface="Helvetica Neue"/>
                <a:cs typeface="Helvetica Neue"/>
              </a:defRPr>
            </a:lvl1pPr>
            <a:lvl2pPr>
              <a:buNone/>
              <a:defRPr sz="1275" b="0">
                <a:solidFill>
                  <a:srgbClr val="526B7C"/>
                </a:solidFill>
                <a:latin typeface="Helvetica Neue"/>
                <a:ea typeface="Helvetica Neue"/>
                <a:cs typeface="Helvetica Neue"/>
              </a:defRPr>
            </a:lvl2pPr>
            <a:lvl3pPr>
              <a:buNone/>
              <a:defRPr sz="1275" b="0">
                <a:solidFill>
                  <a:srgbClr val="526B7C"/>
                </a:solidFill>
                <a:latin typeface="Helvetica Neue"/>
                <a:ea typeface="Helvetica Neue"/>
                <a:cs typeface="Helvetica Neue"/>
              </a:defRPr>
            </a:lvl3pPr>
            <a:lvl4pPr>
              <a:buNone/>
              <a:defRPr sz="1275" b="0">
                <a:solidFill>
                  <a:srgbClr val="526B7C"/>
                </a:solidFill>
                <a:latin typeface="Helvetica Neue"/>
                <a:ea typeface="Helvetica Neue"/>
                <a:cs typeface="Helvetica Neue"/>
              </a:defRPr>
            </a:lvl4pPr>
            <a:lvl5pPr>
              <a:buNone/>
              <a:defRPr sz="1275" b="0">
                <a:solidFill>
                  <a:srgbClr val="526B7C"/>
                </a:solidFill>
                <a:latin typeface="Helvetica Neue"/>
                <a:ea typeface="Helvetica Neue"/>
                <a:cs typeface="Helvetica Neue"/>
              </a:defRPr>
            </a:lvl5pPr>
            <a:lvl6pPr>
              <a:buNone/>
              <a:defRPr sz="1275" b="0">
                <a:solidFill>
                  <a:srgbClr val="526B7C"/>
                </a:solidFill>
                <a:latin typeface="Helvetica Neue"/>
                <a:ea typeface="Helvetica Neue"/>
                <a:cs typeface="Helvetica Neue"/>
              </a:defRPr>
            </a:lvl6pPr>
            <a:lvl7pPr>
              <a:buNone/>
              <a:defRPr sz="1275" b="0">
                <a:solidFill>
                  <a:srgbClr val="526B7C"/>
                </a:solidFill>
                <a:latin typeface="Helvetica Neue"/>
                <a:ea typeface="Helvetica Neue"/>
                <a:cs typeface="Helvetica Neue"/>
              </a:defRPr>
            </a:lvl7pPr>
            <a:lvl8pPr>
              <a:buNone/>
              <a:defRPr sz="1275" b="0">
                <a:solidFill>
                  <a:srgbClr val="526B7C"/>
                </a:solidFill>
                <a:latin typeface="Helvetica Neue"/>
                <a:ea typeface="Helvetica Neue"/>
                <a:cs typeface="Helvetica Neue"/>
              </a:defRPr>
            </a:lvl8pPr>
            <a:lvl9pPr>
              <a:buNone/>
              <a:defRPr sz="1275" b="0">
                <a:solidFill>
                  <a:srgbClr val="526B7C"/>
                </a:solidFill>
                <a:latin typeface="Helvetica Neue"/>
                <a:ea typeface="Helvetica Neue"/>
                <a:cs typeface="Helvetica Neue"/>
              </a:defRPr>
            </a:lvl9pPr>
          </a:lstStyle>
          <a:p xmlns:a="http://schemas.openxmlformats.org/drawingml/2006/main">
            <a:pPr>
              <a:buNone/>
              <a:defRPr sz="2100" b="1">
                <a:solidFill>
                  <a:srgbClr val="00A9D6"/>
                </a:solidFill>
                <a:latin typeface="Helvetica Neue"/>
                <a:ea typeface="Helvetica Neue"/>
                <a:cs typeface="Helvetica Neue"/>
              </a:defRPr>
            </a:pPr>
            <a:r>
              <a:rPr sz="2100" b="1">
                <a:solidFill>
                  <a:srgbClr val="00A9D6"/>
                </a:solidFill>
                <a:latin typeface="Helvetica Neue"/>
                <a:ea typeface="Helvetica Neue"/>
                <a:cs typeface="Helvetica Neue"/>
              </a:rPr>
              <a:t>Proposed Paytm integration</a:t>
            </a:r>
          </a:p>
        </p:txBody>
      </p:sp>
      <p:sp>
        <p:nvSpPr>
          <p:cNvPr id="10" name="">
            <a:extLst xmlns:a="http://schemas.openxmlformats.org/drawingml/2006/main">
              <a:ext uri="{FF2B5EF4-FFF2-40B4-BE49-F238E27FC236}">
                <a16:creationId xmlns:a16="http://schemas.microsoft.com/office/drawing/2014/main" id="{C34BC204-D8A3-4087-B787-90303B726515}"/>
              </a:ext>
            </a:extLst>
          </p:cNvPr>
          <p:cNvSpPr>
            <a:spLocks xmlns:a="http://schemas.openxmlformats.org/drawingml/2006/main" noGrp="1"/>
          </p:cNvSpPr>
          <p:nvPr/>
        </p:nvSpPr>
        <p:spPr>
          <a:xfrm xmlns:a="http://schemas.openxmlformats.org/drawingml/2006/main">
            <a:off x="6343650" y="2000250"/>
            <a:ext cx="51435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02F43"/>
                </a:solidFill>
                <a:latin typeface="Helvetica Neue"/>
                <a:ea typeface="Helvetica Neue"/>
                <a:cs typeface="Helvetica Neue"/>
              </a:defRPr>
            </a:defPPr>
            <a:lvl1pPr>
              <a:buNone/>
              <a:defRPr sz="1275" b="0">
                <a:solidFill>
                  <a:srgbClr val="526B7C"/>
                </a:solidFill>
                <a:latin typeface="Helvetica Neue"/>
                <a:ea typeface="Helvetica Neue"/>
                <a:cs typeface="Helvetica Neue"/>
              </a:defRPr>
            </a:lvl1pPr>
            <a:lvl2pPr>
              <a:buNone/>
              <a:defRPr sz="1275" b="0">
                <a:solidFill>
                  <a:srgbClr val="526B7C"/>
                </a:solidFill>
                <a:latin typeface="Helvetica Neue"/>
                <a:ea typeface="Helvetica Neue"/>
                <a:cs typeface="Helvetica Neue"/>
              </a:defRPr>
            </a:lvl2pPr>
            <a:lvl3pPr>
              <a:buNone/>
              <a:defRPr sz="1275" b="0">
                <a:solidFill>
                  <a:srgbClr val="526B7C"/>
                </a:solidFill>
                <a:latin typeface="Helvetica Neue"/>
                <a:ea typeface="Helvetica Neue"/>
                <a:cs typeface="Helvetica Neue"/>
              </a:defRPr>
            </a:lvl3pPr>
            <a:lvl4pPr>
              <a:buNone/>
              <a:defRPr sz="1275" b="0">
                <a:solidFill>
                  <a:srgbClr val="526B7C"/>
                </a:solidFill>
                <a:latin typeface="Helvetica Neue"/>
                <a:ea typeface="Helvetica Neue"/>
                <a:cs typeface="Helvetica Neue"/>
              </a:defRPr>
            </a:lvl4pPr>
            <a:lvl5pPr>
              <a:buNone/>
              <a:defRPr sz="1275" b="0">
                <a:solidFill>
                  <a:srgbClr val="526B7C"/>
                </a:solidFill>
                <a:latin typeface="Helvetica Neue"/>
                <a:ea typeface="Helvetica Neue"/>
                <a:cs typeface="Helvetica Neue"/>
              </a:defRPr>
            </a:lvl5pPr>
            <a:lvl6pPr>
              <a:buNone/>
              <a:defRPr sz="1275" b="0">
                <a:solidFill>
                  <a:srgbClr val="526B7C"/>
                </a:solidFill>
                <a:latin typeface="Helvetica Neue"/>
                <a:ea typeface="Helvetica Neue"/>
                <a:cs typeface="Helvetica Neue"/>
              </a:defRPr>
            </a:lvl6pPr>
            <a:lvl7pPr>
              <a:buNone/>
              <a:defRPr sz="1275" b="0">
                <a:solidFill>
                  <a:srgbClr val="526B7C"/>
                </a:solidFill>
                <a:latin typeface="Helvetica Neue"/>
                <a:ea typeface="Helvetica Neue"/>
                <a:cs typeface="Helvetica Neue"/>
              </a:defRPr>
            </a:lvl7pPr>
            <a:lvl8pPr>
              <a:buNone/>
              <a:defRPr sz="1275" b="0">
                <a:solidFill>
                  <a:srgbClr val="526B7C"/>
                </a:solidFill>
                <a:latin typeface="Helvetica Neue"/>
                <a:ea typeface="Helvetica Neue"/>
                <a:cs typeface="Helvetica Neue"/>
              </a:defRPr>
            </a:lvl8pPr>
            <a:lvl9pPr>
              <a:buNone/>
              <a:defRPr sz="1275" b="0">
                <a:solidFill>
                  <a:srgbClr val="526B7C"/>
                </a:solidFill>
                <a:latin typeface="Helvetica Neue"/>
                <a:ea typeface="Helvetica Neue"/>
                <a:cs typeface="Helvetica Neue"/>
              </a:defRPr>
            </a:lvl9pPr>
          </a:lstStyle>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1  Consent + authenticated merchant identity</a:t>
            </a:r>
          </a:p>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2  Read-only transaction/settlement/device context</a:t>
            </a:r>
          </a:p>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3  Reconcile merchant reports with system records</a:t>
            </a:r>
          </a:p>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4  Human-reviewed case in the support workflow</a:t>
            </a:r>
          </a:p>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5  Product insights from anonymized briefs</a:t>
            </a:r>
          </a:p>
        </p:txBody>
      </p:sp>
      <p:sp>
        <p:nvSpPr>
          <p:cNvPr id="12" name="">
            <a:extLst xmlns:a="http://schemas.openxmlformats.org/drawingml/2006/main">
              <a:ext uri="{FF2B5EF4-FFF2-40B4-BE49-F238E27FC236}">
                <a16:creationId xmlns:a16="http://schemas.microsoft.com/office/drawing/2014/main" id="{E46035DC-84BE-4AE5-89DA-2699767F4E71}"/>
              </a:ext>
            </a:extLst>
          </p:cNvPr>
          <p:cNvSpPr>
            <a:spLocks xmlns:a="http://schemas.openxmlformats.org/drawingml/2006/main" noGrp="1"/>
          </p:cNvSpPr>
          <p:nvPr/>
        </p:nvSpPr>
        <p:spPr>
          <a:xfrm xmlns:a="http://schemas.openxmlformats.org/drawingml/2006/main">
            <a:off x="6343650" y="410527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0A9D6"/>
                </a:solidFill>
                <a:latin typeface="Helvetica Neue"/>
                <a:ea typeface="Helvetica Neue"/>
                <a:cs typeface="Helvetica Neue"/>
              </a:defRPr>
            </a:defPPr>
            <a:lvl1pPr>
              <a:buNone/>
              <a:defRPr sz="1875" b="1">
                <a:solidFill>
                  <a:srgbClr val="102F43"/>
                </a:solidFill>
                <a:latin typeface="Helvetica Neue"/>
                <a:ea typeface="Helvetica Neue"/>
                <a:cs typeface="Helvetica Neue"/>
              </a:defRPr>
            </a:lvl1pPr>
            <a:lvl2pPr>
              <a:buNone/>
              <a:defRPr sz="1875" b="1">
                <a:solidFill>
                  <a:srgbClr val="102F43"/>
                </a:solidFill>
                <a:latin typeface="Helvetica Neue"/>
                <a:ea typeface="Helvetica Neue"/>
                <a:cs typeface="Helvetica Neue"/>
              </a:defRPr>
            </a:lvl2pPr>
            <a:lvl3pPr>
              <a:buNone/>
              <a:defRPr sz="1875" b="1">
                <a:solidFill>
                  <a:srgbClr val="102F43"/>
                </a:solidFill>
                <a:latin typeface="Helvetica Neue"/>
                <a:ea typeface="Helvetica Neue"/>
                <a:cs typeface="Helvetica Neue"/>
              </a:defRPr>
            </a:lvl3pPr>
            <a:lvl4pPr>
              <a:buNone/>
              <a:defRPr sz="1875" b="1">
                <a:solidFill>
                  <a:srgbClr val="102F43"/>
                </a:solidFill>
                <a:latin typeface="Helvetica Neue"/>
                <a:ea typeface="Helvetica Neue"/>
                <a:cs typeface="Helvetica Neue"/>
              </a:defRPr>
            </a:lvl4pPr>
            <a:lvl5pPr>
              <a:buNone/>
              <a:defRPr sz="1875" b="1">
                <a:solidFill>
                  <a:srgbClr val="102F43"/>
                </a:solidFill>
                <a:latin typeface="Helvetica Neue"/>
                <a:ea typeface="Helvetica Neue"/>
                <a:cs typeface="Helvetica Neue"/>
              </a:defRPr>
            </a:lvl5pPr>
            <a:lvl6pPr>
              <a:buNone/>
              <a:defRPr sz="1875" b="1">
                <a:solidFill>
                  <a:srgbClr val="102F43"/>
                </a:solidFill>
                <a:latin typeface="Helvetica Neue"/>
                <a:ea typeface="Helvetica Neue"/>
                <a:cs typeface="Helvetica Neue"/>
              </a:defRPr>
            </a:lvl6pPr>
            <a:lvl7pPr>
              <a:buNone/>
              <a:defRPr sz="1875" b="1">
                <a:solidFill>
                  <a:srgbClr val="102F43"/>
                </a:solidFill>
                <a:latin typeface="Helvetica Neue"/>
                <a:ea typeface="Helvetica Neue"/>
                <a:cs typeface="Helvetica Neue"/>
              </a:defRPr>
            </a:lvl7pPr>
            <a:lvl8pPr>
              <a:buNone/>
              <a:defRPr sz="1875" b="1">
                <a:solidFill>
                  <a:srgbClr val="102F43"/>
                </a:solidFill>
                <a:latin typeface="Helvetica Neue"/>
                <a:ea typeface="Helvetica Neue"/>
                <a:cs typeface="Helvetica Neue"/>
              </a:defRPr>
            </a:lvl8pPr>
            <a:lvl9pPr>
              <a:buNone/>
              <a:defRPr sz="1875" b="1">
                <a:solidFill>
                  <a:srgbClr val="102F43"/>
                </a:solidFill>
                <a:latin typeface="Helvetica Neue"/>
                <a:ea typeface="Helvetica Neue"/>
                <a:cs typeface="Helvetica Neue"/>
              </a:defRPr>
            </a:lvl9pPr>
          </a:lstStyle>
          <a:p xmlns:a="http://schemas.openxmlformats.org/drawingml/2006/main">
            <a:pPr>
              <a:buNone/>
              <a:defRPr sz="2100" b="1">
                <a:solidFill>
                  <a:srgbClr val="00A9D6"/>
                </a:solidFill>
                <a:latin typeface="Helvetica Neue"/>
                <a:ea typeface="Helvetica Neue"/>
                <a:cs typeface="Helvetica Neue"/>
              </a:defRPr>
            </a:pPr>
            <a:r>
              <a:rPr sz="2100" b="1">
                <a:solidFill>
                  <a:srgbClr val="00A9D6"/>
                </a:solidFill>
                <a:latin typeface="Helvetica Neue"/>
                <a:ea typeface="Helvetica Neue"/>
                <a:cs typeface="Helvetica Neue"/>
              </a:rPr>
              <a:t>Proposed release gates</a:t>
            </a:r>
          </a:p>
        </p:txBody>
      </p:sp>
      <p:sp>
        <p:nvSpPr>
          <p:cNvPr id="13" name="">
            <a:extLst xmlns:a="http://schemas.openxmlformats.org/drawingml/2006/main">
              <a:ext uri="{FF2B5EF4-FFF2-40B4-BE49-F238E27FC236}">
                <a16:creationId xmlns:a16="http://schemas.microsoft.com/office/drawing/2014/main" id="{1DAFF140-A81D-47A8-BAA1-FD00E22828D8}"/>
              </a:ext>
            </a:extLst>
          </p:cNvPr>
          <p:cNvSpPr>
            <a:spLocks xmlns:a="http://schemas.openxmlformats.org/drawingml/2006/main" noGrp="1"/>
          </p:cNvSpPr>
          <p:nvPr/>
        </p:nvSpPr>
        <p:spPr>
          <a:xfrm xmlns:a="http://schemas.openxmlformats.org/drawingml/2006/main">
            <a:off x="6343650" y="4572000"/>
            <a:ext cx="5143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02F43"/>
                </a:solidFill>
                <a:latin typeface="Helvetica Neue"/>
                <a:ea typeface="Helvetica Neue"/>
                <a:cs typeface="Helvetica Neue"/>
              </a:defRPr>
            </a:defPPr>
            <a:lvl1pPr>
              <a:buNone/>
              <a:defRPr sz="1725" b="0">
                <a:solidFill>
                  <a:srgbClr val="526B7C"/>
                </a:solidFill>
                <a:latin typeface="Helvetica Neue"/>
                <a:ea typeface="Helvetica Neue"/>
                <a:cs typeface="Helvetica Neue"/>
              </a:defRPr>
            </a:lvl1pPr>
            <a:lvl2pPr>
              <a:buNone/>
              <a:defRPr sz="1725" b="0">
                <a:solidFill>
                  <a:srgbClr val="526B7C"/>
                </a:solidFill>
                <a:latin typeface="Helvetica Neue"/>
                <a:ea typeface="Helvetica Neue"/>
                <a:cs typeface="Helvetica Neue"/>
              </a:defRPr>
            </a:lvl2pPr>
            <a:lvl3pPr>
              <a:buNone/>
              <a:defRPr sz="1725" b="0">
                <a:solidFill>
                  <a:srgbClr val="526B7C"/>
                </a:solidFill>
                <a:latin typeface="Helvetica Neue"/>
                <a:ea typeface="Helvetica Neue"/>
                <a:cs typeface="Helvetica Neue"/>
              </a:defRPr>
            </a:lvl3pPr>
            <a:lvl4pPr>
              <a:buNone/>
              <a:defRPr sz="1725" b="0">
                <a:solidFill>
                  <a:srgbClr val="526B7C"/>
                </a:solidFill>
                <a:latin typeface="Helvetica Neue"/>
                <a:ea typeface="Helvetica Neue"/>
                <a:cs typeface="Helvetica Neue"/>
              </a:defRPr>
            </a:lvl4pPr>
            <a:lvl5pPr>
              <a:buNone/>
              <a:defRPr sz="1725" b="0">
                <a:solidFill>
                  <a:srgbClr val="526B7C"/>
                </a:solidFill>
                <a:latin typeface="Helvetica Neue"/>
                <a:ea typeface="Helvetica Neue"/>
                <a:cs typeface="Helvetica Neue"/>
              </a:defRPr>
            </a:lvl5pPr>
            <a:lvl6pPr>
              <a:buNone/>
              <a:defRPr sz="1725" b="0">
                <a:solidFill>
                  <a:srgbClr val="526B7C"/>
                </a:solidFill>
                <a:latin typeface="Helvetica Neue"/>
                <a:ea typeface="Helvetica Neue"/>
                <a:cs typeface="Helvetica Neue"/>
              </a:defRPr>
            </a:lvl6pPr>
            <a:lvl7pPr>
              <a:buNone/>
              <a:defRPr sz="1725" b="0">
                <a:solidFill>
                  <a:srgbClr val="526B7C"/>
                </a:solidFill>
                <a:latin typeface="Helvetica Neue"/>
                <a:ea typeface="Helvetica Neue"/>
                <a:cs typeface="Helvetica Neue"/>
              </a:defRPr>
            </a:lvl7pPr>
            <a:lvl8pPr>
              <a:buNone/>
              <a:defRPr sz="1725" b="0">
                <a:solidFill>
                  <a:srgbClr val="526B7C"/>
                </a:solidFill>
                <a:latin typeface="Helvetica Neue"/>
                <a:ea typeface="Helvetica Neue"/>
                <a:cs typeface="Helvetica Neue"/>
              </a:defRPr>
            </a:lvl8pPr>
            <a:lvl9pPr>
              <a:buNone/>
              <a:defRPr sz="1725" b="0">
                <a:solidFill>
                  <a:srgbClr val="526B7C"/>
                </a:solidFill>
                <a:latin typeface="Helvetica Neue"/>
                <a:ea typeface="Helvetica Neue"/>
                <a:cs typeface="Helvetica Neue"/>
              </a:defRPr>
            </a:lvl9pPr>
          </a:lstStyle>
          <a:p xmlns:a="http://schemas.openxmlformats.org/drawingml/2006/main">
            <a:pPr>
              <a:buNone/>
              <a:defRPr sz="1800" b="0">
                <a:solidFill>
                  <a:srgbClr val="102F43"/>
                </a:solidFill>
                <a:latin typeface="Helvetica Neue"/>
                <a:ea typeface="Helvetica Neue"/>
                <a:cs typeface="Helvetica Neue"/>
              </a:defRPr>
            </a:pPr>
            <a:r>
              <a:rPr sz="1800" b="0">
                <a:solidFill>
                  <a:srgbClr val="102F43"/>
                </a:solidFill>
                <a:latin typeface="Helvetica Neue"/>
                <a:ea typeface="Helvetica Neue"/>
                <a:cs typeface="Helvetica Neue"/>
              </a:rPr>
              <a:t>Source-valid claims and current-version approval; zero unauthorized actions; security/privacy review; measured intake benefit within an agreed cost and latency budget.</a:t>
            </a:r>
          </a:p>
        </p:txBody>
      </p:sp>
      <p:sp>
        <p:nvSpPr>
          <p:cNvPr id="14" name="">
            <a:extLst xmlns:a="http://schemas.openxmlformats.org/drawingml/2006/main">
              <a:ext uri="{FF2B5EF4-FFF2-40B4-BE49-F238E27FC236}">
                <a16:creationId xmlns:a16="http://schemas.microsoft.com/office/drawing/2014/main" id="{274B8B34-8D74-45CD-9952-E99AD8A788EF}"/>
              </a:ext>
            </a:extLst>
          </p:cNvPr>
          <p:cNvSpPr>
            <a:spLocks xmlns:a="http://schemas.openxmlformats.org/drawingml/2006/main" noGrp="1"/>
          </p:cNvSpPr>
          <p:nvPr/>
        </p:nvSpPr>
        <p:spPr>
          <a:xfrm xmlns:a="http://schemas.openxmlformats.org/drawingml/2006/main">
            <a:off x="704850" y="5991225"/>
            <a:ext cx="10801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26B7C"/>
                </a:solidFill>
                <a:latin typeface="Helvetica Neue"/>
                <a:ea typeface="Helvetica Neue"/>
                <a:cs typeface="Helvetica Neue"/>
              </a:defRPr>
            </a:defPPr>
            <a:lvl1pPr>
              <a:defRPr sz="1500" b="0">
                <a:solidFill>
                  <a:srgbClr val="526B7C"/>
                </a:solidFill>
                <a:latin typeface="Helvetica Neue"/>
                <a:ea typeface="Helvetica Neue"/>
                <a:cs typeface="Helvetica Neue"/>
              </a:defRPr>
            </a:lvl1pPr>
            <a:lvl2pPr>
              <a:defRPr sz="1500" b="0">
                <a:solidFill>
                  <a:srgbClr val="526B7C"/>
                </a:solidFill>
                <a:latin typeface="Helvetica Neue"/>
                <a:ea typeface="Helvetica Neue"/>
                <a:cs typeface="Helvetica Neue"/>
              </a:defRPr>
            </a:lvl2pPr>
            <a:lvl3pPr>
              <a:defRPr sz="1500" b="0">
                <a:solidFill>
                  <a:srgbClr val="526B7C"/>
                </a:solidFill>
                <a:latin typeface="Helvetica Neue"/>
                <a:ea typeface="Helvetica Neue"/>
                <a:cs typeface="Helvetica Neue"/>
              </a:defRPr>
            </a:lvl3pPr>
            <a:lvl4pPr>
              <a:defRPr sz="1500" b="0">
                <a:solidFill>
                  <a:srgbClr val="526B7C"/>
                </a:solidFill>
                <a:latin typeface="Helvetica Neue"/>
                <a:ea typeface="Helvetica Neue"/>
                <a:cs typeface="Helvetica Neue"/>
              </a:defRPr>
            </a:lvl4pPr>
            <a:lvl5pPr>
              <a:defRPr sz="1500" b="0">
                <a:solidFill>
                  <a:srgbClr val="526B7C"/>
                </a:solidFill>
                <a:latin typeface="Helvetica Neue"/>
                <a:ea typeface="Helvetica Neue"/>
                <a:cs typeface="Helvetica Neue"/>
              </a:defRPr>
            </a:lvl5pPr>
            <a:lvl6pPr>
              <a:defRPr sz="1500" b="0">
                <a:solidFill>
                  <a:srgbClr val="526B7C"/>
                </a:solidFill>
                <a:latin typeface="Helvetica Neue"/>
                <a:ea typeface="Helvetica Neue"/>
                <a:cs typeface="Helvetica Neue"/>
              </a:defRPr>
            </a:lvl6pPr>
            <a:lvl7pPr>
              <a:defRPr sz="1500" b="0">
                <a:solidFill>
                  <a:srgbClr val="526B7C"/>
                </a:solidFill>
                <a:latin typeface="Helvetica Neue"/>
                <a:ea typeface="Helvetica Neue"/>
                <a:cs typeface="Helvetica Neue"/>
              </a:defRPr>
            </a:lvl7pPr>
            <a:lvl8pPr>
              <a:defRPr sz="1500" b="0">
                <a:solidFill>
                  <a:srgbClr val="526B7C"/>
                </a:solidFill>
                <a:latin typeface="Helvetica Neue"/>
                <a:ea typeface="Helvetica Neue"/>
                <a:cs typeface="Helvetica Neue"/>
              </a:defRPr>
            </a:lvl8pPr>
            <a:lvl9pPr>
              <a:defRPr sz="1500" b="0">
                <a:solidFill>
                  <a:srgbClr val="526B7C"/>
                </a:solidFill>
                <a:latin typeface="Helvetica Neue"/>
                <a:ea typeface="Helvetica Neue"/>
                <a:cs typeface="Helvetica Neue"/>
              </a:defRPr>
            </a:lvl9pPr>
          </a:lstStyle>
          <a:p xmlns:a="http://schemas.openxmlformats.org/drawingml/2006/main">
            <a:pPr>
              <a:defRPr sz="1500" b="0">
                <a:solidFill>
                  <a:srgbClr val="526B7C"/>
                </a:solidFill>
                <a:latin typeface="Helvetica Neue"/>
                <a:ea typeface="Helvetica Neue"/>
                <a:cs typeface="Helvetica Neue"/>
              </a:defRPr>
            </a:pPr>
            <a:r>
              <a:rPr sz="1500" b="0">
                <a:solidFill>
                  <a:srgbClr val="526B7C"/>
                </a:solidFill>
                <a:latin typeface="Helvetica Neue"/>
                <a:ea typeface="Helvetica Neue"/>
                <a:cs typeface="Helvetica Neue"/>
              </a:rPr>
              <a:t>Pilot proposal, not measured savings. Paytm APIs, telephony and shared production storage are not connected.</a:t>
            </a:r>
          </a:p>
        </p:txBody>
      </p:sp>
      <p:sp>
        <p:nvSpPr>
          <p:cNvPr id="15" name="">
            <a:extLst xmlns:a="http://schemas.openxmlformats.org/drawingml/2006/main">
              <a:ext uri="{FF2B5EF4-FFF2-40B4-BE49-F238E27FC236}">
                <a16:creationId xmlns:a16="http://schemas.microsoft.com/office/drawing/2014/main" id="{DE4CFBE0-ACF5-4C7D-B317-EC0FE793BD1D}"/>
              </a:ext>
            </a:extLst>
          </p:cNvPr>
          <p:cNvSpPr>
            <a:spLocks xmlns:a="http://schemas.openxmlformats.org/drawingml/2006/main" noGrp="1"/>
          </p:cNvSpPr>
          <p:nvPr/>
        </p:nvSpPr>
        <p:spPr>
          <a:xfrm xmlns:a="http://schemas.openxmlformats.org/drawingml/2006/main">
            <a:off x="10839450" y="6467475"/>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defRPr sz="1200" b="0">
                <a:solidFill>
                  <a:srgbClr val="526B7C"/>
                </a:solidFill>
                <a:latin typeface="Helvetica Neue"/>
                <a:ea typeface="Helvetica Neue"/>
                <a:cs typeface="Helvetica Neue"/>
              </a:defRPr>
            </a:lvl1pPr>
            <a:lvl2pPr>
              <a:defRPr sz="1200" b="0">
                <a:solidFill>
                  <a:srgbClr val="526B7C"/>
                </a:solidFill>
                <a:latin typeface="Helvetica Neue"/>
                <a:ea typeface="Helvetica Neue"/>
                <a:cs typeface="Helvetica Neue"/>
              </a:defRPr>
            </a:lvl2pPr>
            <a:lvl3pPr>
              <a:defRPr sz="1200" b="0">
                <a:solidFill>
                  <a:srgbClr val="526B7C"/>
                </a:solidFill>
                <a:latin typeface="Helvetica Neue"/>
                <a:ea typeface="Helvetica Neue"/>
                <a:cs typeface="Helvetica Neue"/>
              </a:defRPr>
            </a:lvl3pPr>
            <a:lvl4pPr>
              <a:defRPr sz="1200" b="0">
                <a:solidFill>
                  <a:srgbClr val="526B7C"/>
                </a:solidFill>
                <a:latin typeface="Helvetica Neue"/>
                <a:ea typeface="Helvetica Neue"/>
                <a:cs typeface="Helvetica Neue"/>
              </a:defRPr>
            </a:lvl4pPr>
            <a:lvl5pPr>
              <a:defRPr sz="1200" b="0">
                <a:solidFill>
                  <a:srgbClr val="526B7C"/>
                </a:solidFill>
                <a:latin typeface="Helvetica Neue"/>
                <a:ea typeface="Helvetica Neue"/>
                <a:cs typeface="Helvetica Neue"/>
              </a:defRPr>
            </a:lvl5pPr>
            <a:lvl6pPr>
              <a:defRPr sz="1200" b="0">
                <a:solidFill>
                  <a:srgbClr val="526B7C"/>
                </a:solidFill>
                <a:latin typeface="Helvetica Neue"/>
                <a:ea typeface="Helvetica Neue"/>
                <a:cs typeface="Helvetica Neue"/>
              </a:defRPr>
            </a:lvl6pPr>
            <a:lvl7pPr>
              <a:defRPr sz="1200" b="0">
                <a:solidFill>
                  <a:srgbClr val="526B7C"/>
                </a:solidFill>
                <a:latin typeface="Helvetica Neue"/>
                <a:ea typeface="Helvetica Neue"/>
                <a:cs typeface="Helvetica Neue"/>
              </a:defRPr>
            </a:lvl7pPr>
            <a:lvl8pPr>
              <a:defRPr sz="1200" b="0">
                <a:solidFill>
                  <a:srgbClr val="526B7C"/>
                </a:solidFill>
                <a:latin typeface="Helvetica Neue"/>
                <a:ea typeface="Helvetica Neue"/>
                <a:cs typeface="Helvetica Neue"/>
              </a:defRPr>
            </a:lvl8pPr>
            <a:lvl9pPr>
              <a:defRPr sz="1200" b="0">
                <a:solidFill>
                  <a:srgbClr val="526B7C"/>
                </a:solidFill>
                <a:latin typeface="Helvetica Neue"/>
                <a:ea typeface="Helvetica Neue"/>
                <a:cs typeface="Helvetica Neue"/>
              </a:defRPr>
            </a:lvl9pPr>
          </a:lstStyle>
          <a:p xmlns:a="http://schemas.openxmlformats.org/drawingml/2006/main">
            <a:pPr>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5 / 5</a:t>
            </a:r>
          </a:p>
        </p:txBody>
      </p:sp>
      <p:sp>
        <p:nvSpPr>
          <p:cNvPr id="16" name="">
            <a:extLst xmlns:a="http://schemas.openxmlformats.org/drawingml/2006/main">
              <a:ext uri="{FF2B5EF4-FFF2-40B4-BE49-F238E27FC236}">
                <a16:creationId xmlns:a16="http://schemas.microsoft.com/office/drawing/2014/main" id="{ED3064F4-EA15-4EB4-B0F3-2E337BAB5B6E}"/>
              </a:ext>
            </a:extLst>
          </p:cNvPr>
          <p:cNvSpPr>
            <a:spLocks xmlns:a="http://schemas.openxmlformats.org/drawingml/2006/main" noGrp="1"/>
          </p:cNvSpPr>
          <p:nvPr/>
        </p:nvSpPr>
        <p:spPr>
          <a:xfrm xmlns:a="http://schemas.openxmlformats.org/drawingml/2006/main">
            <a:off x="704850" y="636270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u="sng">
                <a:solidFill>
                  <a:srgbClr val="00A9D6"/>
                </a:solidFill>
                <a:latin typeface="Helvetica Neue"/>
                <a:ea typeface="Helvetica Neue"/>
                <a:cs typeface="Helvetica Neue"/>
                <a:hlinkClick xmlns:r="http://schemas.openxmlformats.org/officeDocument/2006/relationships" r:id="R73b4aabcee164d20"/>
              </a:rPr>
              <a:t>Live app</a:t>
            </a:r>
          </a:p>
        </p:txBody>
      </p:sp>
      <p:sp>
        <p:nvSpPr>
          <p:cNvPr id="17" name="">
            <a:extLst xmlns:a="http://schemas.openxmlformats.org/drawingml/2006/main">
              <a:ext uri="{FF2B5EF4-FFF2-40B4-BE49-F238E27FC236}">
                <a16:creationId xmlns:a16="http://schemas.microsoft.com/office/drawing/2014/main" id="{D51040CD-D14A-4AE2-A614-34EC368B6C33}"/>
              </a:ext>
            </a:extLst>
          </p:cNvPr>
          <p:cNvSpPr>
            <a:spLocks xmlns:a="http://schemas.openxmlformats.org/drawingml/2006/main" noGrp="1"/>
          </p:cNvSpPr>
          <p:nvPr/>
        </p:nvSpPr>
        <p:spPr>
          <a:xfrm xmlns:a="http://schemas.openxmlformats.org/drawingml/2006/main">
            <a:off x="2505075" y="636270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u="sng">
                <a:solidFill>
                  <a:srgbClr val="00A9D6"/>
                </a:solidFill>
                <a:latin typeface="Helvetica Neue"/>
                <a:ea typeface="Helvetica Neue"/>
                <a:cs typeface="Helvetica Neue"/>
                <a:hlinkClick xmlns:r="http://schemas.openxmlformats.org/officeDocument/2006/relationships" r:id="R221b12dbe32d45f5"/>
              </a:rPr>
              <a:t>GitHub + architecture</a:t>
            </a:r>
          </a:p>
        </p:txBody>
      </p:sp>
      <p:sp>
        <p:nvSpPr>
          <p:cNvPr id="18" name="">
            <a:extLst xmlns:a="http://schemas.openxmlformats.org/drawingml/2006/main">
              <a:ext uri="{FF2B5EF4-FFF2-40B4-BE49-F238E27FC236}">
                <a16:creationId xmlns:a16="http://schemas.microsoft.com/office/drawing/2014/main" id="{78C478CA-F72B-4BE5-BF86-EA3422AA2ACD}"/>
              </a:ext>
            </a:extLst>
          </p:cNvPr>
          <p:cNvSpPr>
            <a:spLocks xmlns:a="http://schemas.openxmlformats.org/drawingml/2006/main" noGrp="1"/>
          </p:cNvSpPr>
          <p:nvPr/>
        </p:nvSpPr>
        <p:spPr>
          <a:xfrm xmlns:a="http://schemas.openxmlformats.org/drawingml/2006/main">
            <a:off x="5905500" y="636270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u="sng">
                <a:solidFill>
                  <a:srgbClr val="00A9D6"/>
                </a:solidFill>
                <a:latin typeface="Helvetica Neue"/>
                <a:ea typeface="Helvetica Neue"/>
                <a:cs typeface="Helvetica Neue"/>
                <a:hlinkClick xmlns:r="http://schemas.openxmlformats.org/officeDocument/2006/relationships" r:id="Rc6e8a516bcad40bd"/>
              </a:rPr>
              <a:t>Backup video</a:t>
            </a:r>
          </a:p>
        </p:txBody>
      </p:sp>
    </p:spTree>
    <p:extLst>
      <p:ext uri="{BB962C8B-B14F-4D97-AF65-F5344CB8AC3E}">
        <p14:creationId xmlns:p14="http://schemas.microsoft.com/office/powerpoint/2010/main" val="20889832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2026-10-18T13:32:03.8440000Z</dcterms:created>
  <dcterms:modified xsi:type="dcterms:W3CDTF">2026-10-18T13:32:03.8440000Z</dcterms:modified>
</coreProperties>
</file>