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0551fa66984b95" /><Relationship Type="http://schemas.openxmlformats.org/officeDocument/2006/relationships/extended-properties" Target="/docProps/app.xml" Id="R5f6ba6a618424049" /><Relationship Type="http://schemas.openxmlformats.org/officeDocument/2006/relationships/officeDocument" Target="/ppt/presentation.xml" Id="Rc5ecf7be96fb4d39" /></Relationships>
</file>

<file path=ppt/presentation.xml><?xml version="1.0" encoding="utf-8"?>
<p:presentation xmlns:p="http://schemas.openxmlformats.org/presentationml/2006/main">
  <p:sldMasterIdLst>
    <p:sldMasterId xmlns:r="http://schemas.openxmlformats.org/officeDocument/2006/relationships" id="2147483648" r:id="R4e7b3b4e3bf84ddb"/>
  </p:sldMasterIdLst>
  <p:notesMasterIdLst>
    <p:notesMasterId xmlns:r="http://schemas.openxmlformats.org/officeDocument/2006/relationships" r:id="R8578b7d98b00474e"/>
  </p:notesMasterIdLst>
  <p:sldIdLst>
    <p:sldId xmlns:r="http://schemas.openxmlformats.org/officeDocument/2006/relationships" id="256" r:id="Rca3150d4c13f44a3"/>
    <p:sldId xmlns:r="http://schemas.openxmlformats.org/officeDocument/2006/relationships" id="257" r:id="Rfb2be6be81714580"/>
    <p:sldId xmlns:r="http://schemas.openxmlformats.org/officeDocument/2006/relationships" id="258" r:id="Rf7524abc31424f42"/>
    <p:sldId xmlns:r="http://schemas.openxmlformats.org/officeDocument/2006/relationships" id="259" r:id="Rb57926921508482b"/>
    <p:sldId xmlns:r="http://schemas.openxmlformats.org/officeDocument/2006/relationships" id="260" r:id="R6e6319c9005a42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ed5f0c779341d6" /><Relationship Type="http://schemas.openxmlformats.org/officeDocument/2006/relationships/slideMaster" Target="/ppt/slideMasters/slideMaster1.xml" Id="R4e7b3b4e3bf84ddb" /><Relationship Type="http://schemas.openxmlformats.org/officeDocument/2006/relationships/notesMaster" Target="/ppt/notesMasters/notesMaster1.xml" Id="R8578b7d98b00474e" /><Relationship Type="http://schemas.openxmlformats.org/officeDocument/2006/relationships/presProps" Target="/ppt/presProps.xml" Id="R5d0dfbc17c644262" /><Relationship Type="http://schemas.openxmlformats.org/officeDocument/2006/relationships/tableStyles" Target="/ppt/tableStyles.xml" Id="R700b5c66ff124e21" /><Relationship Type="http://schemas.openxmlformats.org/officeDocument/2006/relationships/slide" Target="/ppt/slides/slide1.xml" Id="Rca3150d4c13f44a3" /><Relationship Type="http://schemas.openxmlformats.org/officeDocument/2006/relationships/slide" Target="/ppt/slides/slide2.xml" Id="Rfb2be6be81714580" /><Relationship Type="http://schemas.openxmlformats.org/officeDocument/2006/relationships/slide" Target="/ppt/slides/slide3.xml" Id="Rf7524abc31424f42" /><Relationship Type="http://schemas.openxmlformats.org/officeDocument/2006/relationships/slide" Target="/ppt/slides/slide4.xml" Id="Rb57926921508482b" /><Relationship Type="http://schemas.openxmlformats.org/officeDocument/2006/relationships/slide" Target="/ppt/slides/slide5.xml" Id="R6e6319c9005a42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f1817be8f04a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8b8b724d8c4400" /><Relationship Type="http://schemas.openxmlformats.org/officeDocument/2006/relationships/notesMaster" Target="/ppt/notesMasters/notesMaster1.xml" Id="R763d76d669ec45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7610a611314c38" /><Relationship Type="http://schemas.openxmlformats.org/officeDocument/2006/relationships/notesMaster" Target="/ppt/notesMasters/notesMaster1.xml" Id="R02af3cce2d4848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70c5324bda42ad" /><Relationship Type="http://schemas.openxmlformats.org/officeDocument/2006/relationships/notesMaster" Target="/ppt/notesMasters/notesMaster1.xml" Id="R3ef15c60f47f44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b01b3ee0c64a06" /><Relationship Type="http://schemas.openxmlformats.org/officeDocument/2006/relationships/notesMaster" Target="/ppt/notesMasters/notesMaster1.xml" Id="Re2110554b52840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165cdcfbf54405" /><Relationship Type="http://schemas.openxmlformats.org/officeDocument/2006/relationships/notesMaster" Target="/ppt/notesMasters/notesMaster1.xml" Id="R4b66cce6bb384b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STORY — 35–45 seconds</a:t>
            </a:r>
          </a:p>
          <a:p xmlns:a="http://schemas.openxmlformats.org/drawingml/2006/main">
            <a:r>
              <a:t>Imagine a merchant saying, “I thought I lost 2,400 rupees.” We first built an interviewer to clarify that account. The most consequential feedback was that Paytm already has five layers before human support. That changes the design question: how can context survive those touchpoints? We now capture previous attempts, keep their source attached and prepare the next reviewer’s handoff. The exact five internal layer names are not confirmed; the prototype labels its stages illustrative.</a:t>
            </a:r>
          </a:p>
          <a:p xmlns:a="http://schemas.openxmlformats.org/drawingml/2006/main">
            <a:r>
              <a:t/>
            </a:r>
          </a:p>
          <a:p xmlns:a="http://schemas.openxmlformats.org/drawingml/2006/main">
            <a:r>
              <a:t>TECHNICAL FEEDBACK REGISTER — slide 1</a:t>
            </a:r>
          </a:p>
          <a:p xmlns:a="http://schemas.openxmlformats.org/drawingml/2006/main">
            <a:r>
              <a:t>The five-layer statement is user-reported Paytm leader feedback. Other entries are user requirements/questions, observed failures or engineering responses, not judge quotations.</a:t>
            </a:r>
          </a:p>
          <a:p xmlns:a="http://schemas.openxmlformats.org/drawingml/2006/main">
            <a:r>
              <a:t/>
            </a:r>
          </a:p>
          <a:p xmlns:a="http://schemas.openxmlformats.org/drawingml/2006/main">
            <a:r>
              <a:t>F01 — Conduct a useful interview, beyond reading a form</a:t>
            </a:r>
          </a:p>
          <a:p xmlns:a="http://schemas.openxmlformats.org/drawingml/2006/main">
            <a:r>
              <a:t>Source: User / event brief</a:t>
            </a:r>
          </a:p>
          <a:p xmlns:a="http://schemas.openxmlformats.org/drawingml/2006/main">
            <a:r>
              <a:t>Incorporated: Adaptive follow-ups prioritize missing information, payment ambiguity and contradictions</a:t>
            </a:r>
          </a:p>
          <a:p xmlns:a="http://schemas.openxmlformats.org/drawingml/2006/main">
            <a:r>
              <a:t>Status / limitation: Implemented; interview quality needs real merchant evaluation</a:t>
            </a:r>
          </a:p>
          <a:p xmlns:a="http://schemas.openxmlformats.org/drawingml/2006/main">
            <a:r>
              <a:t/>
            </a:r>
          </a:p>
          <a:p xmlns:a="http://schemas.openxmlformats.org/drawingml/2006/main">
            <a:r>
              <a:t>F02 — Include verifiability in the problem statement</a:t>
            </a:r>
          </a:p>
          <a:p xmlns:a="http://schemas.openxmlformats.org/drawingml/2006/main">
            <a:r>
              <a:t>Source: User</a:t>
            </a:r>
          </a:p>
          <a:p xmlns:a="http://schemas.openxmlformats.org/drawingml/2006/main">
            <a:r>
              <a:t>Incorporated: Observations cite exact received quotes and existing source turn IDs; source links stay visible</a:t>
            </a:r>
          </a:p>
          <a:p xmlns:a="http://schemas.openxmlformats.org/drawingml/2006/main">
            <a:r>
              <a:t>Status / limitation: Provenance is checkable; no independent payment verification</a:t>
            </a:r>
          </a:p>
          <a:p xmlns:a="http://schemas.openxmlformats.org/drawingml/2006/main">
            <a:r>
              <a:t/>
            </a:r>
          </a:p>
          <a:p xmlns:a="http://schemas.openxmlformats.org/drawingml/2006/main">
            <a:r>
              <a:t>F29 — Remove external reference branding</a:t>
            </a:r>
          </a:p>
          <a:p xmlns:a="http://schemas.openxmlformats.org/drawingml/2006/main">
            <a:r>
              <a:t>Source: User</a:t>
            </a:r>
          </a:p>
          <a:p xmlns:a="http://schemas.openxmlformats.org/drawingml/2006/main">
            <a:r>
              <a:t>Incorporated: Removed comparison-project references from current app, README/build standards and reference review</a:t>
            </a:r>
          </a:p>
          <a:p xmlns:a="http://schemas.openxmlformats.org/drawingml/2006/main">
            <a:r>
              <a:t>Status / limitation: Current presentation checked; no Git history rewrite was requested</a:t>
            </a:r>
          </a:p>
          <a:p xmlns:a="http://schemas.openxmlformats.org/drawingml/2006/main">
            <a:r>
              <a:t/>
            </a:r>
          </a:p>
          <a:p xmlns:a="http://schemas.openxmlformats.org/drawingml/2006/main">
            <a:r>
              <a:t>F30 — Five layers already exist before reaching human support</a:t>
            </a:r>
          </a:p>
          <a:p xmlns:a="http://schemas.openxmlformats.org/drawingml/2006/main">
            <a:r>
              <a:t>Source: User-reported Paytm leader feedback</a:t>
            </a:r>
          </a:p>
          <a:p xmlns:a="http://schemas.openxmlformats.org/drawingml/2006/main">
            <a:r>
              <a:t>Incorporated: Built Support journey to preserve prior checks, channels, outcomes and unresolved questions across touchpoints</a:t>
            </a:r>
          </a:p>
          <a:p xmlns:a="http://schemas.openxmlformats.org/drawingml/2006/main">
            <a:r>
              <a:t>Status / limitation: Exact internal layer names and APIs were not provided or publicly verified; labels are explicitly illustrative</a:t>
            </a:r>
          </a:p>
          <a:p xmlns:a="http://schemas.openxmlformats.org/drawingml/2006/main">
            <a:r>
              <a:t/>
            </a:r>
          </a:p>
          <a:p xmlns:a="http://schemas.openxmlformats.org/drawingml/2006/main">
            <a:r>
              <a:t>F35 — Establish what already exists before proposing value</a:t>
            </a:r>
          </a:p>
          <a:p xmlns:a="http://schemas.openxmlformats.org/drawingml/2006/main">
            <a:r>
              <a:t>Source: Public research</a:t>
            </a:r>
          </a:p>
          <a:p xmlns:a="http://schemas.openxmlformats.org/drawingml/2006/main">
            <a:r>
              <a:t>Incorporated: Reviewed Paytm AI Soundbox and merchant help guidance; positioned the extension around context continuity and exception handoff</a:t>
            </a:r>
          </a:p>
          <a:p xmlns:a="http://schemas.openxmlformats.org/drawingml/2006/main">
            <a:r>
              <a:t>Status / limitation: Published consumer grievance tiers must not be presented as the leader's five merchant-support layers</a:t>
            </a:r>
          </a:p>
          <a:p xmlns:a="http://schemas.openxmlformats.org/drawingml/2006/main">
            <a:r>
              <a:t/>
            </a:r>
          </a:p>
          <a:p xmlns:a="http://schemas.openxmlformats.org/drawingml/2006/main">
            <a:r>
              <a:t>DETAILED IMPLEMENTATION REFERENCE</a:t>
            </a:r>
          </a:p>
          <a:p xmlns:a="http://schemas.openxmlformats.org/drawingml/2006/main">
            <a:r>
              <a:t>PRESENTATION — 35 SECONDS</a:t>
            </a:r>
          </a:p>
          <a:p xmlns:a="http://schemas.openxmlformats.org/drawingml/2006/main">
            <a:r>
              <a:t>Imagine the morning rush at a grocery shop. A customer pays, but the Soundbox stays silent. The merchant says, “I thought I lost 2,400 rupees.” That statement combines a real symptom with an uncertain explanation. If we turn it straight into a ticket saying money was lost, we can send the next team down the wrong path. MerchantLens asks what happened and preserves enough evidence for someone else to check the interpretation. The business problem is the cost of clarifying an ambiguous first account. Verifiability is part of that problem: a polished brief is insufficient if nobody can trace its claims.</a:t>
            </a:r>
          </a:p>
          <a:p xmlns:a="http://schemas.openxmlformats.org/drawingml/2006/main">
            <a:r>
              <a:t/>
            </a:r>
          </a:p>
          <a:p xmlns:a="http://schemas.openxmlformats.org/drawingml/2006/main">
            <a:r>
              <a:t>DETAILS FOR QUESTIONS</a:t>
            </a:r>
          </a:p>
          <a:p xmlns:a="http://schemas.openxmlformats.org/drawingml/2006/main">
            <a:r>
              <a:t>Challenge 2, Problem Intake Agent. MerchantLens interviews a problem giver, follows missing information, separates reports and estimates from unknowns, and creates internal and anonymized problem briefs. The merchant controls correction, redaction and approval. “Verifiable” means the interpretation is traceable to an exact received transcript quote and turn ID. It does not mean the merchant report is financially true, that the audio was transcribed perfectly, or that Paytm’s ledger has been checked. The ₹2,400 opening is an illustrative scenario; the recorded participant session is partial. Business benefit is a hypothesis pending a pilot. Sole team member: Gowtham Ramachandra.</a:t>
            </a:r>
          </a:p>
          <a:p xmlns:a="http://schemas.openxmlformats.org/drawingml/2006/main">
            <a:r>
              <a:t/>
            </a:r>
          </a:p>
          <a:p xmlns:a="http://schemas.openxmlformats.org/drawingml/2006/main">
            <a:r>
              <a:t>IMPLEMENTATION SOURCES</a:t>
            </a:r>
          </a:p>
          <a:p xmlns:a="http://schemas.openxmlformats.org/drawingml/2006/main">
            <a:r>
              <a:t>Public repository: https://github.com/gowtham66867/merchantlens-paytm (voice revision 7a794d2). Local implementation inspected on 18 October 2026. App: https://merchantlens-paytm-412542191970.asia-south1.run.app/ . No affiliation, production deployment within Paytm, or independently verified payment status is implied.</a:t>
            </a:r>
          </a:p>
          <a:p xmlns:a="http://schemas.openxmlformats.org/drawingml/2006/main">
            <a:r>
              <a:t/>
            </a:r>
          </a:p>
          <a:p xmlns:a="http://schemas.openxmlformats.org/drawingml/2006/main">
            <a:r>
              <a:t>CURRENT SUPPORT EXTENSION</a:t>
            </a:r>
          </a:p>
          <a:p xmlns:a="http://schemas.openxmlformats.org/drawingml/2006/main">
            <a:r>
              <a:t>Support history is manually entered, bounded to 20 notes, source-linked and carried into the current interview graph. Edits and human requests reset approvals. Two unresolved entries recommend a human review; no stage completion is required to request it. Public checkpoints are blocked. No Paytm records or ticket API is connected. Internal exports include history; anonymized exports omit free-text details. See https://github.com/gowtham66867/merchantlens-paytm/blob/main/docs/TECHNICAL-FEEDBACK.md and docs/SUPPORT-JOURNEY.md.</a:t>
            </a:r>
          </a:p>
          <a:p xmlns:a="http://schemas.openxmlformats.org/drawingml/2006/main">
            <a:r>
              <a:t/>
            </a:r>
          </a:p>
          <a:p xmlns:a="http://schemas.openxmlformats.org/drawingml/2006/main">
            <a:r>
              <a:t>PRIMARY CONTEXT</a:t>
            </a:r>
          </a:p>
          <a:p xmlns:a="http://schemas.openxmlformats.org/drawingml/2006/main">
            <a:r>
              <a:t>Paytm AI Soundbox: https://paytm.com/document/ir/press-release/AI-SB.pdf ; merchant channels: https://business.paytmpayments.com/contact-us . Published consumer grievance levels are not evidence of the five internal merchant-support layers. Repository implementation through c91a439, 18 October 2026.</a:t>
            </a:r>
          </a:p>
          <a:p xmlns:a="http://schemas.openxmlformats.org/drawingml/2006/main">
            <a:r>
              <a:t/>
            </a:r>
          </a:p>
          <a:p xmlns:a="http://schemas.openxmlformats.org/drawingml/2006/main">
            <a:r>
              <a:t>OPEN ITEMS</a:t>
            </a:r>
          </a:p>
          <a:p xmlns:a="http://schemas.openxmlformats.org/drawingml/2006/main">
            <a:r>
              <a:t>Confirm the actual support layers and authorized APIs. Persist the spoken-response preference after refresh. Benchmark real multilingual/noisy audio and live Gemini interview quality. Complete production identity, privacy/security, retention, distributed abuse/cost controls and a baseline pilot. Existing backup video is a historical typed-synthetic walkthrough.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STORY — 35–45 seconds</a:t>
            </a:r>
          </a:p>
          <a:p xmlns:a="http://schemas.openxmlformats.org/drawingml/2006/main">
            <a:r>
              <a:t>The evidence must survive every handoff. We keep app status, bank settlement and Soundbox audio separate. A source quote establishes what the merchant reported, not that a payment was independently verified. Prior support attempts become received, source-linked history; corrections and unknowns remain visible. The merchant reviews the internal handoff or anonymized brief, and changes reset approval.</a:t>
            </a:r>
          </a:p>
          <a:p xmlns:a="http://schemas.openxmlformats.org/drawingml/2006/main">
            <a:r>
              <a:t/>
            </a:r>
          </a:p>
          <a:p xmlns:a="http://schemas.openxmlformats.org/drawingml/2006/main">
            <a:r>
              <a:t>TECHNICAL FEEDBACK REGISTER — slide 2</a:t>
            </a:r>
          </a:p>
          <a:p xmlns:a="http://schemas.openxmlformats.org/drawingml/2006/main">
            <a:r>
              <a:t>The five-layer statement is user-reported Paytm leader feedback. Other entries are user requirements/questions, observed failures or engineering responses, not judge quotations.</a:t>
            </a:r>
          </a:p>
          <a:p xmlns:a="http://schemas.openxmlformats.org/drawingml/2006/main">
            <a:r>
              <a:t/>
            </a:r>
          </a:p>
          <a:p xmlns:a="http://schemas.openxmlformats.org/drawingml/2006/main">
            <a:r>
              <a:t>F03 — Separate payment failure from missing Soundbox audio</a:t>
            </a:r>
          </a:p>
          <a:p xmlns:a="http://schemas.openxmlformats.org/drawingml/2006/main">
            <a:r>
              <a:t>Source: User / implementation review</a:t>
            </a:r>
          </a:p>
          <a:p xmlns:a="http://schemas.openxmlformats.org/drawingml/2006/main">
            <a:r>
              <a:t>Incorporated: App entry, bank settlement and announcement are separate questions; amount meaning is clarified</a:t>
            </a:r>
          </a:p>
          <a:p xmlns:a="http://schemas.openxmlformats.org/drawingml/2006/main">
            <a:r>
              <a:t>Status / limitation: ₹2,400 can be affected payment value; actual loss remains unverified</a:t>
            </a:r>
          </a:p>
          <a:p xmlns:a="http://schemas.openxmlformats.org/drawingml/2006/main">
            <a:r>
              <a:t/>
            </a:r>
          </a:p>
          <a:p xmlns:a="http://schemas.openxmlformats.org/drawingml/2006/main">
            <a:r>
              <a:t>F04 — Separate reports, estimates, assumptions and missing evidence</a:t>
            </a:r>
          </a:p>
          <a:p xmlns:a="http://schemas.openxmlformats.org/drawingml/2006/main">
            <a:r>
              <a:t>Source: User / event brief</a:t>
            </a:r>
          </a:p>
          <a:p xmlns:a="http://schemas.openxmlformats.org/drawingml/2006/main">
            <a:r>
              <a:t>Incorporated: Reported/estimated labels, explicit unknowns, critic checks and correction history</a:t>
            </a:r>
          </a:p>
          <a:p xmlns:a="http://schemas.openxmlformats.org/drawingml/2006/main">
            <a:r>
              <a:t>Status / limitation: These labels do not establish financial truth or calibrated confidence</a:t>
            </a:r>
          </a:p>
          <a:p xmlns:a="http://schemas.openxmlformats.org/drawingml/2006/main">
            <a:r>
              <a:t/>
            </a:r>
          </a:p>
          <a:p xmlns:a="http://schemas.openxmlformats.org/drawingml/2006/main">
            <a:r>
              <a:t>F05 — Explain the context provided to the model</a:t>
            </a:r>
          </a:p>
          <a:p xmlns:a="http://schemas.openxmlformats.org/drawingml/2006/main">
            <a:r>
              <a:t>Source: User</a:t>
            </a:r>
          </a:p>
          <a:p xmlns:a="http://schemas.openxmlformats.org/drawingml/2006/main">
            <a:r>
              <a:t>Incorporated: Received turns/IDs, prior observations/quotes, language, required topics, gaps, corrections, curated context and role rules</a:t>
            </a:r>
          </a:p>
          <a:p xmlns:a="http://schemas.openxmlformats.org/drawingml/2006/main">
            <a:r>
              <a:t>Status / limitation: No Paytm ledger, bank account, device telemetry or private historical corpus is connected</a:t>
            </a:r>
          </a:p>
          <a:p xmlns:a="http://schemas.openxmlformats.org/drawingml/2006/main">
            <a:r>
              <a:t/>
            </a:r>
          </a:p>
          <a:p xmlns:a="http://schemas.openxmlformats.org/drawingml/2006/main">
            <a:r>
              <a:t>F06 — Preserve merchant correction, redaction and control</a:t>
            </a:r>
          </a:p>
          <a:p xmlns:a="http://schemas.openxmlformats.org/drawingml/2006/main">
            <a:r>
              <a:t>Source: User</a:t>
            </a:r>
          </a:p>
          <a:p xmlns:a="http://schemas.openxmlformats.org/drawingml/2006/main">
            <a:r>
              <a:t>Incorporated: Edits create a new version and invalidate both audience approvals; each export needs the matching approval</a:t>
            </a:r>
          </a:p>
          <a:p xmlns:a="http://schemas.openxmlformats.org/drawingml/2006/main">
            <a:r>
              <a:t>Status / limitation: Browser state is owner-editable; no cryptographic approval signature</a:t>
            </a:r>
          </a:p>
          <a:p xmlns:a="http://schemas.openxmlformats.org/drawingml/2006/main">
            <a:r>
              <a:t/>
            </a:r>
          </a:p>
          <a:p xmlns:a="http://schemas.openxmlformats.org/drawingml/2006/main">
            <a:r>
              <a:t>F26 — Protect private data and exports</a:t>
            </a:r>
          </a:p>
          <a:p xmlns:a="http://schemas.openxmlformats.org/drawingml/2006/main">
            <a:r>
              <a:t>Source: User / engineering</a:t>
            </a:r>
          </a:p>
          <a:p xmlns:a="http://schemas.openxmlformats.org/drawingml/2006/main">
            <a:r>
              <a:t>Incorporated: Consent, common-secret masking, selective redaction, separate internal/anonymized approval, browser-local public sessions and no persisted raw app audio</a:t>
            </a:r>
          </a:p>
          <a:p xmlns:a="http://schemas.openxmlformats.org/drawingml/2006/main">
            <a:r>
              <a:t>Status / limitation: Not complete PII detection, encrypted enterprise storage or privacy certification; provider policies still apply</a:t>
            </a:r>
          </a:p>
          <a:p xmlns:a="http://schemas.openxmlformats.org/drawingml/2006/main">
            <a:r>
              <a:t/>
            </a:r>
          </a:p>
          <a:p xmlns:a="http://schemas.openxmlformats.org/drawingml/2006/main">
            <a:r>
              <a:t>F31 — Avoid making the merchant retell the story or repeat a failed loop</a:t>
            </a:r>
          </a:p>
          <a:p xmlns:a="http://schemas.openxmlformats.org/drawingml/2006/main">
            <a:r>
              <a:t>Source: Engineering response to F30</a:t>
            </a:r>
          </a:p>
          <a:p xmlns:a="http://schemas.openxmlformats.org/drawingml/2006/main">
            <a:r>
              <a:t>Incorporated: Prior attempt creates a source-linked merchant turn and `attempts` observation; chronology carries into internal handoff; two unresolved entries recommend human review</a:t>
            </a:r>
          </a:p>
          <a:p xmlns:a="http://schemas.openxmlformats.org/drawingml/2006/main">
            <a:r>
              <a:t>Status / limitation: Entered manually; two notes do not prove two distinct executed actions; no autonomous diagnosis</a:t>
            </a:r>
          </a:p>
          <a:p xmlns:a="http://schemas.openxmlformats.org/drawingml/2006/main">
            <a:r>
              <a:t/>
            </a:r>
          </a:p>
          <a:p xmlns:a="http://schemas.openxmlformats.org/drawingml/2006/main">
            <a:r>
              <a:t>DETAILED IMPLEMENTATION REFERENCE</a:t>
            </a:r>
          </a:p>
          <a:p xmlns:a="http://schemas.openxmlformats.org/drawingml/2006/main">
            <a:r>
              <a:t>PRESENTATION — 35 SECONDS</a:t>
            </a:r>
          </a:p>
          <a:p xmlns:a="http://schemas.openxmlformats.org/drawingml/2006/main">
            <a:r>
              <a:t>The useful question is whether the app entry, bank settlement or audio announcement is missing. Those are different signals. When the merchant clarifies that 2,400 rupees is affected payment value, the brief should stop calling it a confirmed loss. Each observation points back to the merchant’s words. The record also preserves what we still do not know. That gives the next investigator a clear starting point and lets the merchant correct the story before sharing it.</a:t>
            </a:r>
          </a:p>
          <a:p xmlns:a="http://schemas.openxmlformats.org/drawingml/2006/main">
            <a:r>
              <a:t/>
            </a:r>
          </a:p>
          <a:p xmlns:a="http://schemas.openxmlformats.org/drawingml/2006/main">
            <a:r>
              <a:t>DETAILS FOR QUESTIONS</a:t>
            </a:r>
          </a:p>
          <a:p xmlns:a="http://schemas.openxmlformats.org/drawingml/2006/main">
            <a:r>
              <a:t>Context supplied to the interview harness: received turns and IDs, existing observations and their quotes, chosen language, required intake topics, known gaps, explicit corrections, curated domain context and safety rules. Read-only context is separate from merchant evidence. Coverage counts topics captured; it is not factual verification. No Paytm account data is retrieved. Each observation stores its topic, value, source quote, source turn, and reported/estimated status. Exact quote checks reject fabricated citations, but a faithful quote can still be an incorrect or incomplete account. Corrections supersede earlier claims and invalidate prior approvals. Selective redaction removes details from relevant stored transcript/facts/audit content. Public exports omit identifying details and exact amounts according to the implemented anonymization rules; this is not a production privacy certification. Internal and public audience approvals bind to the current version, and edits require approval again. Exports are blocked before the appropriate approval.</a:t>
            </a:r>
          </a:p>
          <a:p xmlns:a="http://schemas.openxmlformats.org/drawingml/2006/main">
            <a:r>
              <a:t/>
            </a:r>
          </a:p>
          <a:p xmlns:a="http://schemas.openxmlformats.org/drawingml/2006/main">
            <a:r>
              <a:t>IMPLEMENTATION SOURCES</a:t>
            </a:r>
          </a:p>
          <a:p xmlns:a="http://schemas.openxmlformats.org/drawingml/2006/main">
            <a:r>
              <a:t>Public repository: https://github.com/gowtham66867/merchantlens-paytm (voice revision 7a794d2). Local implementation inspected on 18 October 2026. App: https://merchantlens-paytm-412542191970.asia-south1.run.app/ . No affiliation, production deployment within Paytm, or independently verified payment status is implied.</a:t>
            </a:r>
          </a:p>
          <a:p xmlns:a="http://schemas.openxmlformats.org/drawingml/2006/main">
            <a:r>
              <a:t/>
            </a:r>
          </a:p>
          <a:p xmlns:a="http://schemas.openxmlformats.org/drawingml/2006/main">
            <a:r>
              <a:t>CURRENT SUPPORT EXTENSION</a:t>
            </a:r>
          </a:p>
          <a:p xmlns:a="http://schemas.openxmlformats.org/drawingml/2006/main">
            <a:r>
              <a:t>Support history is manually entered, bounded to 20 notes, source-linked and carried into the current interview graph. Edits and human requests reset approvals. Two unresolved entries recommend a human review; no stage completion is required to request it. Public checkpoints are blocked. No Paytm records or ticket API is connected. Internal exports include history; anonymized exports omit free-text details. See https://github.com/gowtham66867/merchantlens-paytm/blob/main/docs/TECHNICAL-FEEDBACK.md and docs/SUPPORT-JOURNEY.md.</a:t>
            </a:r>
          </a:p>
          <a:p xmlns:a="http://schemas.openxmlformats.org/drawingml/2006/main">
            <a:r>
              <a:t/>
            </a:r>
          </a:p>
          <a:p xmlns:a="http://schemas.openxmlformats.org/drawingml/2006/main">
            <a:r>
              <a:t>PRIMARY CONTEXT</a:t>
            </a:r>
          </a:p>
          <a:p xmlns:a="http://schemas.openxmlformats.org/drawingml/2006/main">
            <a:r>
              <a:t>Paytm AI Soundbox: https://paytm.com/document/ir/press-release/AI-SB.pdf ; merchant channels: https://business.paytmpayments.com/contact-us . Published consumer grievance levels are not evidence of the five internal merchant-support layers. Repository implementation through c91a439, 18 October 2026.</a:t>
            </a:r>
          </a:p>
          <a:p xmlns:a="http://schemas.openxmlformats.org/drawingml/2006/main">
            <a:r>
              <a:t/>
            </a:r>
          </a:p>
          <a:p xmlns:a="http://schemas.openxmlformats.org/drawingml/2006/main">
            <a:r>
              <a:t>OPEN ITEMS</a:t>
            </a:r>
          </a:p>
          <a:p xmlns:a="http://schemas.openxmlformats.org/drawingml/2006/main">
            <a:r>
              <a:t>Confirm the actual support layers and authorized APIs. Persist the spoken-response preference after refresh. Benchmark real multilingual/noisy audio and live Gemini interview quality. Complete production identity, privacy/security, retention, distributed abuse/cost controls and a baseline pilot. Existing backup video is a historical typed-synthetic walkthrough.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STORY — 25 seconds, plus a 60-second live example</a:t>
            </a:r>
          </a:p>
          <a:p xmlns:a="http://schemas.openxmlformats.org/drawingml/2006/main">
            <a:r>
              <a:t>Voice testing surfaced concrete issues. Browser speech recognition failed on a network path, so the configured route uses recorded audio and Gemini transcription. The interviewer later stayed silent because spoken responses were off in an older loaded tab. We preserved the draft, refreshed, enabled speech and observed playback. Refresh still resets that preference, which is an open usability issue. VAD and natural TTS work in the prototype; noisy real merchant speech still needs validation.</a:t>
            </a:r>
          </a:p>
          <a:p xmlns:a="http://schemas.openxmlformats.org/drawingml/2006/main">
            <a:r>
              <a:t/>
            </a:r>
          </a:p>
          <a:p xmlns:a="http://schemas.openxmlformats.org/drawingml/2006/main">
            <a:r>
              <a:t>TECHNICAL FEEDBACK REGISTER — slide 3</a:t>
            </a:r>
          </a:p>
          <a:p xmlns:a="http://schemas.openxmlformats.org/drawingml/2006/main">
            <a:r>
              <a:t>The five-layer statement is user-reported Paytm leader feedback. Other entries are user requirements/questions, observed failures or engineering responses, not judge quotations.</a:t>
            </a:r>
          </a:p>
          <a:p xmlns:a="http://schemas.openxmlformats.org/drawingml/2006/main">
            <a:r>
              <a:t/>
            </a:r>
          </a:p>
          <a:p xmlns:a="http://schemas.openxmlformats.org/drawingml/2006/main">
            <a:r>
              <a:t>F15 — Browser speech recognition failed with a network error</a:t>
            </a:r>
          </a:p>
          <a:p xmlns:a="http://schemas.openxmlformats.org/drawingml/2006/main">
            <a:r>
              <a:t>Source: Observed failure</a:t>
            </a:r>
          </a:p>
          <a:p xmlns:a="http://schemas.openxmlformats.org/drawingml/2006/main">
            <a:r>
              <a:t>Incorporated: Configured path uses MediaRecorder → server-side Gemini transcription → editable text → explicit Send</a:t>
            </a:r>
          </a:p>
          <a:p xmlns:a="http://schemas.openxmlformats.org/drawingml/2006/main">
            <a:r>
              <a:t>Status / limitation: Network/provider failures remain possible; legacy browser recognition only when Gemini is unavailable</a:t>
            </a:r>
          </a:p>
          <a:p xmlns:a="http://schemas.openxmlformats.org/drawingml/2006/main">
            <a:r>
              <a:t/>
            </a:r>
          </a:p>
          <a:p xmlns:a="http://schemas.openxmlformats.org/drawingml/2006/main">
            <a:r>
              <a:t>F16 — Add Hindi and Kannada alongside English</a:t>
            </a:r>
          </a:p>
          <a:p xmlns:a="http://schemas.openxmlformats.org/drawingml/2006/main">
            <a:r>
              <a:t>Source: User</a:t>
            </a:r>
          </a:p>
          <a:p xmlns:a="http://schemas.openxmlformats.org/drawingml/2006/main">
            <a:r>
              <a:t>Incorporated: Native Hindi/Kannada and romanized Hinglish selection; language/script guidance and at most one wrong-script retry</a:t>
            </a:r>
          </a:p>
          <a:p xmlns:a="http://schemas.openxmlformats.org/drawingml/2006/main">
            <a:r>
              <a:t>Status / limitation: Synthetic multilingual smoke tests passed; real speech word error rate is unmeasured</a:t>
            </a:r>
          </a:p>
          <a:p xmlns:a="http://schemas.openxmlformats.org/drawingml/2006/main">
            <a:r>
              <a:t/>
            </a:r>
          </a:p>
          <a:p xmlns:a="http://schemas.openxmlformats.org/drawingml/2006/main">
            <a:r>
              <a:t>F17 — Use Wispr Flow</a:t>
            </a:r>
          </a:p>
          <a:p xmlns:a="http://schemas.openxmlformats.org/drawingml/2006/main">
            <a:r>
              <a:t>Source: User</a:t>
            </a:r>
          </a:p>
          <a:p xmlns:a="http://schemas.openxmlformats.org/drawingml/2006/main">
            <a:r>
              <a:t>Incorporated: External Wispr dictation inserts text into the answer field for review</a:t>
            </a:r>
          </a:p>
          <a:p xmlns:a="http://schemas.openxmlformats.org/drawingml/2006/main">
            <a:r>
              <a:t>Status / limitation: No Wispr microphone, transcription or reasoning API is integrated</a:t>
            </a:r>
          </a:p>
          <a:p xmlns:a="http://schemas.openxmlformats.org/drawingml/2006/main">
            <a:r>
              <a:t/>
            </a:r>
          </a:p>
          <a:p xmlns:a="http://schemas.openxmlformats.org/drawingml/2006/main">
            <a:r>
              <a:t>F18 — Explore GPT-Live 1 and choose a working voice provider</a:t>
            </a:r>
          </a:p>
          <a:p xmlns:a="http://schemas.openxmlformats.org/drawingml/2006/main">
            <a:r>
              <a:t>Source: User / actual API test</a:t>
            </a:r>
          </a:p>
          <a:p xmlns:a="http://schemas.openxmlformats.org/drawingml/2006/main">
            <a:r>
              <a:t>Incorporated: OpenAI model lookup succeeded, but an audio transcription request returned `credit_balance_exhausted`; Gemini remained active</a:t>
            </a:r>
          </a:p>
          <a:p xmlns:a="http://schemas.openxmlformats.org/drawingml/2006/main">
            <a:r>
              <a:t>Status / limitation: GPT-Live is not wired to the browser; availability/model listing is not a working voice-session test</a:t>
            </a:r>
          </a:p>
          <a:p xmlns:a="http://schemas.openxmlformats.org/drawingml/2006/main">
            <a:r>
              <a:t/>
            </a:r>
          </a:p>
          <a:p xmlns:a="http://schemas.openxmlformats.org/drawingml/2006/main">
            <a:r>
              <a:t>F19 — Improve voice and detect when speech ends</a:t>
            </a:r>
          </a:p>
          <a:p xmlns:a="http://schemas.openxmlformats.org/drawingml/2006/main">
            <a:r>
              <a:t>Source: User</a:t>
            </a:r>
          </a:p>
          <a:p xmlns:a="http://schemas.openxmlformats.org/drawingml/2006/main">
            <a:r>
              <a:t>Incorporated: Browser-supported noise suppression/echo cancellation/gain control; local energy VAD; pause options 1.2/2/3.5 seconds</a:t>
            </a:r>
          </a:p>
          <a:p xmlns:a="http://schemas.openxmlformats.org/drawingml/2006/main">
            <a:r>
              <a:t>Status / limitation: Heuristic pause detector, not neural/semantic VAD; noise and thinking pauses can affect it</a:t>
            </a:r>
          </a:p>
          <a:p xmlns:a="http://schemas.openxmlformats.org/drawingml/2006/main">
            <a:r>
              <a:t/>
            </a:r>
          </a:p>
          <a:p xmlns:a="http://schemas.openxmlformats.org/drawingml/2006/main">
            <a:r>
              <a:t>F20 — Prevent empty or excessive recording</a:t>
            </a:r>
          </a:p>
          <a:p xmlns:a="http://schemas.openxmlformats.org/drawingml/2006/main">
            <a:r>
              <a:t>Source: Engineering</a:t>
            </a:r>
          </a:p>
          <a:p xmlns:a="http://schemas.openxmlformats.org/drawingml/2006/main">
            <a:r>
              <a:t>Incorporated: 200 ms sustained voice filters clicks; 10 seconds without detected speech discards locally; 45-second/4 MiB recording cap; stale-session cancellation</a:t>
            </a:r>
          </a:p>
          <a:p xmlns:a="http://schemas.openxmlformats.org/drawingml/2006/main">
            <a:r>
              <a:t>Status / limitation: Manual Stop/auto-stop off are available; no hands-free full-duplex conversation</a:t>
            </a:r>
          </a:p>
          <a:p xmlns:a="http://schemas.openxmlformats.org/drawingml/2006/main">
            <a:r>
              <a:t/>
            </a:r>
          </a:p>
          <a:p xmlns:a="http://schemas.openxmlformats.org/drawingml/2006/main">
            <a:r>
              <a:t>F21 — Improve spoken questions</a:t>
            </a:r>
          </a:p>
          <a:p xmlns:a="http://schemas.openxmlformats.org/drawingml/2006/main">
            <a:r>
              <a:t>Source: User</a:t>
            </a:r>
          </a:p>
          <a:p xmlns:a="http://schemas.openxmlformats.org/drawingml/2006/main">
            <a:r>
              <a:t>Incorporated: Gemini `gemini-3.8-flash-lite-tts`, Kore voice, separate delivery metadata, Stop playback and device-voice fallback</a:t>
            </a:r>
          </a:p>
          <a:p xmlns:a="http://schemas.openxmlformats.org/drawingml/2006/main">
            <a:r>
              <a:t>Status / limitation: Cloud generation adds delay; device voices depend on installation/browser</a:t>
            </a:r>
          </a:p>
          <a:p xmlns:a="http://schemas.openxmlformats.org/drawingml/2006/main">
            <a:r>
              <a:t/>
            </a:r>
          </a:p>
          <a:p xmlns:a="http://schemas.openxmlformats.org/drawingml/2006/main">
            <a:r>
              <a:t>F22 — Explain the codec</a:t>
            </a:r>
          </a:p>
          <a:p xmlns:a="http://schemas.openxmlformats.org/drawingml/2006/main">
            <a:r>
              <a:t>Source: User</a:t>
            </a:r>
          </a:p>
          <a:p xmlns:a="http://schemas.openxmlformats.org/drawingml/2006/main">
            <a:r>
              <a:t>Incorporated: Preferred microphone: Opus in WebM; browser-supported MP4/Ogg/default fallbacks. Tested TTS: 16-bit PCM, 24 kHz mono in WAV</a:t>
            </a:r>
          </a:p>
          <a:p xmlns:a="http://schemas.openxmlformats.org/drawingml/2006/main">
            <a:r>
              <a:t>Status / limitation: Container differs from codec; MP4 codec/sample rate is not forced; PCM details were observed in the tested output</a:t>
            </a:r>
          </a:p>
          <a:p xmlns:a="http://schemas.openxmlformats.org/drawingml/2006/main">
            <a:r>
              <a:t/>
            </a:r>
          </a:p>
          <a:p xmlns:a="http://schemas.openxmlformats.org/drawingml/2006/main">
            <a:r>
              <a:t>F23 — Interviewer did not speak</a:t>
            </a:r>
          </a:p>
          <a:p xmlns:a="http://schemas.openxmlformats.org/drawingml/2006/main">
            <a:r>
              <a:t>Source: Observed demo failure / user confirmed</a:t>
            </a:r>
          </a:p>
          <a:p xmlns:a="http://schemas.openxmlformats.org/drawingml/2006/main">
            <a:r>
              <a:t>Incorporated: Found an older loaded UI and spoken responses switched off; preserved unsent text, refreshed, enabled speech and replayed the question; Chrome reached “Interviewer speaking”</a:t>
            </a:r>
          </a:p>
          <a:p xmlns:a="http://schemas.openxmlformats.org/drawingml/2006/main">
            <a:r>
              <a:t>Status / limitation: **Open:** refresh currently resets spoken responses to off. Browser playing state does not prove room speakers are audible</a:t>
            </a:r>
          </a:p>
          <a:p xmlns:a="http://schemas.openxmlformats.org/drawingml/2006/main">
            <a:r>
              <a:t/>
            </a:r>
          </a:p>
          <a:p xmlns:a="http://schemas.openxmlformats.org/drawingml/2006/main">
            <a:r>
              <a:t>F25 — Deploy a link accessible to judges</a:t>
            </a:r>
          </a:p>
          <a:p xmlns:a="http://schemas.openxmlformats.org/drawingml/2006/main">
            <a:r>
              <a:t>Source: User / observed infrastructure errors</a:t>
            </a:r>
          </a:p>
          <a:p xmlns:a="http://schemas.openxmlformats.org/drawingml/2006/main">
            <a:r>
              <a:t>Incorporated: Cloud Run public demo, Docker/Node runtime, Secret Manager; IAP/public-invocation configuration corrected after Forbidden/access errors</a:t>
            </a:r>
          </a:p>
          <a:p xmlns:a="http://schemas.openxmlformats.org/drawingml/2006/main">
            <a:r>
              <a:t>Status / limitation: Public checkpoints remain blocked; production authentication and distributed abuse controls remain future work</a:t>
            </a:r>
          </a:p>
          <a:p xmlns:a="http://schemas.openxmlformats.org/drawingml/2006/main">
            <a:r>
              <a:t/>
            </a:r>
          </a:p>
          <a:p xmlns:a="http://schemas.openxmlformats.org/drawingml/2006/main">
            <a:r>
              <a:t>F28 — Include demo evidence without overstating it</a:t>
            </a:r>
          </a:p>
          <a:p xmlns:a="http://schemas.openxmlformats.org/drawingml/2006/main">
            <a:r>
              <a:t>Source: User</a:t>
            </a:r>
          </a:p>
          <a:p xmlns:a="http://schemas.openxmlformats.org/drawingml/2006/main">
            <a:r>
              <a:t>Incorporated: Visible partial human English session documented; typed synthetic 3:44 backup video labeled; synthetic multilingual STT/TTS smoke tests and public WAV playback recorded</a:t>
            </a:r>
          </a:p>
          <a:p xmlns:a="http://schemas.openxmlformats.org/drawingml/2006/main">
            <a:r>
              <a:t>Status / limitation: Backup video predates newer voice/support features; no native speaker or noisy-shop benchmark</a:t>
            </a:r>
          </a:p>
          <a:p xmlns:a="http://schemas.openxmlformats.org/drawingml/2006/main">
            <a:r>
              <a:t/>
            </a:r>
          </a:p>
          <a:p xmlns:a="http://schemas.openxmlformats.org/drawingml/2006/main">
            <a:r>
              <a:t>DETAILED IMPLEMENTATION REFERENCE</a:t>
            </a:r>
          </a:p>
          <a:p xmlns:a="http://schemas.openxmlformats.org/drawingml/2006/main">
            <a:r>
              <a:t>PRESENTATION — 25 SECONDS, THEN 60–75 SECONDS OF LIVE DEMO</a:t>
            </a:r>
          </a:p>
          <a:p xmlns:a="http://schemas.openxmlformats.org/drawingml/2006/main">
            <a:r>
              <a:t>Voice input is designed for a merchant who needs time to think. The microphone suppresses noise where the browser supports it and stops after a configurable pause. Gemini transcribes the recording; the merchant reviews the text before sending it. The existing interview harness chooses the next question. Gemini then reads that question naturally, with a faster device voice available as fallback. Let me show one answer, the useful follow-up and the source attached to the resulting observation.</a:t>
            </a:r>
          </a:p>
          <a:p xmlns:a="http://schemas.openxmlformats.org/drawingml/2006/main">
            <a:r>
              <a:t/>
            </a:r>
          </a:p>
          <a:p xmlns:a="http://schemas.openxmlformats.org/drawingml/2006/main">
            <a:r>
              <a:t>LIVE DEMO</a:t>
            </a:r>
          </a:p>
          <a:p xmlns:a="http://schemas.openxmlformats.org/drawingml/2006/main">
            <a:r>
              <a:t>Use the deployed app. Start an English interview, select Gemini reasoning, allow the described Google processing, and keep Natural pause at two seconds. Say: “My Soundbox stays silent after some customers pay. Yesterday this affected payments worth 2,400 rupees. I thought I lost that money, but I am not sure.” Pause, review the transcript and Send. Answer the actual follow-up. If asked, say: “The app shows successful payments, but I have not checked the bank statement.” Show the next question and source quote; finish and review the partial brief with unknowns. Do not imply the partial record is complete.</a:t>
            </a:r>
          </a:p>
          <a:p xmlns:a="http://schemas.openxmlformats.org/drawingml/2006/main">
            <a:r>
              <a:t/>
            </a:r>
          </a:p>
          <a:p xmlns:a="http://schemas.openxmlformats.org/drawingml/2006/main">
            <a:r>
              <a:t>TECHNICAL DETAILS</a:t>
            </a:r>
          </a:p>
          <a:p xmlns:a="http://schemas.openxmlformats.org/drawingml/2006/main">
            <a:r>
              <a:t>Input uses getUserMedia, MediaRecorder and an AudioContext analyser. VAD is an adjustable local energy heuristic, not a neural model or semantic turn detector. Background voices/noise can keep it active, and long thinking pauses can trigger a stop. Manual mode and Stop remain available. Recordings are capped at 4 MiB/45 seconds. Tracks release before transcription; stale requests cannot update another interview. Gemini transcription currently uses gemini-3.5-flash-lite with explicit language/script guidance and at most one wrong-script retry within a shared 45-second deadline. Natural output uses gemini-3.8-flash-lite-tts, Kore voice, separate style metadata, a 1,200-character limit and 18-second provider timeout. Playback can be cancelled; failure falls back to the device voice. Cloud speech has a 20 requests/minute/instance demo budget, not distributed production abuse protection. Google receives recorded audio and interviewer text when those features are enabled. MerchantLens does not persist raw recording or playback audio. Browser-local storage persists the text interview. Private cloud checkpoints exist as optional adapters and are disabled in the public demo. Wispr Flow can dictate into the answer field; no Wispr API is integrated. OpenAI model lookup succeeded, but an actual transcription call returned credit_balance_exhausted; GPT-Live is not part of this working path. This is a turn-based review flow, not full-duplex voice.</a:t>
            </a:r>
          </a:p>
          <a:p xmlns:a="http://schemas.openxmlformats.org/drawingml/2006/main">
            <a:r>
              <a:t/>
            </a:r>
          </a:p>
          <a:p xmlns:a="http://schemas.openxmlformats.org/drawingml/2006/main">
            <a:r>
              <a:t>VOICE EVIDENCE</a:t>
            </a:r>
          </a:p>
          <a:p xmlns:a="http://schemas.openxmlformats.org/drawingml/2006/main">
            <a:r>
              <a:t>Synthetic English/Hindi/Kannada recordings transcribed successfully in about 2.2/2.9/1.6 seconds. English/Hindi/Kannada TTS returned WAV audio in about 3.7/2.9/3.3 seconds. Hindi and Kannada TTS round trips matched the supplied questions. Public TTS returned HTTP 200 with a valid WAV; the UI reached Interviewer speaking. These are smoke tests, not independent listening or noisy-shop accuracy scores.</a:t>
            </a:r>
          </a:p>
          <a:p xmlns:a="http://schemas.openxmlformats.org/drawingml/2006/main">
            <a:r>
              <a:t/>
            </a:r>
          </a:p>
          <a:p xmlns:a="http://schemas.openxmlformats.org/drawingml/2006/main">
            <a:r>
              <a:t>References: https://ai.google.dev/gemini-api/docs/generate-content/speech-generation ; docs/VOICE-UPGRADE.md ; lib/transcription.ts ; lib/speech.ts ; lib/voice-activity.ts. Screenshot is from the actual deployed app, 18 October 2026.</a:t>
            </a:r>
          </a:p>
          <a:p xmlns:a="http://schemas.openxmlformats.org/drawingml/2006/main">
            <a:r>
              <a:t/>
            </a:r>
          </a:p>
          <a:p xmlns:a="http://schemas.openxmlformats.org/drawingml/2006/main">
            <a:r>
              <a:t>IMPLEMENTATION SOURCES</a:t>
            </a:r>
          </a:p>
          <a:p xmlns:a="http://schemas.openxmlformats.org/drawingml/2006/main">
            <a:r>
              <a:t>Public repository: https://github.com/gowtham66867/merchantlens-paytm (voice revision 7a794d2). Local implementation inspected on 18 October 2026. App: https://merchantlens-paytm-412542191970.asia-south1.run.app/ . No affiliation, production deployment within Paytm, or independently verified payment status is implied.</a:t>
            </a:r>
          </a:p>
          <a:p xmlns:a="http://schemas.openxmlformats.org/drawingml/2006/main">
            <a:r>
              <a:t/>
            </a:r>
          </a:p>
          <a:p xmlns:a="http://schemas.openxmlformats.org/drawingml/2006/main">
            <a:r>
              <a:t>CURRENT SUPPORT EXTENSION</a:t>
            </a:r>
          </a:p>
          <a:p xmlns:a="http://schemas.openxmlformats.org/drawingml/2006/main">
            <a:r>
              <a:t>Support history is manually entered, bounded to 20 notes, source-linked and carried into the current interview graph. Edits and human requests reset approvals. Two unresolved entries recommend a human review; no stage completion is required to request it. Public checkpoints are blocked. No Paytm records or ticket API is connected. Internal exports include history; anonymized exports omit free-text details. See https://github.com/gowtham66867/merchantlens-paytm/blob/main/docs/TECHNICAL-FEEDBACK.md and docs/SUPPORT-JOURNEY.md.</a:t>
            </a:r>
          </a:p>
          <a:p xmlns:a="http://schemas.openxmlformats.org/drawingml/2006/main">
            <a:r>
              <a:t/>
            </a:r>
          </a:p>
          <a:p xmlns:a="http://schemas.openxmlformats.org/drawingml/2006/main">
            <a:r>
              <a:t>PRIMARY CONTEXT</a:t>
            </a:r>
          </a:p>
          <a:p xmlns:a="http://schemas.openxmlformats.org/drawingml/2006/main">
            <a:r>
              <a:t>Paytm AI Soundbox: https://paytm.com/document/ir/press-release/AI-SB.pdf ; merchant channels: https://business.paytmpayments.com/contact-us . Published consumer grievance levels are not evidence of the five internal merchant-support layers. Repository implementation through c91a439, 18 October 2026.</a:t>
            </a:r>
          </a:p>
          <a:p xmlns:a="http://schemas.openxmlformats.org/drawingml/2006/main">
            <a:r>
              <a:t/>
            </a:r>
          </a:p>
          <a:p xmlns:a="http://schemas.openxmlformats.org/drawingml/2006/main">
            <a:r>
              <a:t>OPEN ITEMS</a:t>
            </a:r>
          </a:p>
          <a:p xmlns:a="http://schemas.openxmlformats.org/drawingml/2006/main">
            <a:r>
              <a:t>Confirm the actual support layers and authorized APIs. Persist the spoken-response preference after refresh. Benchmark real multilingual/noisy audio and live Gemini interview quality. Complete production identity, privacy/security, retention, distributed abuse/cost controls and a baseline pilot. Existing backup video is a historical typed-synthetic walkthrough.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STORY — 35–45 seconds</a:t>
            </a:r>
          </a:p>
          <a:p xmlns:a="http://schemas.openxmlformats.org/drawingml/2006/main">
            <a:r>
              <a:t>Three Gemini roles communicate through structured JSON controlled by one orchestrator. Exact-source checks, allowed tools, call budgets and export authority remain in code. Critique and read-only tools run in parallel and join before planning. We have 61 passing regression tests and seven visible guided probes. Those checks and synthetic audio smoke tests are useful engineering evidence, not a live-model interview accuracy score.</a:t>
            </a:r>
          </a:p>
          <a:p xmlns:a="http://schemas.openxmlformats.org/drawingml/2006/main">
            <a:r>
              <a:t/>
            </a:r>
          </a:p>
          <a:p xmlns:a="http://schemas.openxmlformats.org/drawingml/2006/main">
            <a:r>
              <a:t>TECHNICAL FEEDBACK REGISTER — slide 4</a:t>
            </a:r>
          </a:p>
          <a:p xmlns:a="http://schemas.openxmlformats.org/drawingml/2006/main">
            <a:r>
              <a:t>The five-layer statement is user-reported Paytm leader feedback. Other entries are user requirements/questions, observed failures or engineering responses, not judge quotations.</a:t>
            </a:r>
          </a:p>
          <a:p xmlns:a="http://schemas.openxmlformats.org/drawingml/2006/main">
            <a:r>
              <a:t/>
            </a:r>
          </a:p>
          <a:p xmlns:a="http://schemas.openxmlformats.org/drawingml/2006/main">
            <a:r>
              <a:t>F07 — Explain communication between agents</a:t>
            </a:r>
          </a:p>
          <a:p xmlns:a="http://schemas.openxmlformats.org/drawingml/2006/main">
            <a:r>
              <a:t>Source: User</a:t>
            </a:r>
          </a:p>
          <a:p xmlns:a="http://schemas.openxmlformats.org/drawingml/2006/main">
            <a:r>
              <a:t>Incorporated: Central TypeScript orchestrator passes schema-constrained JSON between extractor, critic and planner</a:t>
            </a:r>
          </a:p>
          <a:p xmlns:a="http://schemas.openxmlformats.org/drawingml/2006/main">
            <a:r>
              <a:t>Status / limitation: Separately scoped Gemini requests; no direct A2A protocol, message broker or audio between roles</a:t>
            </a:r>
          </a:p>
          <a:p xmlns:a="http://schemas.openxmlformats.org/drawingml/2006/main">
            <a:r>
              <a:t/>
            </a:r>
          </a:p>
          <a:p xmlns:a="http://schemas.openxmlformats.org/drawingml/2006/main">
            <a:r>
              <a:t>F08 — Use advanced agentic concepts with a sound architecture</a:t>
            </a:r>
          </a:p>
          <a:p xmlns:a="http://schemas.openxmlformats.org/drawingml/2006/main">
            <a:r>
              <a:t>Source: User</a:t>
            </a:r>
          </a:p>
          <a:p xmlns:a="http://schemas.openxmlformats.org/drawingml/2006/main">
            <a:r>
              <a:t>Incorporated: Stateful graph, structured extraction, critique, parallel tools, gap ranking, conditional policy gate and bounded repair</a:t>
            </a:r>
          </a:p>
          <a:p xmlns:a="http://schemas.openxmlformats.org/drawingml/2006/main">
            <a:r>
              <a:t>Status / limitation: Same Gemini backend; not independent model consensus or an autonomous swarm</a:t>
            </a:r>
          </a:p>
          <a:p xmlns:a="http://schemas.openxmlformats.org/drawingml/2006/main">
            <a:r>
              <a:t/>
            </a:r>
          </a:p>
          <a:p xmlns:a="http://schemas.openxmlformats.org/drawingml/2006/main">
            <a:r>
              <a:t>F09 — Explain harness engineering</a:t>
            </a:r>
          </a:p>
          <a:p xmlns:a="http://schemas.openxmlformats.org/drawingml/2006/main">
            <a:r>
              <a:t>Source: User</a:t>
            </a:r>
          </a:p>
          <a:p xmlns:a="http://schemas.openxmlformats.org/drawingml/2006/main">
            <a:r>
              <a:t>Incorporated: Code controls input boundaries, exact-source checks, topic selection, safe response form, budgets, failures and approval authority</a:t>
            </a:r>
          </a:p>
          <a:p xmlns:a="http://schemas.openxmlformats.org/drawingml/2006/main">
            <a:r>
              <a:t>Status / limitation: A harness is the control system around inference, not merely a prompt</a:t>
            </a:r>
          </a:p>
          <a:p xmlns:a="http://schemas.openxmlformats.org/drawingml/2006/main">
            <a:r>
              <a:t/>
            </a:r>
          </a:p>
          <a:p xmlns:a="http://schemas.openxmlformats.org/drawingml/2006/main">
            <a:r>
              <a:t>F10 — Bound execution and repairs</a:t>
            </a:r>
          </a:p>
          <a:p xmlns:a="http://schemas.openxmlformats.org/drawingml/2006/main">
            <a:r>
              <a:t>Source: Engineering</a:t>
            </a:r>
          </a:p>
          <a:p xmlns:a="http://schemas.openxmlformats.org/drawingml/2006/main">
            <a:r>
              <a:t>Incorporated: Per turn: at most 4 model calls, 3 read-only tool calls, one shared role repair, 55-second graph deadline; at most 14 merchant turns</a:t>
            </a:r>
          </a:p>
          <a:p xmlns:a="http://schemas.openxmlformats.org/drawingml/2006/main">
            <a:r>
              <a:t>Status / limitation: Repair consumes the same call budget; no unbounded background loop</a:t>
            </a:r>
          </a:p>
          <a:p xmlns:a="http://schemas.openxmlformats.org/drawingml/2006/main">
            <a:r>
              <a:t/>
            </a:r>
          </a:p>
          <a:p xmlns:a="http://schemas.openxmlformats.org/drawingml/2006/main">
            <a:r>
              <a:t>F11 — Make tools, memory and retrieval inspectable</a:t>
            </a:r>
          </a:p>
          <a:p xmlns:a="http://schemas.openxmlformats.org/drawingml/2006/main">
            <a:r>
              <a:t>Source: User / engineering</a:t>
            </a:r>
          </a:p>
          <a:p xmlns:a="http://schemas.openxmlformats.org/drawingml/2006/main">
            <a:r>
              <a:t>Incorporated: Allowlisted coverage/evidence/context tools; typed interview state; actual trace of calls, tools, tokens, timings and source fingerprint</a:t>
            </a:r>
          </a:p>
          <a:p xmlns:a="http://schemas.openxmlformats.org/drawingml/2006/main">
            <a:r>
              <a:t>Status / limitation: Curated lexical retrieval, not web/vector RAG; fingerprint is not a signature</a:t>
            </a:r>
          </a:p>
          <a:p xmlns:a="http://schemas.openxmlformats.org/drawingml/2006/main">
            <a:r>
              <a:t/>
            </a:r>
          </a:p>
          <a:p xmlns:a="http://schemas.openxmlformats.org/drawingml/2006/main">
            <a:r>
              <a:t>F12 — Show what changes when evidence is removed</a:t>
            </a:r>
          </a:p>
          <a:p xmlns:a="http://schemas.openxmlformats.org/drawingml/2006/main">
            <a:r>
              <a:t>Source: User</a:t>
            </a:r>
          </a:p>
          <a:p xmlns:a="http://schemas.openxmlformats.org/drawingml/2006/main">
            <a:r>
              <a:t>Incorporated: Source-ablation explorer identifies observations depending on a removed turn</a:t>
            </a:r>
          </a:p>
          <a:p xmlns:a="http://schemas.openxmlformats.org/drawingml/2006/main">
            <a:r>
              <a:t>Status / limitation: Dependency test, not causal inference</a:t>
            </a:r>
          </a:p>
          <a:p xmlns:a="http://schemas.openxmlformats.org/drawingml/2006/main">
            <a:r>
              <a:t/>
            </a:r>
          </a:p>
          <a:p xmlns:a="http://schemas.openxmlformats.org/drawingml/2006/main">
            <a:r>
              <a:t>F13 — Explain guardrails and authority</a:t>
            </a:r>
          </a:p>
          <a:p xmlns:a="http://schemas.openxmlformats.org/drawingml/2006/main">
            <a:r>
              <a:t>Source: User</a:t>
            </a:r>
          </a:p>
          <a:p xmlns:a="http://schemas.openxmlformats.org/drawingml/2006/main">
            <a:r>
              <a:t>Incorporated: Untrusted transcript/tool content; exact quote/source checks; safe candidate override; secret masking; no payment/refund tools; no model-granted approval</a:t>
            </a:r>
          </a:p>
          <a:p xmlns:a="http://schemas.openxmlformats.org/drawingml/2006/main">
            <a:r>
              <a:t>Status / limitation: Heuristics and regex checks are incomplete; production review remains necessary</a:t>
            </a:r>
          </a:p>
          <a:p xmlns:a="http://schemas.openxmlformats.org/drawingml/2006/main">
            <a:r>
              <a:t/>
            </a:r>
          </a:p>
          <a:p xmlns:a="http://schemas.openxmlformats.org/drawingml/2006/main">
            <a:r>
              <a:t>F14 — Define exit criteria</a:t>
            </a:r>
          </a:p>
          <a:p xmlns:a="http://schemas.openxmlformats.org/drawingml/2006/main">
            <a:r>
              <a:t>Source: User</a:t>
            </a:r>
          </a:p>
          <a:p xmlns:a="http://schemas.openxmlformats.org/drawingml/2006/main">
            <a:r>
              <a:t>Incorporated: Stop on merchant request, sufficient topic coverage or turn limit; preserve unknowns; provider failure retains pending answer and prior committed state</a:t>
            </a:r>
          </a:p>
          <a:p xmlns:a="http://schemas.openxmlformats.org/drawingml/2006/main">
            <a:r>
              <a:t>Status / limitation: Coverage is not truth, resolution or interview-quality verification</a:t>
            </a:r>
          </a:p>
          <a:p xmlns:a="http://schemas.openxmlformats.org/drawingml/2006/main">
            <a:r>
              <a:t/>
            </a:r>
          </a:p>
          <a:p xmlns:a="http://schemas.openxmlformats.org/drawingml/2006/main">
            <a:r>
              <a:t>F24 — Prepare live evals and validation</a:t>
            </a:r>
          </a:p>
          <a:p xmlns:a="http://schemas.openxmlformats.org/drawingml/2006/main">
            <a:r>
              <a:t>Source: User</a:t>
            </a:r>
          </a:p>
          <a:p xmlns:a="http://schemas.openxmlformats.org/drawingml/2006/main">
            <a:r>
              <a:t>Incorporated: 61 automated tests passed after support-journey addition; 7 visible guided probes exercise amount ambiguity, signal separation, early stop, injection, damaged device, unknown bank evidence and fabricated quote rejection</a:t>
            </a:r>
          </a:p>
          <a:p xmlns:a="http://schemas.openxmlformats.org/drawingml/2006/main">
            <a:r>
              <a:t>Status / limitation: Guided/contract checks, not a live-model accuracy benchmark; synthetic voice smoke tests are separate</a:t>
            </a:r>
          </a:p>
          <a:p xmlns:a="http://schemas.openxmlformats.org/drawingml/2006/main">
            <a:r>
              <a:t/>
            </a:r>
          </a:p>
          <a:p xmlns:a="http://schemas.openxmlformats.org/drawingml/2006/main">
            <a:r>
              <a:t>F27 — Preserve explicit state and handle concurrent saves</a:t>
            </a:r>
          </a:p>
          <a:p xmlns:a="http://schemas.openxmlformats.org/drawingml/2006/main">
            <a:r>
              <a:t>Source: Engineering</a:t>
            </a:r>
          </a:p>
          <a:p xmlns:a="http://schemas.openxmlformats.org/drawingml/2006/main">
            <a:r>
              <a:t>Incorporated: Optional private D1/Cloud Storage adapters, owner scoping, observed-version/generation checks and approval-only concurrency checks</a:t>
            </a:r>
          </a:p>
          <a:p xmlns:a="http://schemas.openxmlformats.org/drawingml/2006/main">
            <a:r>
              <a:t>Status / limitation: Public demo has no shared cloud interview database; old downloaded copies cannot be recalled</a:t>
            </a:r>
          </a:p>
          <a:p xmlns:a="http://schemas.openxmlformats.org/drawingml/2006/main">
            <a:r>
              <a:t/>
            </a:r>
          </a:p>
          <a:p xmlns:a="http://schemas.openxmlformats.org/drawingml/2006/main">
            <a:r>
              <a:t>DETAILED IMPLEMENTATION REFERENCE</a:t>
            </a:r>
          </a:p>
          <a:p xmlns:a="http://schemas.openxmlformats.org/drawingml/2006/main">
            <a:r>
              <a:t>PRESENTATION — 45 SECONDS</a:t>
            </a:r>
          </a:p>
          <a:p xmlns:a="http://schemas.openxmlformats.org/drawingml/2006/main">
            <a:r>
              <a:t>The model does not control the whole workflow. One custom harness coordinates three Gemini roles: an extractor, a critic and a planner. Exact-source checks and the final policy gate run in code. Critique and read-only context tools can run in parallel. If the planner ignores a critical ambiguity, the gate can override it. The limits are explicit: four calls, three tools and one repair per turn. The merchant’s words never become permission to approve an export. We have 61 passing regression tests and seven visible guided probes; those are not a claim of live-model accuracy.</a:t>
            </a:r>
          </a:p>
          <a:p xmlns:a="http://schemas.openxmlformats.org/drawingml/2006/main">
            <a:r>
              <a:t/>
            </a:r>
          </a:p>
          <a:p xmlns:a="http://schemas.openxmlformats.org/drawingml/2006/main">
            <a:r>
              <a:t>ADVANCED AGENTIC CONCEPTS ACTUALLY IMPLEMENTED</a:t>
            </a:r>
          </a:p>
          <a:p xmlns:a="http://schemas.openxmlformats.org/drawingml/2006/main">
            <a:r>
              <a:t>Stateful graph orchestration across explicit stages; structured schema-constrained extraction; critique of proposed claims; parallel read-only tool use; gap/contradiction-based question ranking; a deterministic authority boundary; one bounded repair shared across roles; source provenance; checkpoint fingerprints; optional restorable state; version-bound human approvals; observed execution traces; and source-ablation dependency checks. These roles use the same Gemini backend and should not be presented as an independent autonomous multi-model swarm. Curated retrieval is local domain context, not live web search or a vector database. Source ablation tests whether an observation depends on a removed source; it is not causal inference.</a:t>
            </a:r>
          </a:p>
          <a:p xmlns:a="http://schemas.openxmlformats.org/drawingml/2006/main">
            <a:r>
              <a:t/>
            </a:r>
          </a:p>
          <a:p xmlns:a="http://schemas.openxmlformats.org/drawingml/2006/main">
            <a:r>
              <a:t>SEVEN LIVE-DEMO PROBES</a:t>
            </a:r>
          </a:p>
          <a:p xmlns:a="http://schemas.openxmlformats.org/drawingml/2006/main">
            <a:r>
              <a:t>1) “I lost ₹2,400” must trigger amount clarification. 2) Successful app entry plus silent audio must ask about settlement separately. 3) Stop must end without fabricated details. 4) An instruction to approve everything must not grant approval. 5) A damaged device must not be diagnosed automatically as a network fault. 6) Unchecked bank evidence must stay unknown rather than being repeatedly filled. 7) An invented quote must be rejected. The control-room evaluator runs these deterministic guided cases; it is not an LLM interview-quality grader.</a:t>
            </a:r>
          </a:p>
          <a:p xmlns:a="http://schemas.openxmlformats.org/drawingml/2006/main">
            <a:r>
              <a:t/>
            </a:r>
          </a:p>
          <a:p xmlns:a="http://schemas.openxmlformats.org/drawingml/2006/main">
            <a:r>
              <a:t>VALIDATION AND EXIT</a:t>
            </a:r>
          </a:p>
          <a:p xmlns:a="http://schemas.openxmlformats.org/drawingml/2006/main">
            <a:r>
              <a:t>An observation must cite an existing merchant turn with an exact quote, use an allowed topic and survive schema checks. A received account remains reported or estimated, never independently verified. The interview ends on an explicit stop, sufficient topic coverage or the 14-turn budget; incomplete topics remain open. Export requires the relevant audience approval at the current version. Model/API failures preserve the pending answer and do not invent a substitute successful result. Meaningful tests cover corrections, source rejection, injection, approvals/redaction, language gates, call/repair budgets, storage concurrency, cross-origin controls, VAD pause behavior and WAV validation. Open issues are real merchant accuracy, noisy audio, independent backend truth, production identity and distributed rate limiting.</a:t>
            </a:r>
          </a:p>
          <a:p xmlns:a="http://schemas.openxmlformats.org/drawingml/2006/main">
            <a:r>
              <a:t/>
            </a:r>
          </a:p>
          <a:p xmlns:a="http://schemas.openxmlformats.org/drawingml/2006/main">
            <a:r>
              <a:t>Sources: lib/agents/graph.ts, config.ts, reasoning.ts, evaluation.ts, lib/interview.ts, tests/, docs/VOICE-UPGRADE.md. Observed test run: 61/61 passed.</a:t>
            </a:r>
          </a:p>
          <a:p xmlns:a="http://schemas.openxmlformats.org/drawingml/2006/main">
            <a:r>
              <a:t/>
            </a:r>
          </a:p>
          <a:p xmlns:a="http://schemas.openxmlformats.org/drawingml/2006/main">
            <a:r>
              <a:t>IMPLEMENTATION SOURCES</a:t>
            </a:r>
          </a:p>
          <a:p xmlns:a="http://schemas.openxmlformats.org/drawingml/2006/main">
            <a:r>
              <a:t>Public repository: https://github.com/gowtham66867/merchantlens-paytm (voice revision 7a794d2). Local implementation inspected on 18 October 2026. App: https://merchantlens-paytm-412542191970.asia-south1.run.app/ . No affiliation, production deployment within Paytm, or independently verified payment status is implied.</a:t>
            </a:r>
          </a:p>
          <a:p xmlns:a="http://schemas.openxmlformats.org/drawingml/2006/main">
            <a:r>
              <a:t/>
            </a:r>
          </a:p>
          <a:p xmlns:a="http://schemas.openxmlformats.org/drawingml/2006/main">
            <a:r>
              <a:t>CURRENT SUPPORT EXTENSION</a:t>
            </a:r>
          </a:p>
          <a:p xmlns:a="http://schemas.openxmlformats.org/drawingml/2006/main">
            <a:r>
              <a:t>Support history is manually entered, bounded to 20 notes, source-linked and carried into the current interview graph. Edits and human requests reset approvals. Two unresolved entries recommend a human review; no stage completion is required to request it. Public checkpoints are blocked. No Paytm records or ticket API is connected. Internal exports include history; anonymized exports omit free-text details. See https://github.com/gowtham66867/merchantlens-paytm/blob/main/docs/TECHNICAL-FEEDBACK.md and docs/SUPPORT-JOURNEY.md.</a:t>
            </a:r>
          </a:p>
          <a:p xmlns:a="http://schemas.openxmlformats.org/drawingml/2006/main">
            <a:r>
              <a:t/>
            </a:r>
          </a:p>
          <a:p xmlns:a="http://schemas.openxmlformats.org/drawingml/2006/main">
            <a:r>
              <a:t>PRIMARY CONTEXT</a:t>
            </a:r>
          </a:p>
          <a:p xmlns:a="http://schemas.openxmlformats.org/drawingml/2006/main">
            <a:r>
              <a:t>Paytm AI Soundbox: https://paytm.com/document/ir/press-release/AI-SB.pdf ; merchant channels: https://business.paytmpayments.com/contact-us . Published consumer grievance levels are not evidence of the five internal merchant-support layers. Repository implementation through c91a439, 18 October 2026.</a:t>
            </a:r>
          </a:p>
          <a:p xmlns:a="http://schemas.openxmlformats.org/drawingml/2006/main">
            <a:r>
              <a:t/>
            </a:r>
          </a:p>
          <a:p xmlns:a="http://schemas.openxmlformats.org/drawingml/2006/main">
            <a:r>
              <a:t>OPEN ITEMS</a:t>
            </a:r>
          </a:p>
          <a:p xmlns:a="http://schemas.openxmlformats.org/drawingml/2006/main">
            <a:r>
              <a:t>Confirm the actual support layers and authorized APIs. Persist the spoken-response preference after refresh. Benchmark real multilingual/noisy audio and live Gemini interview quality. Complete production identity, privacy/security, retention, distributed abuse/cost controls and a baseline pilot. Existing backup video is a historical typed-synthetic walkthrough.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STORY — 35–45 seconds</a:t>
            </a:r>
          </a:p>
          <a:p xmlns:a="http://schemas.openxmlformats.org/drawingml/2006/main">
            <a:r>
              <a:t>The support journey records previous checks and their reported outcomes. Two unresolved entries recommend human review, and the merchant can request human review immediately without completing five gates. Internal exports include that history after approval. No ticket is sent. A proposed ten-merchant pilot should measure repeat questioning, reviewed handoff time, usefulness, corrections and total cost. Real integration needs Paytm’s stage map, identity, authorized records and case APIs.</a:t>
            </a:r>
          </a:p>
          <a:p xmlns:a="http://schemas.openxmlformats.org/drawingml/2006/main">
            <a:r>
              <a:t/>
            </a:r>
          </a:p>
          <a:p xmlns:a="http://schemas.openxmlformats.org/drawingml/2006/main">
            <a:r>
              <a:t>TECHNICAL FEEDBACK REGISTER — slide 5</a:t>
            </a:r>
          </a:p>
          <a:p xmlns:a="http://schemas.openxmlformats.org/drawingml/2006/main">
            <a:r>
              <a:t>The five-layer statement is user-reported Paytm leader feedback. Other entries are user requirements/questions, observed failures or engineering responses, not judge quotations.</a:t>
            </a:r>
          </a:p>
          <a:p xmlns:a="http://schemas.openxmlformats.org/drawingml/2006/main">
            <a:r>
              <a:t/>
            </a:r>
          </a:p>
          <a:p xmlns:a="http://schemas.openxmlformats.org/drawingml/2006/main">
            <a:r>
              <a:t>F32 — Keep access to human review</a:t>
            </a:r>
          </a:p>
          <a:p xmlns:a="http://schemas.openxmlformats.org/drawingml/2006/main">
            <a:r>
              <a:t>Source: Engineering response to F30</a:t>
            </a:r>
          </a:p>
          <a:p xmlns:a="http://schemas.openxmlformats.org/drawingml/2006/main">
            <a:r>
              <a:t>Incorporated: Human review can be requested with zero completed stages or payment evidence; completing all five is never required</a:t>
            </a:r>
          </a:p>
          <a:p xmlns:a="http://schemas.openxmlformats.org/drawingml/2006/main">
            <a:r>
              <a:t>Status / limitation: Local request/flag only; no ticket sent and no human connected by the prototype</a:t>
            </a:r>
          </a:p>
          <a:p xmlns:a="http://schemas.openxmlformats.org/drawingml/2006/main">
            <a:r>
              <a:t/>
            </a:r>
          </a:p>
          <a:p xmlns:a="http://schemas.openxmlformats.org/drawingml/2006/main">
            <a:r>
              <a:t>F33 — Quantify Paytm ROI</a:t>
            </a:r>
          </a:p>
          <a:p xmlns:a="http://schemas.openxmlformats.org/drawingml/2006/main">
            <a:r>
              <a:t>Source: User</a:t>
            </a:r>
          </a:p>
          <a:p xmlns:a="http://schemas.openxmlformats.org/drawingml/2006/main">
            <a:r>
              <a:t>Incorporated: Proposed 10-merchant feasibility pilot; compare time to reviewer-accepted brief, repeat questions/contacts, routing agreement, corrections, voice failures, review effort and cost</a:t>
            </a:r>
          </a:p>
          <a:p xmlns:a="http://schemas.openxmlformats.org/drawingml/2006/main">
            <a:r>
              <a:t>Status / limitation: Savings and deflection are unmeasured; do not double-count time/contact benefits</a:t>
            </a:r>
          </a:p>
          <a:p xmlns:a="http://schemas.openxmlformats.org/drawingml/2006/main">
            <a:r>
              <a:t/>
            </a:r>
          </a:p>
          <a:p xmlns:a="http://schemas.openxmlformats.org/drawingml/2006/main">
            <a:r>
              <a:t>F34 — Extend the prototype into Paytm systems</a:t>
            </a:r>
          </a:p>
          <a:p xmlns:a="http://schemas.openxmlformats.org/drawingml/2006/main">
            <a:r>
              <a:t>Source: User</a:t>
            </a:r>
          </a:p>
          <a:p xmlns:a="http://schemas.openxmlformats.org/drawingml/2006/main">
            <a:r>
              <a:t>Incorporated: Proposed authorized read-only history/payment/settlement/device adapters, separate source provenance, reviewed/idempotent case creation, tenant isolation, retention, monitoring and real-language evaluation</a:t>
            </a:r>
          </a:p>
          <a:p xmlns:a="http://schemas.openxmlformats.org/drawingml/2006/main">
            <a:r>
              <a:t>Status / limitation: No Paytm API connection, live import, ticket submission, payment verification, refund or device repair</a:t>
            </a:r>
          </a:p>
          <a:p xmlns:a="http://schemas.openxmlformats.org/drawingml/2006/main">
            <a:r>
              <a:t/>
            </a:r>
          </a:p>
          <a:p xmlns:a="http://schemas.openxmlformats.org/drawingml/2006/main">
            <a:r>
              <a:t>DETAILED IMPLEMENTATION REFERENCE</a:t>
            </a:r>
          </a:p>
          <a:p xmlns:a="http://schemas.openxmlformats.org/drawingml/2006/main">
            <a:r>
              <a:t>PRESENTATION — 40 SECONDS</a:t>
            </a:r>
          </a:p>
          <a:p xmlns:a="http://schemas.openxmlformats.org/drawingml/2006/main">
            <a:r>
              <a:t>The ROI hypothesis is less time spent asking the same clarification questions and fewer cases routed on an unsupported interpretation. I would start with ten consenting merchants and operations reviewers, measure the existing intake flow, and compare it with reviewed MerchantLens briefs. The savings formula subtracts AI, human review and integration costs; we have not measured a commercial result. The next step is an authenticated, read-only Paytm integration so a merchant report can be compared with system records before a human reviews the support case.</a:t>
            </a:r>
          </a:p>
          <a:p xmlns:a="http://schemas.openxmlformats.org/drawingml/2006/main">
            <a:r>
              <a:t/>
            </a:r>
          </a:p>
          <a:p xmlns:a="http://schemas.openxmlformats.org/drawingml/2006/main">
            <a:r>
              <a:t>PILOT DESIGN AND ROI DETAILS</a:t>
            </a:r>
          </a:p>
          <a:p xmlns:a="http://schemas.openxmlformats.org/drawingml/2006/main">
            <a:r>
              <a:t>Ten merchants is a proposed feasibility pilot, not a statistically powered ROI study. Include different languages and realistic noise. Define the task and stop conditions in advance. Measure baseline and assisted time to a reviewer-accepted brief, number of follow-up contacts, routing agreement between reviewers, corrections per brief, missed confidential details, task abandonment, voice failures, end-to-end latency, and model/review/operating cost. Compare equivalent cases and count reviewer time so apparent automation savings are not shifted elsewhere. Staff minutes have financial value only if costs fall or released capacity is productively used. Re-contact reduction and minutes saved may overlap; avoid double counting. No Paytm volumes, staffing costs, conversion uplift or rupee savings are asserted.</a:t>
            </a:r>
          </a:p>
          <a:p xmlns:a="http://schemas.openxmlformats.org/drawingml/2006/main">
            <a:r>
              <a:t/>
            </a:r>
          </a:p>
          <a:p xmlns:a="http://schemas.openxmlformats.org/drawingml/2006/main">
            <a:r>
              <a:t>PROPOSED ACCEPTANCE CRITERIA</a:t>
            </a:r>
          </a:p>
          <a:p xmlns:a="http://schemas.openxmlformats.org/drawingml/2006/main">
            <a:r>
              <a:t>At the prototype level: 56 regression tests pass; claims have valid sources; edits invalidate both approvals; no export without current audience approval; no payment/refund actions; raw app audio is not persisted; failed calls preserve the answer. For pilot release, agree numerical quality, latency, cost and usefulness thresholds with Paytm before measuring results rather than inventing thresholds afterwards. Zero unauthorized actions and zero known approval bypasses are release blockers. Investigate critical privacy failures before expansion. The seven guided probes do not replace human evaluation of live Gemini interviews.</a:t>
            </a:r>
          </a:p>
          <a:p xmlns:a="http://schemas.openxmlformats.org/drawingml/2006/main">
            <a:r>
              <a:t/>
            </a:r>
          </a:p>
          <a:p xmlns:a="http://schemas.openxmlformats.org/drawingml/2006/main">
            <a:r>
              <a:t>PAYTM SYSTEM INTEGRATION — FUTURE WORK</a:t>
            </a:r>
          </a:p>
          <a:p xmlns:a="http://schemas.openxmlformats.org/drawingml/2006/main">
            <a:r>
              <a:t>Phase 1: identity, merchant consent and least-privilege read-only adapters for app transaction status, settlement records and Soundbox health, subject to Paytm’s actual API availability and authorization. Keep each system record’s provenance/time separate from merchant statements and flag contradictions. Phase 2: map reviewed briefs into the existing case schema; add routing suggestions with human override, idempotency, retry handling and an audit trail. Any write action must have an explicit authorized boundary. Phase 3: tenant isolation, appropriate shared storage, retention/deletion controls, encryption, access control, distributed rate limits, monitoring, cost caps and provider handling agreements. Evaluate real Kannada/Hindi/Hinglish speech, accessibility and telephony separately. MerchantLens currently has no Paytm transaction, device, refund, settlement or support-ticket API connection.</a:t>
            </a:r>
          </a:p>
          <a:p xmlns:a="http://schemas.openxmlformats.org/drawingml/2006/main">
            <a:r>
              <a:t/>
            </a:r>
          </a:p>
          <a:p xmlns:a="http://schemas.openxmlformats.org/drawingml/2006/main">
            <a:r>
              <a:t>DEMO AND LINKS</a:t>
            </a:r>
          </a:p>
          <a:p xmlns:a="http://schemas.openxmlformats.org/drawingml/2006/main">
            <a:r>
              <a:t>Live app: https://merchantlens-paytm-412542191970.asia-south1.run.app/</a:t>
            </a:r>
          </a:p>
          <a:p xmlns:a="http://schemas.openxmlformats.org/drawingml/2006/main">
            <a:r>
              <a:t>GitHub and architecture: https://github.com/gowtham66867/merchantlens-paytm</a:t>
            </a:r>
          </a:p>
          <a:p xmlns:a="http://schemas.openxmlformats.org/drawingml/2006/main">
            <a:r>
              <a:t>Backup video: https://merchantlens-paytm-412542191970.asia-south1.run.app/merchantlens-demo.mp4</a:t>
            </a:r>
          </a:p>
          <a:p xmlns:a="http://schemas.openxmlformats.org/drawingml/2006/main">
            <a:r>
              <a:t>The 3:44 backup uses typed synthetic answers and synthetic narration and predates the new voice controls. The partial English participant demonstration and current voice validation are documented separately.</a:t>
            </a:r>
          </a:p>
          <a:p xmlns:a="http://schemas.openxmlformats.org/drawingml/2006/main">
            <a:r>
              <a:t/>
            </a:r>
          </a:p>
          <a:p xmlns:a="http://schemas.openxmlformats.org/drawingml/2006/main">
            <a:r>
              <a:t>IMPLEMENTATION SOURCES</a:t>
            </a:r>
          </a:p>
          <a:p xmlns:a="http://schemas.openxmlformats.org/drawingml/2006/main">
            <a:r>
              <a:t>Public repository: https://github.com/gowtham66867/merchantlens-paytm (voice revision 7a794d2). Local implementation inspected on 18 October 2026. App: https://merchantlens-paytm-412542191970.asia-south1.run.app/ . No affiliation, production deployment within Paytm, or independently verified payment status is implied.</a:t>
            </a:r>
          </a:p>
          <a:p xmlns:a="http://schemas.openxmlformats.org/drawingml/2006/main">
            <a:r>
              <a:t/>
            </a:r>
          </a:p>
          <a:p xmlns:a="http://schemas.openxmlformats.org/drawingml/2006/main">
            <a:r>
              <a:t>CURRENT SUPPORT EXTENSION</a:t>
            </a:r>
          </a:p>
          <a:p xmlns:a="http://schemas.openxmlformats.org/drawingml/2006/main">
            <a:r>
              <a:t>Support history is manually entered, bounded to 20 notes, source-linked and carried into the current interview graph. Edits and human requests reset approvals. Two unresolved entries recommend a human review; no stage completion is required to request it. Public checkpoints are blocked. No Paytm records or ticket API is connected. Internal exports include history; anonymized exports omit free-text details. See https://github.com/gowtham66867/merchantlens-paytm/blob/main/docs/TECHNICAL-FEEDBACK.md and docs/SUPPORT-JOURNEY.md.</a:t>
            </a:r>
          </a:p>
          <a:p xmlns:a="http://schemas.openxmlformats.org/drawingml/2006/main">
            <a:r>
              <a:t/>
            </a:r>
          </a:p>
          <a:p xmlns:a="http://schemas.openxmlformats.org/drawingml/2006/main">
            <a:r>
              <a:t>PRIMARY CONTEXT</a:t>
            </a:r>
          </a:p>
          <a:p xmlns:a="http://schemas.openxmlformats.org/drawingml/2006/main">
            <a:r>
              <a:t>Paytm AI Soundbox: https://paytm.com/document/ir/press-release/AI-SB.pdf ; merchant channels: https://business.paytmpayments.com/contact-us . Published consumer grievance levels are not evidence of the five internal merchant-support layers. Repository implementation through c91a439, 18 October 2026.</a:t>
            </a:r>
          </a:p>
          <a:p xmlns:a="http://schemas.openxmlformats.org/drawingml/2006/main">
            <a:r>
              <a:t/>
            </a:r>
          </a:p>
          <a:p xmlns:a="http://schemas.openxmlformats.org/drawingml/2006/main">
            <a:r>
              <a:t>OPEN ITEMS</a:t>
            </a:r>
          </a:p>
          <a:p xmlns:a="http://schemas.openxmlformats.org/drawingml/2006/main">
            <a:r>
              <a:t>Confirm the actual support layers and authorized APIs. Persist the spoken-response preference after refresh. Benchmark real multilingual/noisy audio and live Gemini interview quality. Complete production identity, privacy/security, retention, distributed abuse/cost controls and a baseline pilot. Existing backup video is a historical typed-synthetic walkthrough.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349f7201d649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1c30751676245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db65cf83f84a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fcf2b544a443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ca279bbdad40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7ae82f5c7847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7E7BA0-FE78-4EF9-84E6-051E9FB50B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218978-9A61-4F25-A466-9CC90F5AFD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AAE20C-B5E8-4E3E-9637-7C4D4508DD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41CAB5-DBEF-4A35-A05B-6797CC5DE5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F45686-D1FF-4B00-B318-FFFC5048DA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379AC6-40E6-4618-8A4D-2C0E80E889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74FED5-3823-4325-8C1A-81AD6B7170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3CAECF-74FB-4686-9728-D02130CCDF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5C877F-FC13-4753-9AD8-966E5285AF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935D0C-AD31-41BE-B8D9-3FB4BE31BF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2fe0a9ed664884" /><Relationship Type="http://schemas.openxmlformats.org/officeDocument/2006/relationships/slideLayout" Target="/ppt/slideLayouts/slideLayout1.xml" Id="R4af5f0b18afd4af5" /><Relationship Type="http://schemas.openxmlformats.org/officeDocument/2006/relationships/slideLayout" Target="/ppt/slideLayouts/slideLayout2.xml" Id="Re3a463353d3d4e46" /><Relationship Type="http://schemas.openxmlformats.org/officeDocument/2006/relationships/slideLayout" Target="/ppt/slideLayouts/slideLayout3.xml" Id="R9ab1d60f60ed41c0" /><Relationship Type="http://schemas.openxmlformats.org/officeDocument/2006/relationships/slideLayout" Target="/ppt/slideLayouts/slideLayout4.xml" Id="Rc018d9c683864e72" /><Relationship Type="http://schemas.openxmlformats.org/officeDocument/2006/relationships/slideLayout" Target="/ppt/slideLayouts/slideLayout5.xml" Id="Rc870007d70144032" /><Relationship Type="http://schemas.openxmlformats.org/officeDocument/2006/relationships/slideLayout" Target="/ppt/slideLayouts/slideLayout6.xml" Id="R3ecec37450f842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f5f0b18afd4af5"/>
    <p:sldLayoutId xmlns:r="http://schemas.openxmlformats.org/officeDocument/2006/relationships" id="2147483650" r:id="Re3a463353d3d4e46"/>
    <p:sldLayoutId xmlns:r="http://schemas.openxmlformats.org/officeDocument/2006/relationships" id="2147483651" r:id="R9ab1d60f60ed41c0"/>
    <p:sldLayoutId xmlns:r="http://schemas.openxmlformats.org/officeDocument/2006/relationships" id="2147483652" r:id="Rc018d9c683864e72"/>
    <p:sldLayoutId xmlns:r="http://schemas.openxmlformats.org/officeDocument/2006/relationships" id="2147483653" r:id="Rc870007d70144032"/>
    <p:sldLayoutId xmlns:r="http://schemas.openxmlformats.org/officeDocument/2006/relationships" id="2147483654" r:id="R3ecec37450f842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9ec7749cf84fcd" /><Relationship Type="http://schemas.openxmlformats.org/officeDocument/2006/relationships/notesSlide" Target="/ppt/notesSlides/notesSlide1.xml" Id="R118764e8ff254f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c11f293ae645a2" /><Relationship Type="http://schemas.openxmlformats.org/officeDocument/2006/relationships/notesSlide" Target="/ppt/notesSlides/notesSlide2.xml" Id="R7b270fa1e81b48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2dd199f9cd4d5e" /><Relationship Type="http://schemas.openxmlformats.org/officeDocument/2006/relationships/image" Target="/ppt/media/image.jpeg" Id="R8e838d7a01a84460" /><Relationship Type="http://schemas.openxmlformats.org/officeDocument/2006/relationships/notesSlide" Target="/ppt/notesSlides/notesSlide3.xml" Id="Rf086088207244d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2bfe221214455f" /><Relationship Type="http://schemas.openxmlformats.org/officeDocument/2006/relationships/notesSlide" Target="/ppt/notesSlides/notesSlide4.xml" Id="R0ddfb1b1ff3847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2889b74c864cbb" /><Relationship Type="http://schemas.openxmlformats.org/officeDocument/2006/relationships/hyperlink" Target="https://merchantlens-paytm-412542191970.asia-south1.run.app/" TargetMode="External" Id="Rf1e52d33198e43bc" /><Relationship Type="http://schemas.openxmlformats.org/officeDocument/2006/relationships/hyperlink" Target="https://github.com/gowtham66867/merchantlens-paytm" TargetMode="External" Id="Rb9c24d9f00de465c" /><Relationship Type="http://schemas.openxmlformats.org/officeDocument/2006/relationships/hyperlink" Target="https://merchantlens-paytm-412542191970.asia-south1.run.app/" TargetMode="External" Id="Rb5ca311d0f354dd8" /><Relationship Type="http://schemas.openxmlformats.org/officeDocument/2006/relationships/hyperlink" Target="https://github.com/gowtham66867/merchantlens-paytm" TargetMode="External" Id="R425201b393f943a1" /><Relationship Type="http://schemas.openxmlformats.org/officeDocument/2006/relationships/hyperlink" Target="https://merchantlens-paytm-412542191970.asia-south1.run.app/merchantlens-demo.mp4" TargetMode="External" Id="R8dec0791f1e14393" /><Relationship Type="http://schemas.openxmlformats.org/officeDocument/2006/relationships/notesSlide" Target="/ppt/notesSlides/notesSlide5.xml" Id="R49051aba02954fe8" /></Relationships>
</file>

<file path=ppt/slides/slide1.xml><?xml version="1.0" encoding="utf-8"?>
<p:sld xmlns:p="http://schemas.openxmlformats.org/presentationml/2006/main">
  <p:cSld>
    <p:bg>
      <p:bgPr>
        <a:solidFill xmlns:a="http://schemas.openxmlformats.org/drawingml/2006/main">
          <a:srgbClr val="0B203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3DA20B-77A9-49C3-9E29-054303488A5D}"/>
              </a:ext>
            </a:extLst>
          </p:cNvPr>
          <p:cNvSpPr>
            <a:spLocks xmlns:a="http://schemas.openxmlformats.org/drawingml/2006/main" noGrp="1"/>
          </p:cNvSpPr>
          <p:nvPr/>
        </p:nvSpPr>
        <p:spPr>
          <a:xfrm xmlns:a="http://schemas.openxmlformats.org/drawingml/2006/main">
            <a:off x="685800" y="514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FFFFF"/>
                </a:solidFill>
                <a:latin typeface="Helvetica Neue"/>
                <a:ea typeface="Helvetica Neue"/>
                <a:cs typeface="Helvetica Neue"/>
              </a:defRPr>
            </a:defPPr>
            <a:lvl1pPr>
              <a:buNone/>
              <a:defRPr sz="4350" b="1">
                <a:solidFill>
                  <a:srgbClr val="FFFFFF"/>
                </a:solidFill>
                <a:latin typeface="Helvetica Neue"/>
                <a:ea typeface="Helvetica Neue"/>
                <a:cs typeface="Helvetica Neue"/>
              </a:defRPr>
            </a:lvl1pPr>
            <a:lvl2pPr>
              <a:buNone/>
              <a:defRPr sz="4350" b="1">
                <a:solidFill>
                  <a:srgbClr val="FFFFFF"/>
                </a:solidFill>
                <a:latin typeface="Helvetica Neue"/>
                <a:ea typeface="Helvetica Neue"/>
                <a:cs typeface="Helvetica Neue"/>
              </a:defRPr>
            </a:lvl2pPr>
            <a:lvl3pPr>
              <a:buNone/>
              <a:defRPr sz="4350" b="1">
                <a:solidFill>
                  <a:srgbClr val="FFFFFF"/>
                </a:solidFill>
                <a:latin typeface="Helvetica Neue"/>
                <a:ea typeface="Helvetica Neue"/>
                <a:cs typeface="Helvetica Neue"/>
              </a:defRPr>
            </a:lvl3pPr>
            <a:lvl4pPr>
              <a:buNone/>
              <a:defRPr sz="4350" b="1">
                <a:solidFill>
                  <a:srgbClr val="FFFFFF"/>
                </a:solidFill>
                <a:latin typeface="Helvetica Neue"/>
                <a:ea typeface="Helvetica Neue"/>
                <a:cs typeface="Helvetica Neue"/>
              </a:defRPr>
            </a:lvl4pPr>
            <a:lvl5pPr>
              <a:buNone/>
              <a:defRPr sz="4350" b="1">
                <a:solidFill>
                  <a:srgbClr val="FFFFFF"/>
                </a:solidFill>
                <a:latin typeface="Helvetica Neue"/>
                <a:ea typeface="Helvetica Neue"/>
                <a:cs typeface="Helvetica Neue"/>
              </a:defRPr>
            </a:lvl5pPr>
            <a:lvl6pPr>
              <a:buNone/>
              <a:defRPr sz="4350" b="1">
                <a:solidFill>
                  <a:srgbClr val="FFFFFF"/>
                </a:solidFill>
                <a:latin typeface="Helvetica Neue"/>
                <a:ea typeface="Helvetica Neue"/>
                <a:cs typeface="Helvetica Neue"/>
              </a:defRPr>
            </a:lvl6pPr>
            <a:lvl7pPr>
              <a:buNone/>
              <a:defRPr sz="4350" b="1">
                <a:solidFill>
                  <a:srgbClr val="FFFFFF"/>
                </a:solidFill>
                <a:latin typeface="Helvetica Neue"/>
                <a:ea typeface="Helvetica Neue"/>
                <a:cs typeface="Helvetica Neue"/>
              </a:defRPr>
            </a:lvl7pPr>
            <a:lvl8pPr>
              <a:buNone/>
              <a:defRPr sz="4350" b="1">
                <a:solidFill>
                  <a:srgbClr val="FFFFFF"/>
                </a:solidFill>
                <a:latin typeface="Helvetica Neue"/>
                <a:ea typeface="Helvetica Neue"/>
                <a:cs typeface="Helvetica Neue"/>
              </a:defRPr>
            </a:lvl8pPr>
            <a:lvl9pPr>
              <a:buNone/>
              <a:defRPr sz="4350" b="1">
                <a:solidFill>
                  <a:srgbClr val="FFFFFF"/>
                </a:solidFill>
                <a:latin typeface="Helvetica Neue"/>
                <a:ea typeface="Helvetica Neue"/>
                <a:cs typeface="Helvetica Neue"/>
              </a:defRPr>
            </a:lvl9pPr>
          </a:lstStyle>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MerchantLens</a:t>
            </a:r>
          </a:p>
        </p:txBody>
      </p:sp>
      <p:sp>
        <p:nvSpPr>
          <p:cNvPr id="2" name="">
            <a:extLst xmlns:a="http://schemas.openxmlformats.org/drawingml/2006/main">
              <a:ext uri="{FF2B5EF4-FFF2-40B4-BE49-F238E27FC236}">
                <a16:creationId xmlns:a16="http://schemas.microsoft.com/office/drawing/2014/main" id="{A21995DF-C701-4841-946F-A2E11E26EF36}"/>
              </a:ext>
            </a:extLst>
          </p:cNvPr>
          <p:cNvSpPr>
            <a:spLocks xmlns:a="http://schemas.openxmlformats.org/drawingml/2006/main" noGrp="1"/>
          </p:cNvSpPr>
          <p:nvPr/>
        </p:nvSpPr>
        <p:spPr>
          <a:xfrm xmlns:a="http://schemas.openxmlformats.org/drawingml/2006/main">
            <a:off x="723900" y="13239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B9D0DE"/>
                </a:solidFill>
                <a:latin typeface="Helvetica Neue"/>
                <a:ea typeface="Helvetica Neue"/>
                <a:cs typeface="Helvetica Neue"/>
              </a:defRPr>
            </a:defPPr>
            <a:lvl1pPr>
              <a:buNone/>
              <a:defRPr sz="5100" b="1">
                <a:solidFill>
                  <a:srgbClr val="FFFFFF"/>
                </a:solidFill>
                <a:latin typeface="Helvetica Neue"/>
                <a:ea typeface="Helvetica Neue"/>
                <a:cs typeface="Helvetica Neue"/>
              </a:defRPr>
            </a:lvl1pPr>
            <a:lvl2pPr>
              <a:buNone/>
              <a:defRPr sz="5100" b="1">
                <a:solidFill>
                  <a:srgbClr val="FFFFFF"/>
                </a:solidFill>
                <a:latin typeface="Helvetica Neue"/>
                <a:ea typeface="Helvetica Neue"/>
                <a:cs typeface="Helvetica Neue"/>
              </a:defRPr>
            </a:lvl2pPr>
            <a:lvl3pPr>
              <a:buNone/>
              <a:defRPr sz="5100" b="1">
                <a:solidFill>
                  <a:srgbClr val="FFFFFF"/>
                </a:solidFill>
                <a:latin typeface="Helvetica Neue"/>
                <a:ea typeface="Helvetica Neue"/>
                <a:cs typeface="Helvetica Neue"/>
              </a:defRPr>
            </a:lvl3pPr>
            <a:lvl4pPr>
              <a:buNone/>
              <a:defRPr sz="5100" b="1">
                <a:solidFill>
                  <a:srgbClr val="FFFFFF"/>
                </a:solidFill>
                <a:latin typeface="Helvetica Neue"/>
                <a:ea typeface="Helvetica Neue"/>
                <a:cs typeface="Helvetica Neue"/>
              </a:defRPr>
            </a:lvl4pPr>
            <a:lvl5pPr>
              <a:buNone/>
              <a:defRPr sz="5100" b="1">
                <a:solidFill>
                  <a:srgbClr val="FFFFFF"/>
                </a:solidFill>
                <a:latin typeface="Helvetica Neue"/>
                <a:ea typeface="Helvetica Neue"/>
                <a:cs typeface="Helvetica Neue"/>
              </a:defRPr>
            </a:lvl5pPr>
            <a:lvl6pPr>
              <a:buNone/>
              <a:defRPr sz="5100" b="1">
                <a:solidFill>
                  <a:srgbClr val="FFFFFF"/>
                </a:solidFill>
                <a:latin typeface="Helvetica Neue"/>
                <a:ea typeface="Helvetica Neue"/>
                <a:cs typeface="Helvetica Neue"/>
              </a:defRPr>
            </a:lvl6pPr>
            <a:lvl7pPr>
              <a:buNone/>
              <a:defRPr sz="5100" b="1">
                <a:solidFill>
                  <a:srgbClr val="FFFFFF"/>
                </a:solidFill>
                <a:latin typeface="Helvetica Neue"/>
                <a:ea typeface="Helvetica Neue"/>
                <a:cs typeface="Helvetica Neue"/>
              </a:defRPr>
            </a:lvl7pPr>
            <a:lvl8pPr>
              <a:buNone/>
              <a:defRPr sz="5100" b="1">
                <a:solidFill>
                  <a:srgbClr val="FFFFFF"/>
                </a:solidFill>
                <a:latin typeface="Helvetica Neue"/>
                <a:ea typeface="Helvetica Neue"/>
                <a:cs typeface="Helvetica Neue"/>
              </a:defRPr>
            </a:lvl8pPr>
            <a:lvl9pPr>
              <a:buNone/>
              <a:defRPr sz="5100" b="1">
                <a:solidFill>
                  <a:srgbClr val="FFFFFF"/>
                </a:solidFill>
                <a:latin typeface="Helvetica Neue"/>
                <a:ea typeface="Helvetica Neue"/>
                <a:cs typeface="Helvetica Neue"/>
              </a:defRPr>
            </a:lvl9pPr>
          </a:lstStyle>
          <a:p xmlns:a="http://schemas.openxmlformats.org/drawingml/2006/main">
            <a:pPr>
              <a:buNone/>
              <a:defRPr sz="2400" b="0">
                <a:solidFill>
                  <a:srgbClr val="B9D0DE"/>
                </a:solidFill>
                <a:latin typeface="Helvetica Neue"/>
                <a:ea typeface="Helvetica Neue"/>
                <a:cs typeface="Helvetica Neue"/>
              </a:defRPr>
            </a:pPr>
            <a:r>
              <a:rPr sz="2400" b="0">
                <a:solidFill>
                  <a:srgbClr val="B9D0DE"/>
                </a:solidFill>
                <a:latin typeface="Helvetica Neue"/>
                <a:ea typeface="Helvetica Neue"/>
                <a:cs typeface="Helvetica Neue"/>
              </a:rPr>
              <a:t>One merchant’s story, carried across support touchpoints</a:t>
            </a:r>
          </a:p>
        </p:txBody>
      </p:sp>
      <p:sp>
        <p:nvSpPr>
          <p:cNvPr id="3" name="">
            <a:extLst xmlns:a="http://schemas.openxmlformats.org/drawingml/2006/main">
              <a:ext uri="{FF2B5EF4-FFF2-40B4-BE49-F238E27FC236}">
                <a16:creationId xmlns:a16="http://schemas.microsoft.com/office/drawing/2014/main" id="{3FA55CFE-EC20-4803-9769-A43A55CFEE62}"/>
              </a:ext>
            </a:extLst>
          </p:cNvPr>
          <p:cNvSpPr>
            <a:spLocks xmlns:a="http://schemas.openxmlformats.org/drawingml/2006/main" noGrp="1"/>
          </p:cNvSpPr>
          <p:nvPr/>
        </p:nvSpPr>
        <p:spPr>
          <a:xfrm xmlns:a="http://schemas.openxmlformats.org/drawingml/2006/main">
            <a:off x="685800" y="20955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125" b="1">
                <a:solidFill>
                  <a:srgbClr val="FFFFFF"/>
                </a:solidFill>
                <a:latin typeface="Helvetica Neue"/>
                <a:ea typeface="Helvetica Neue"/>
                <a:cs typeface="Helvetica Neue"/>
              </a:defRPr>
            </a:defPPr>
            <a:lvl1pPr>
              <a:buNone/>
              <a:defRPr sz="2400" b="0">
                <a:solidFill>
                  <a:srgbClr val="B9D0DE"/>
                </a:solidFill>
                <a:latin typeface="Helvetica Neue"/>
                <a:ea typeface="Helvetica Neue"/>
                <a:cs typeface="Helvetica Neue"/>
              </a:defRPr>
            </a:lvl1pPr>
            <a:lvl2pPr>
              <a:buNone/>
              <a:defRPr sz="2400" b="0">
                <a:solidFill>
                  <a:srgbClr val="B9D0DE"/>
                </a:solidFill>
                <a:latin typeface="Helvetica Neue"/>
                <a:ea typeface="Helvetica Neue"/>
                <a:cs typeface="Helvetica Neue"/>
              </a:defRPr>
            </a:lvl2pPr>
            <a:lvl3pPr>
              <a:buNone/>
              <a:defRPr sz="2400" b="0">
                <a:solidFill>
                  <a:srgbClr val="B9D0DE"/>
                </a:solidFill>
                <a:latin typeface="Helvetica Neue"/>
                <a:ea typeface="Helvetica Neue"/>
                <a:cs typeface="Helvetica Neue"/>
              </a:defRPr>
            </a:lvl3pPr>
            <a:lvl4pPr>
              <a:buNone/>
              <a:defRPr sz="2400" b="0">
                <a:solidFill>
                  <a:srgbClr val="B9D0DE"/>
                </a:solidFill>
                <a:latin typeface="Helvetica Neue"/>
                <a:ea typeface="Helvetica Neue"/>
                <a:cs typeface="Helvetica Neue"/>
              </a:defRPr>
            </a:lvl4pPr>
            <a:lvl5pPr>
              <a:buNone/>
              <a:defRPr sz="2400" b="0">
                <a:solidFill>
                  <a:srgbClr val="B9D0DE"/>
                </a:solidFill>
                <a:latin typeface="Helvetica Neue"/>
                <a:ea typeface="Helvetica Neue"/>
                <a:cs typeface="Helvetica Neue"/>
              </a:defRPr>
            </a:lvl5pPr>
            <a:lvl6pPr>
              <a:buNone/>
              <a:defRPr sz="2400" b="0">
                <a:solidFill>
                  <a:srgbClr val="B9D0DE"/>
                </a:solidFill>
                <a:latin typeface="Helvetica Neue"/>
                <a:ea typeface="Helvetica Neue"/>
                <a:cs typeface="Helvetica Neue"/>
              </a:defRPr>
            </a:lvl6pPr>
            <a:lvl7pPr>
              <a:buNone/>
              <a:defRPr sz="2400" b="0">
                <a:solidFill>
                  <a:srgbClr val="B9D0DE"/>
                </a:solidFill>
                <a:latin typeface="Helvetica Neue"/>
                <a:ea typeface="Helvetica Neue"/>
                <a:cs typeface="Helvetica Neue"/>
              </a:defRPr>
            </a:lvl7pPr>
            <a:lvl8pPr>
              <a:buNone/>
              <a:defRPr sz="2400" b="0">
                <a:solidFill>
                  <a:srgbClr val="B9D0DE"/>
                </a:solidFill>
                <a:latin typeface="Helvetica Neue"/>
                <a:ea typeface="Helvetica Neue"/>
                <a:cs typeface="Helvetica Neue"/>
              </a:defRPr>
            </a:lvl8pPr>
            <a:lvl9pPr>
              <a:buNone/>
              <a:defRPr sz="2400" b="0">
                <a:solidFill>
                  <a:srgbClr val="B9D0DE"/>
                </a:solidFill>
                <a:latin typeface="Helvetica Neue"/>
                <a:ea typeface="Helvetica Neue"/>
                <a:cs typeface="Helvetica Neue"/>
              </a:defRPr>
            </a:lvl9pPr>
          </a:lstStyle>
          <a:p xmlns:a="http://schemas.openxmlformats.org/drawingml/2006/main">
            <a:pPr>
              <a:buNone/>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“I thought I lost ₹2,400.”</a:t>
            </a:r>
          </a:p>
        </p:txBody>
      </p:sp>
      <p:sp>
        <p:nvSpPr>
          <p:cNvPr id="4" name="">
            <a:extLst xmlns:a="http://schemas.openxmlformats.org/drawingml/2006/main">
              <a:ext uri="{FF2B5EF4-FFF2-40B4-BE49-F238E27FC236}">
                <a16:creationId xmlns:a16="http://schemas.microsoft.com/office/drawing/2014/main" id="{F2B0630A-5206-4665-8ECC-131017FE1CA7}"/>
              </a:ext>
            </a:extLst>
          </p:cNvPr>
          <p:cNvSpPr>
            <a:spLocks xmlns:a="http://schemas.openxmlformats.org/drawingml/2006/main" noGrp="1"/>
          </p:cNvSpPr>
          <p:nvPr/>
        </p:nvSpPr>
        <p:spPr>
          <a:xfrm xmlns:a="http://schemas.openxmlformats.org/drawingml/2006/main">
            <a:off x="723900" y="3162300"/>
            <a:ext cx="10429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buNone/>
              <a:defRPr sz="1950" b="1">
                <a:solidFill>
                  <a:srgbClr val="FFFFFF"/>
                </a:solidFill>
                <a:latin typeface="Helvetica Neue"/>
                <a:ea typeface="Helvetica Neue"/>
                <a:cs typeface="Helvetica Neue"/>
              </a:defRPr>
            </a:lvl1pPr>
            <a:lvl2pPr>
              <a:buNone/>
              <a:defRPr sz="1950" b="1">
                <a:solidFill>
                  <a:srgbClr val="FFFFFF"/>
                </a:solidFill>
                <a:latin typeface="Helvetica Neue"/>
                <a:ea typeface="Helvetica Neue"/>
                <a:cs typeface="Helvetica Neue"/>
              </a:defRPr>
            </a:lvl2pPr>
            <a:lvl3pPr>
              <a:buNone/>
              <a:defRPr sz="1950" b="1">
                <a:solidFill>
                  <a:srgbClr val="FFFFFF"/>
                </a:solidFill>
                <a:latin typeface="Helvetica Neue"/>
                <a:ea typeface="Helvetica Neue"/>
                <a:cs typeface="Helvetica Neue"/>
              </a:defRPr>
            </a:lvl3pPr>
            <a:lvl4pPr>
              <a:buNone/>
              <a:defRPr sz="1950" b="1">
                <a:solidFill>
                  <a:srgbClr val="FFFFFF"/>
                </a:solidFill>
                <a:latin typeface="Helvetica Neue"/>
                <a:ea typeface="Helvetica Neue"/>
                <a:cs typeface="Helvetica Neue"/>
              </a:defRPr>
            </a:lvl4pPr>
            <a:lvl5pPr>
              <a:buNone/>
              <a:defRPr sz="1950" b="1">
                <a:solidFill>
                  <a:srgbClr val="FFFFFF"/>
                </a:solidFill>
                <a:latin typeface="Helvetica Neue"/>
                <a:ea typeface="Helvetica Neue"/>
                <a:cs typeface="Helvetica Neue"/>
              </a:defRPr>
            </a:lvl5pPr>
            <a:lvl6pPr>
              <a:buNone/>
              <a:defRPr sz="1950" b="1">
                <a:solidFill>
                  <a:srgbClr val="FFFFFF"/>
                </a:solidFill>
                <a:latin typeface="Helvetica Neue"/>
                <a:ea typeface="Helvetica Neue"/>
                <a:cs typeface="Helvetica Neue"/>
              </a:defRPr>
            </a:lvl6pPr>
            <a:lvl7pPr>
              <a:buNone/>
              <a:defRPr sz="1950" b="1">
                <a:solidFill>
                  <a:srgbClr val="FFFFFF"/>
                </a:solidFill>
                <a:latin typeface="Helvetica Neue"/>
                <a:ea typeface="Helvetica Neue"/>
                <a:cs typeface="Helvetica Neue"/>
              </a:defRPr>
            </a:lvl7pPr>
            <a:lvl8pPr>
              <a:buNone/>
              <a:defRPr sz="1950" b="1">
                <a:solidFill>
                  <a:srgbClr val="FFFFFF"/>
                </a:solidFill>
                <a:latin typeface="Helvetica Neue"/>
                <a:ea typeface="Helvetica Neue"/>
                <a:cs typeface="Helvetica Neue"/>
              </a:defRPr>
            </a:lvl8pPr>
            <a:lvl9pPr>
              <a:buNone/>
              <a:defRPr sz="1950" b="1">
                <a:solidFill>
                  <a:srgbClr val="FFFFFF"/>
                </a:solidFill>
                <a:latin typeface="Helvetica Neue"/>
                <a:ea typeface="Helvetica Neue"/>
                <a:cs typeface="Helvetica Neue"/>
              </a:defRPr>
            </a:lvl9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Leader feedback: five layers before human support</a:t>
            </a:r>
          </a:p>
        </p:txBody>
      </p:sp>
      <p:sp>
        <p:nvSpPr>
          <p:cNvPr id="5" name="">
            <a:extLst xmlns:a="http://schemas.openxmlformats.org/drawingml/2006/main">
              <a:ext uri="{FF2B5EF4-FFF2-40B4-BE49-F238E27FC236}">
                <a16:creationId xmlns:a16="http://schemas.microsoft.com/office/drawing/2014/main" id="{B8258E20-B75C-49E9-A085-A827CAAA1513}"/>
              </a:ext>
            </a:extLst>
          </p:cNvPr>
          <p:cNvSpPr>
            <a:spLocks xmlns:a="http://schemas.openxmlformats.org/drawingml/2006/main" noGrp="1"/>
          </p:cNvSpPr>
          <p:nvPr/>
        </p:nvSpPr>
        <p:spPr>
          <a:xfrm xmlns:a="http://schemas.openxmlformats.org/drawingml/2006/main">
            <a:off x="723900" y="4010025"/>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D0DE"/>
                </a:solidFill>
                <a:latin typeface="Helvetica Neue"/>
                <a:ea typeface="Helvetica Neue"/>
                <a:cs typeface="Helvetica Neue"/>
              </a:defRPr>
            </a:defPPr>
            <a:lvl1pPr>
              <a:buNone/>
              <a:defRPr sz="1650" b="0">
                <a:solidFill>
                  <a:srgbClr val="B9D0DE"/>
                </a:solidFill>
                <a:latin typeface="Helvetica Neue"/>
                <a:ea typeface="Helvetica Neue"/>
                <a:cs typeface="Helvetica Neue"/>
              </a:defRPr>
            </a:lvl1pPr>
            <a:lvl2pPr>
              <a:buNone/>
              <a:defRPr sz="1650" b="0">
                <a:solidFill>
                  <a:srgbClr val="B9D0DE"/>
                </a:solidFill>
                <a:latin typeface="Helvetica Neue"/>
                <a:ea typeface="Helvetica Neue"/>
                <a:cs typeface="Helvetica Neue"/>
              </a:defRPr>
            </a:lvl2pPr>
            <a:lvl3pPr>
              <a:buNone/>
              <a:defRPr sz="1650" b="0">
                <a:solidFill>
                  <a:srgbClr val="B9D0DE"/>
                </a:solidFill>
                <a:latin typeface="Helvetica Neue"/>
                <a:ea typeface="Helvetica Neue"/>
                <a:cs typeface="Helvetica Neue"/>
              </a:defRPr>
            </a:lvl3pPr>
            <a:lvl4pPr>
              <a:buNone/>
              <a:defRPr sz="1650" b="0">
                <a:solidFill>
                  <a:srgbClr val="B9D0DE"/>
                </a:solidFill>
                <a:latin typeface="Helvetica Neue"/>
                <a:ea typeface="Helvetica Neue"/>
                <a:cs typeface="Helvetica Neue"/>
              </a:defRPr>
            </a:lvl4pPr>
            <a:lvl5pPr>
              <a:buNone/>
              <a:defRPr sz="1650" b="0">
                <a:solidFill>
                  <a:srgbClr val="B9D0DE"/>
                </a:solidFill>
                <a:latin typeface="Helvetica Neue"/>
                <a:ea typeface="Helvetica Neue"/>
                <a:cs typeface="Helvetica Neue"/>
              </a:defRPr>
            </a:lvl5pPr>
            <a:lvl6pPr>
              <a:buNone/>
              <a:defRPr sz="1650" b="0">
                <a:solidFill>
                  <a:srgbClr val="B9D0DE"/>
                </a:solidFill>
                <a:latin typeface="Helvetica Neue"/>
                <a:ea typeface="Helvetica Neue"/>
                <a:cs typeface="Helvetica Neue"/>
              </a:defRPr>
            </a:lvl6pPr>
            <a:lvl7pPr>
              <a:buNone/>
              <a:defRPr sz="1650" b="0">
                <a:solidFill>
                  <a:srgbClr val="B9D0DE"/>
                </a:solidFill>
                <a:latin typeface="Helvetica Neue"/>
                <a:ea typeface="Helvetica Neue"/>
                <a:cs typeface="Helvetica Neue"/>
              </a:defRPr>
            </a:lvl7pPr>
            <a:lvl8pPr>
              <a:buNone/>
              <a:defRPr sz="1650" b="0">
                <a:solidFill>
                  <a:srgbClr val="B9D0DE"/>
                </a:solidFill>
                <a:latin typeface="Helvetica Neue"/>
                <a:ea typeface="Helvetica Neue"/>
                <a:cs typeface="Helvetica Neue"/>
              </a:defRPr>
            </a:lvl8pPr>
            <a:lvl9pPr>
              <a:buNone/>
              <a:defRPr sz="1650" b="0">
                <a:solidFill>
                  <a:srgbClr val="B9D0DE"/>
                </a:solidFill>
                <a:latin typeface="Helvetica Neue"/>
                <a:ea typeface="Helvetica Neue"/>
                <a:cs typeface="Helvetica Neue"/>
              </a:defRPr>
            </a:lvl9pPr>
          </a:lstStyle>
          <a:p xmlns:a="http://schemas.openxmlformats.org/drawingml/2006/main">
            <a:pPr>
              <a:buNone/>
              <a:defRPr sz="1950" b="0">
                <a:solidFill>
                  <a:srgbClr val="B9D0DE"/>
                </a:solidFill>
                <a:latin typeface="Helvetica Neue"/>
                <a:ea typeface="Helvetica Neue"/>
                <a:cs typeface="Helvetica Neue"/>
              </a:defRPr>
            </a:pPr>
            <a:r>
              <a:rPr sz="1950" b="0">
                <a:solidFill>
                  <a:srgbClr val="B9D0DE"/>
                </a:solidFill>
                <a:latin typeface="Helvetica Neue"/>
                <a:ea typeface="Helvetica Neue"/>
                <a:cs typeface="Helvetica Neue"/>
              </a:rPr>
              <a:t>Design hypothesis: useful context should survive every touchpoint. Capture what was tried, retain the merchant’s evidence and make unresolved questions clear to the next reviewer.</a:t>
            </a:r>
          </a:p>
        </p:txBody>
      </p:sp>
      <p:sp>
        <p:nvSpPr>
          <p:cNvPr id="6" name="">
            <a:extLst xmlns:a="http://schemas.openxmlformats.org/drawingml/2006/main">
              <a:ext uri="{FF2B5EF4-FFF2-40B4-BE49-F238E27FC236}">
                <a16:creationId xmlns:a16="http://schemas.microsoft.com/office/drawing/2014/main" id="{15C8B53C-E591-41FC-AB88-0A7AC930E39A}"/>
              </a:ext>
            </a:extLst>
          </p:cNvPr>
          <p:cNvSpPr>
            <a:spLocks xmlns:a="http://schemas.openxmlformats.org/drawingml/2006/main" noGrp="1"/>
          </p:cNvSpPr>
          <p:nvPr/>
        </p:nvSpPr>
        <p:spPr>
          <a:xfrm xmlns:a="http://schemas.openxmlformats.org/drawingml/2006/main">
            <a:off x="723900" y="5219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FFFFFF"/>
                </a:solidFill>
                <a:latin typeface="Helvetica Neue"/>
                <a:ea typeface="Helvetica Neue"/>
                <a:cs typeface="Helvetica Neue"/>
              </a:defRPr>
            </a:defPPr>
            <a:lvl1pPr>
              <a:buNone/>
              <a:defRPr sz="1275" b="0">
                <a:solidFill>
                  <a:srgbClr val="B9D0DE"/>
                </a:solidFill>
                <a:latin typeface="Helvetica Neue"/>
                <a:ea typeface="Helvetica Neue"/>
                <a:cs typeface="Helvetica Neue"/>
              </a:defRPr>
            </a:lvl1pPr>
            <a:lvl2pPr>
              <a:buNone/>
              <a:defRPr sz="1275" b="0">
                <a:solidFill>
                  <a:srgbClr val="B9D0DE"/>
                </a:solidFill>
                <a:latin typeface="Helvetica Neue"/>
                <a:ea typeface="Helvetica Neue"/>
                <a:cs typeface="Helvetica Neue"/>
              </a:defRPr>
            </a:lvl2pPr>
            <a:lvl3pPr>
              <a:buNone/>
              <a:defRPr sz="1275" b="0">
                <a:solidFill>
                  <a:srgbClr val="B9D0DE"/>
                </a:solidFill>
                <a:latin typeface="Helvetica Neue"/>
                <a:ea typeface="Helvetica Neue"/>
                <a:cs typeface="Helvetica Neue"/>
              </a:defRPr>
            </a:lvl3pPr>
            <a:lvl4pPr>
              <a:buNone/>
              <a:defRPr sz="1275" b="0">
                <a:solidFill>
                  <a:srgbClr val="B9D0DE"/>
                </a:solidFill>
                <a:latin typeface="Helvetica Neue"/>
                <a:ea typeface="Helvetica Neue"/>
                <a:cs typeface="Helvetica Neue"/>
              </a:defRPr>
            </a:lvl4pPr>
            <a:lvl5pPr>
              <a:buNone/>
              <a:defRPr sz="1275" b="0">
                <a:solidFill>
                  <a:srgbClr val="B9D0DE"/>
                </a:solidFill>
                <a:latin typeface="Helvetica Neue"/>
                <a:ea typeface="Helvetica Neue"/>
                <a:cs typeface="Helvetica Neue"/>
              </a:defRPr>
            </a:lvl5pPr>
            <a:lvl6pPr>
              <a:buNone/>
              <a:defRPr sz="1275" b="0">
                <a:solidFill>
                  <a:srgbClr val="B9D0DE"/>
                </a:solidFill>
                <a:latin typeface="Helvetica Neue"/>
                <a:ea typeface="Helvetica Neue"/>
                <a:cs typeface="Helvetica Neue"/>
              </a:defRPr>
            </a:lvl6pPr>
            <a:lvl7pPr>
              <a:buNone/>
              <a:defRPr sz="1275" b="0">
                <a:solidFill>
                  <a:srgbClr val="B9D0DE"/>
                </a:solidFill>
                <a:latin typeface="Helvetica Neue"/>
                <a:ea typeface="Helvetica Neue"/>
                <a:cs typeface="Helvetica Neue"/>
              </a:defRPr>
            </a:lvl7pPr>
            <a:lvl8pPr>
              <a:buNone/>
              <a:defRPr sz="1275" b="0">
                <a:solidFill>
                  <a:srgbClr val="B9D0DE"/>
                </a:solidFill>
                <a:latin typeface="Helvetica Neue"/>
                <a:ea typeface="Helvetica Neue"/>
                <a:cs typeface="Helvetica Neue"/>
              </a:defRPr>
            </a:lvl8pPr>
            <a:lvl9pPr>
              <a:buNone/>
              <a:defRPr sz="1275" b="0">
                <a:solidFill>
                  <a:srgbClr val="B9D0DE"/>
                </a:solidFill>
                <a:latin typeface="Helvetica Neue"/>
                <a:ea typeface="Helvetica Neue"/>
                <a:cs typeface="Helvetica Neue"/>
              </a:defRPr>
            </a:lvl9pPr>
          </a:lstStyle>
          <a:p xmlns:a="http://schemas.openxmlformats.org/drawingml/2006/main">
            <a:pP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Technical response: source-linked history, bounded agents and reviewed handoffs</a:t>
            </a:r>
          </a:p>
        </p:txBody>
      </p:sp>
      <p:sp>
        <p:nvSpPr>
          <p:cNvPr id="8" name="">
            <a:extLst xmlns:a="http://schemas.openxmlformats.org/drawingml/2006/main">
              <a:ext uri="{FF2B5EF4-FFF2-40B4-BE49-F238E27FC236}">
                <a16:creationId xmlns:a16="http://schemas.microsoft.com/office/drawing/2014/main" id="{39945F00-509D-4B26-973B-AEE82FABDA07}"/>
              </a:ext>
            </a:extLst>
          </p:cNvPr>
          <p:cNvSpPr>
            <a:spLocks xmlns:a="http://schemas.openxmlformats.org/drawingml/2006/main" noGrp="1"/>
          </p:cNvSpPr>
          <p:nvPr/>
        </p:nvSpPr>
        <p:spPr>
          <a:xfrm xmlns:a="http://schemas.openxmlformats.org/drawingml/2006/main">
            <a:off x="723900" y="5924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D0DE"/>
                </a:solidFill>
                <a:latin typeface="Helvetica Neue"/>
                <a:ea typeface="Helvetica Neue"/>
                <a:cs typeface="Helvetica Neue"/>
              </a:defRPr>
            </a:defPPr>
            <a:lvl1pPr>
              <a:buNone/>
              <a:defRPr sz="1725" b="0">
                <a:solidFill>
                  <a:srgbClr val="B9D0DE"/>
                </a:solidFill>
                <a:latin typeface="Helvetica Neue"/>
                <a:ea typeface="Helvetica Neue"/>
                <a:cs typeface="Helvetica Neue"/>
              </a:defRPr>
            </a:lvl1pPr>
            <a:lvl2pPr>
              <a:buNone/>
              <a:defRPr sz="1725" b="0">
                <a:solidFill>
                  <a:srgbClr val="B9D0DE"/>
                </a:solidFill>
                <a:latin typeface="Helvetica Neue"/>
                <a:ea typeface="Helvetica Neue"/>
                <a:cs typeface="Helvetica Neue"/>
              </a:defRPr>
            </a:lvl2pPr>
            <a:lvl3pPr>
              <a:buNone/>
              <a:defRPr sz="1725" b="0">
                <a:solidFill>
                  <a:srgbClr val="B9D0DE"/>
                </a:solidFill>
                <a:latin typeface="Helvetica Neue"/>
                <a:ea typeface="Helvetica Neue"/>
                <a:cs typeface="Helvetica Neue"/>
              </a:defRPr>
            </a:lvl3pPr>
            <a:lvl4pPr>
              <a:buNone/>
              <a:defRPr sz="1725" b="0">
                <a:solidFill>
                  <a:srgbClr val="B9D0DE"/>
                </a:solidFill>
                <a:latin typeface="Helvetica Neue"/>
                <a:ea typeface="Helvetica Neue"/>
                <a:cs typeface="Helvetica Neue"/>
              </a:defRPr>
            </a:lvl4pPr>
            <a:lvl5pPr>
              <a:buNone/>
              <a:defRPr sz="1725" b="0">
                <a:solidFill>
                  <a:srgbClr val="B9D0DE"/>
                </a:solidFill>
                <a:latin typeface="Helvetica Neue"/>
                <a:ea typeface="Helvetica Neue"/>
                <a:cs typeface="Helvetica Neue"/>
              </a:defRPr>
            </a:lvl5pPr>
            <a:lvl6pPr>
              <a:buNone/>
              <a:defRPr sz="1725" b="0">
                <a:solidFill>
                  <a:srgbClr val="B9D0DE"/>
                </a:solidFill>
                <a:latin typeface="Helvetica Neue"/>
                <a:ea typeface="Helvetica Neue"/>
                <a:cs typeface="Helvetica Neue"/>
              </a:defRPr>
            </a:lvl6pPr>
            <a:lvl7pPr>
              <a:buNone/>
              <a:defRPr sz="1725" b="0">
                <a:solidFill>
                  <a:srgbClr val="B9D0DE"/>
                </a:solidFill>
                <a:latin typeface="Helvetica Neue"/>
                <a:ea typeface="Helvetica Neue"/>
                <a:cs typeface="Helvetica Neue"/>
              </a:defRPr>
            </a:lvl7pPr>
            <a:lvl8pPr>
              <a:buNone/>
              <a:defRPr sz="1725" b="0">
                <a:solidFill>
                  <a:srgbClr val="B9D0DE"/>
                </a:solidFill>
                <a:latin typeface="Helvetica Neue"/>
                <a:ea typeface="Helvetica Neue"/>
                <a:cs typeface="Helvetica Neue"/>
              </a:defRPr>
            </a:lvl8pPr>
            <a:lvl9pPr>
              <a:buNone/>
              <a:defRPr sz="1725" b="0">
                <a:solidFill>
                  <a:srgbClr val="B9D0DE"/>
                </a:solidFill>
                <a:latin typeface="Helvetica Neue"/>
                <a:ea typeface="Helvetica Neue"/>
                <a:cs typeface="Helvetica Neue"/>
              </a:defRPr>
            </a:lvl9pPr>
          </a:lstStyle>
          <a:p xmlns:a="http://schemas.openxmlformats.org/drawingml/2006/main">
            <a:pPr>
              <a:buNone/>
              <a:defRPr sz="1725" b="0">
                <a:solidFill>
                  <a:srgbClr val="B9D0DE"/>
                </a:solidFill>
                <a:latin typeface="Helvetica Neue"/>
                <a:ea typeface="Helvetica Neue"/>
                <a:cs typeface="Helvetica Neue"/>
              </a:defRPr>
            </a:pPr>
            <a:r>
              <a:rPr sz="1725" b="0">
                <a:solidFill>
                  <a:srgbClr val="B9D0DE"/>
                </a:solidFill>
                <a:latin typeface="Helvetica Neue"/>
                <a:ea typeface="Helvetica Neue"/>
                <a:cs typeface="Helvetica Neue"/>
              </a:rPr>
              <a:t>Gowtham Ramachandra · Solo builder · Paytm × AI Garage Buildathon</a:t>
            </a:r>
          </a:p>
        </p:txBody>
      </p:sp>
      <p:sp>
        <p:nvSpPr>
          <p:cNvPr id="9" name="">
            <a:extLst xmlns:a="http://schemas.openxmlformats.org/drawingml/2006/main">
              <a:ext uri="{FF2B5EF4-FFF2-40B4-BE49-F238E27FC236}">
                <a16:creationId xmlns:a16="http://schemas.microsoft.com/office/drawing/2014/main" id="{64BE0F87-7FD1-4A89-BB3D-90940D905232}"/>
              </a:ext>
            </a:extLst>
          </p:cNvPr>
          <p:cNvSpPr>
            <a:spLocks xmlns:a="http://schemas.openxmlformats.org/drawingml/2006/main" noGrp="1"/>
          </p:cNvSpPr>
          <p:nvPr/>
        </p:nvSpPr>
        <p:spPr>
          <a:xfrm xmlns:a="http://schemas.openxmlformats.org/drawingml/2006/main">
            <a:off x="723900" y="6419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B9D0DE"/>
                </a:solidFill>
                <a:latin typeface="Helvetica Neue"/>
                <a:ea typeface="Helvetica Neue"/>
                <a:cs typeface="Helvetica Neue"/>
              </a:defRPr>
            </a:defPPr>
            <a:lvl1pPr>
              <a:buNone/>
              <a:defRPr sz="1275" b="0">
                <a:solidFill>
                  <a:srgbClr val="B9D0DE"/>
                </a:solidFill>
                <a:latin typeface="Helvetica Neue"/>
                <a:ea typeface="Helvetica Neue"/>
                <a:cs typeface="Helvetica Neue"/>
              </a:defRPr>
            </a:lvl1pPr>
            <a:lvl2pPr>
              <a:buNone/>
              <a:defRPr sz="1275" b="0">
                <a:solidFill>
                  <a:srgbClr val="B9D0DE"/>
                </a:solidFill>
                <a:latin typeface="Helvetica Neue"/>
                <a:ea typeface="Helvetica Neue"/>
                <a:cs typeface="Helvetica Neue"/>
              </a:defRPr>
            </a:lvl2pPr>
            <a:lvl3pPr>
              <a:buNone/>
              <a:defRPr sz="1275" b="0">
                <a:solidFill>
                  <a:srgbClr val="B9D0DE"/>
                </a:solidFill>
                <a:latin typeface="Helvetica Neue"/>
                <a:ea typeface="Helvetica Neue"/>
                <a:cs typeface="Helvetica Neue"/>
              </a:defRPr>
            </a:lvl3pPr>
            <a:lvl4pPr>
              <a:buNone/>
              <a:defRPr sz="1275" b="0">
                <a:solidFill>
                  <a:srgbClr val="B9D0DE"/>
                </a:solidFill>
                <a:latin typeface="Helvetica Neue"/>
                <a:ea typeface="Helvetica Neue"/>
                <a:cs typeface="Helvetica Neue"/>
              </a:defRPr>
            </a:lvl4pPr>
            <a:lvl5pPr>
              <a:buNone/>
              <a:defRPr sz="1275" b="0">
                <a:solidFill>
                  <a:srgbClr val="B9D0DE"/>
                </a:solidFill>
                <a:latin typeface="Helvetica Neue"/>
                <a:ea typeface="Helvetica Neue"/>
                <a:cs typeface="Helvetica Neue"/>
              </a:defRPr>
            </a:lvl5pPr>
            <a:lvl6pPr>
              <a:buNone/>
              <a:defRPr sz="1275" b="0">
                <a:solidFill>
                  <a:srgbClr val="B9D0DE"/>
                </a:solidFill>
                <a:latin typeface="Helvetica Neue"/>
                <a:ea typeface="Helvetica Neue"/>
                <a:cs typeface="Helvetica Neue"/>
              </a:defRPr>
            </a:lvl6pPr>
            <a:lvl7pPr>
              <a:buNone/>
              <a:defRPr sz="1275" b="0">
                <a:solidFill>
                  <a:srgbClr val="B9D0DE"/>
                </a:solidFill>
                <a:latin typeface="Helvetica Neue"/>
                <a:ea typeface="Helvetica Neue"/>
                <a:cs typeface="Helvetica Neue"/>
              </a:defRPr>
            </a:lvl7pPr>
            <a:lvl8pPr>
              <a:buNone/>
              <a:defRPr sz="1275" b="0">
                <a:solidFill>
                  <a:srgbClr val="B9D0DE"/>
                </a:solidFill>
                <a:latin typeface="Helvetica Neue"/>
                <a:ea typeface="Helvetica Neue"/>
                <a:cs typeface="Helvetica Neue"/>
              </a:defRPr>
            </a:lvl8pPr>
            <a:lvl9pPr>
              <a:buNone/>
              <a:defRPr sz="1275" b="0">
                <a:solidFill>
                  <a:srgbClr val="B9D0DE"/>
                </a:solidFill>
                <a:latin typeface="Helvetica Neue"/>
                <a:ea typeface="Helvetica Neue"/>
                <a:cs typeface="Helvetica Neue"/>
              </a:defRPr>
            </a:lvl9pPr>
          </a:lstStyle>
          <a:p xmlns:a="http://schemas.openxmlformats.org/drawingml/2006/main">
            <a:pPr>
              <a:buNone/>
              <a:defRPr sz="1275" b="0">
                <a:solidFill>
                  <a:srgbClr val="B9D0DE"/>
                </a:solidFill>
                <a:latin typeface="Helvetica Neue"/>
                <a:ea typeface="Helvetica Neue"/>
                <a:cs typeface="Helvetica Neue"/>
              </a:defRPr>
            </a:pPr>
            <a:r>
              <a:rPr sz="1275" b="0">
                <a:solidFill>
                  <a:srgbClr val="B9D0DE"/>
                </a:solidFill>
                <a:latin typeface="Helvetica Neue"/>
                <a:ea typeface="Helvetica Neue"/>
                <a:cs typeface="Helvetica Neue"/>
              </a:rPr>
              <a:t>Five layers: user-reported leader feedback; exact mapping unverified. No Paytm APIs connected.</a:t>
            </a:r>
          </a:p>
        </p:txBody>
      </p:sp>
    </p:spTree>
    <p:extLst>
      <p:ext uri="{BB962C8B-B14F-4D97-AF65-F5344CB8AC3E}">
        <p14:creationId xmlns:p14="http://schemas.microsoft.com/office/powerpoint/2010/main" val="1321911904"/>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8CB17D7-8C76-4ADC-B53A-6DC20473C389}"/>
              </a:ext>
            </a:extLst>
          </p:cNvPr>
          <p:cNvSpPr>
            <a:spLocks xmlns:a="http://schemas.openxmlformats.org/drawingml/2006/main" noGrp="1"/>
          </p:cNvSpPr>
          <p:nvPr/>
        </p:nvSpPr>
        <p:spPr>
          <a:xfrm xmlns:a="http://schemas.openxmlformats.org/drawingml/2006/main">
            <a:off x="685800" y="5334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02F43"/>
                </a:solidFill>
                <a:latin typeface="Helvetica Neue"/>
                <a:ea typeface="Helvetica Neue"/>
                <a:cs typeface="Helvetica Neue"/>
              </a:defRPr>
            </a:defPPr>
            <a:lvl1pPr>
              <a:buNone/>
              <a:defRPr sz="3450" b="1">
                <a:solidFill>
                  <a:srgbClr val="102F43"/>
                </a:solidFill>
                <a:latin typeface="Helvetica Neue"/>
                <a:ea typeface="Helvetica Neue"/>
                <a:cs typeface="Helvetica Neue"/>
              </a:defRPr>
            </a:lvl1pPr>
            <a:lvl2pPr>
              <a:buNone/>
              <a:defRPr sz="3450" b="1">
                <a:solidFill>
                  <a:srgbClr val="102F43"/>
                </a:solidFill>
                <a:latin typeface="Helvetica Neue"/>
                <a:ea typeface="Helvetica Neue"/>
                <a:cs typeface="Helvetica Neue"/>
              </a:defRPr>
            </a:lvl2pPr>
            <a:lvl3pPr>
              <a:buNone/>
              <a:defRPr sz="3450" b="1">
                <a:solidFill>
                  <a:srgbClr val="102F43"/>
                </a:solidFill>
                <a:latin typeface="Helvetica Neue"/>
                <a:ea typeface="Helvetica Neue"/>
                <a:cs typeface="Helvetica Neue"/>
              </a:defRPr>
            </a:lvl3pPr>
            <a:lvl4pPr>
              <a:buNone/>
              <a:defRPr sz="3450" b="1">
                <a:solidFill>
                  <a:srgbClr val="102F43"/>
                </a:solidFill>
                <a:latin typeface="Helvetica Neue"/>
                <a:ea typeface="Helvetica Neue"/>
                <a:cs typeface="Helvetica Neue"/>
              </a:defRPr>
            </a:lvl4pPr>
            <a:lvl5pPr>
              <a:buNone/>
              <a:defRPr sz="3450" b="1">
                <a:solidFill>
                  <a:srgbClr val="102F43"/>
                </a:solidFill>
                <a:latin typeface="Helvetica Neue"/>
                <a:ea typeface="Helvetica Neue"/>
                <a:cs typeface="Helvetica Neue"/>
              </a:defRPr>
            </a:lvl5pPr>
            <a:lvl6pPr>
              <a:buNone/>
              <a:defRPr sz="3450" b="1">
                <a:solidFill>
                  <a:srgbClr val="102F43"/>
                </a:solidFill>
                <a:latin typeface="Helvetica Neue"/>
                <a:ea typeface="Helvetica Neue"/>
                <a:cs typeface="Helvetica Neue"/>
              </a:defRPr>
            </a:lvl6pPr>
            <a:lvl7pPr>
              <a:buNone/>
              <a:defRPr sz="3450" b="1">
                <a:solidFill>
                  <a:srgbClr val="102F43"/>
                </a:solidFill>
                <a:latin typeface="Helvetica Neue"/>
                <a:ea typeface="Helvetica Neue"/>
                <a:cs typeface="Helvetica Neue"/>
              </a:defRPr>
            </a:lvl7pPr>
            <a:lvl8pPr>
              <a:buNone/>
              <a:defRPr sz="3450" b="1">
                <a:solidFill>
                  <a:srgbClr val="102F43"/>
                </a:solidFill>
                <a:latin typeface="Helvetica Neue"/>
                <a:ea typeface="Helvetica Neue"/>
                <a:cs typeface="Helvetica Neue"/>
              </a:defRPr>
            </a:lvl8pPr>
            <a:lvl9pPr>
              <a:buNone/>
              <a:defRPr sz="3450" b="1">
                <a:solidFill>
                  <a:srgbClr val="102F43"/>
                </a:solidFill>
                <a:latin typeface="Helvetica Neue"/>
                <a:ea typeface="Helvetica Neue"/>
                <a:cs typeface="Helvetica Neue"/>
              </a:defRPr>
            </a:lvl9pPr>
          </a:lstStyle>
          <a:p xmlns:a="http://schemas.openxmlformats.org/drawingml/2006/main">
            <a:pPr>
              <a:buNone/>
              <a:defRPr sz="3300" b="1">
                <a:solidFill>
                  <a:srgbClr val="102F43"/>
                </a:solidFill>
                <a:latin typeface="Helvetica Neue"/>
                <a:ea typeface="Helvetica Neue"/>
                <a:cs typeface="Helvetica Neue"/>
              </a:defRPr>
            </a:pPr>
            <a:r>
              <a:rPr sz="3300" b="1">
                <a:solidFill>
                  <a:srgbClr val="102F43"/>
                </a:solidFill>
                <a:latin typeface="Helvetica Neue"/>
                <a:ea typeface="Helvetica Neue"/>
                <a:cs typeface="Helvetica Neue"/>
              </a:rPr>
              <a:t>Evidence that survives the handoff</a:t>
            </a:r>
          </a:p>
        </p:txBody>
      </p:sp>
      <p:sp>
        <p:nvSpPr>
          <p:cNvPr id="2" name="">
            <a:extLst xmlns:a="http://schemas.openxmlformats.org/drawingml/2006/main">
              <a:ext uri="{FF2B5EF4-FFF2-40B4-BE49-F238E27FC236}">
                <a16:creationId xmlns:a16="http://schemas.microsoft.com/office/drawing/2014/main" id="{D453F48F-7506-4B8A-A3ED-1CE585FBF2C6}"/>
              </a:ext>
            </a:extLst>
          </p:cNvPr>
          <p:cNvSpPr>
            <a:spLocks xmlns:a="http://schemas.openxmlformats.org/drawingml/2006/main" noGrp="1"/>
          </p:cNvSpPr>
          <p:nvPr/>
        </p:nvSpPr>
        <p:spPr>
          <a:xfrm xmlns:a="http://schemas.openxmlformats.org/drawingml/2006/main">
            <a:off x="704850" y="14097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A9D6"/>
                </a:solidFill>
                <a:latin typeface="Helvetica Neue"/>
                <a:ea typeface="Helvetica Neue"/>
                <a:cs typeface="Helvetica Neue"/>
              </a:defRPr>
            </a:defPPr>
            <a:lvl1pPr>
              <a:buNone/>
              <a:defRPr sz="2250" b="1">
                <a:solidFill>
                  <a:srgbClr val="00A9D6"/>
                </a:solidFill>
                <a:latin typeface="Helvetica Neue"/>
                <a:ea typeface="Helvetica Neue"/>
                <a:cs typeface="Helvetica Neue"/>
              </a:defRPr>
            </a:lvl1pPr>
            <a:lvl2pPr>
              <a:buNone/>
              <a:defRPr sz="2250" b="1">
                <a:solidFill>
                  <a:srgbClr val="00A9D6"/>
                </a:solidFill>
                <a:latin typeface="Helvetica Neue"/>
                <a:ea typeface="Helvetica Neue"/>
                <a:cs typeface="Helvetica Neue"/>
              </a:defRPr>
            </a:lvl2pPr>
            <a:lvl3pPr>
              <a:buNone/>
              <a:defRPr sz="2250" b="1">
                <a:solidFill>
                  <a:srgbClr val="00A9D6"/>
                </a:solidFill>
                <a:latin typeface="Helvetica Neue"/>
                <a:ea typeface="Helvetica Neue"/>
                <a:cs typeface="Helvetica Neue"/>
              </a:defRPr>
            </a:lvl3pPr>
            <a:lvl4pPr>
              <a:buNone/>
              <a:defRPr sz="2250" b="1">
                <a:solidFill>
                  <a:srgbClr val="00A9D6"/>
                </a:solidFill>
                <a:latin typeface="Helvetica Neue"/>
                <a:ea typeface="Helvetica Neue"/>
                <a:cs typeface="Helvetica Neue"/>
              </a:defRPr>
            </a:lvl4pPr>
            <a:lvl5pPr>
              <a:buNone/>
              <a:defRPr sz="2250" b="1">
                <a:solidFill>
                  <a:srgbClr val="00A9D6"/>
                </a:solidFill>
                <a:latin typeface="Helvetica Neue"/>
                <a:ea typeface="Helvetica Neue"/>
                <a:cs typeface="Helvetica Neue"/>
              </a:defRPr>
            </a:lvl5pPr>
            <a:lvl6pPr>
              <a:buNone/>
              <a:defRPr sz="2250" b="1">
                <a:solidFill>
                  <a:srgbClr val="00A9D6"/>
                </a:solidFill>
                <a:latin typeface="Helvetica Neue"/>
                <a:ea typeface="Helvetica Neue"/>
                <a:cs typeface="Helvetica Neue"/>
              </a:defRPr>
            </a:lvl6pPr>
            <a:lvl7pPr>
              <a:buNone/>
              <a:defRPr sz="2250" b="1">
                <a:solidFill>
                  <a:srgbClr val="00A9D6"/>
                </a:solidFill>
                <a:latin typeface="Helvetica Neue"/>
                <a:ea typeface="Helvetica Neue"/>
                <a:cs typeface="Helvetica Neue"/>
              </a:defRPr>
            </a:lvl7pPr>
            <a:lvl8pPr>
              <a:buNone/>
              <a:defRPr sz="2250" b="1">
                <a:solidFill>
                  <a:srgbClr val="00A9D6"/>
                </a:solidFill>
                <a:latin typeface="Helvetica Neue"/>
                <a:ea typeface="Helvetica Neue"/>
                <a:cs typeface="Helvetica Neue"/>
              </a:defRPr>
            </a:lvl8pPr>
            <a:lvl9pPr>
              <a:buNone/>
              <a:defRPr sz="2250" b="1">
                <a:solidFill>
                  <a:srgbClr val="00A9D6"/>
                </a:solidFill>
                <a:latin typeface="Helvetica Neue"/>
                <a:ea typeface="Helvetica Neue"/>
                <a:cs typeface="Helvetica Neue"/>
              </a:defRPr>
            </a:lvl9pPr>
          </a:lstStyle>
          <a:p xmlns:a="http://schemas.openxmlformats.org/drawingml/2006/main">
            <a:pPr>
              <a:buNone/>
              <a:defRPr sz="2175" b="1">
                <a:solidFill>
                  <a:srgbClr val="00A9D6"/>
                </a:solidFill>
                <a:latin typeface="Helvetica Neue"/>
                <a:ea typeface="Helvetica Neue"/>
                <a:cs typeface="Helvetica Neue"/>
              </a:defRPr>
            </a:pPr>
            <a:r>
              <a:rPr sz="2175" b="1">
                <a:solidFill>
                  <a:srgbClr val="00A9D6"/>
                </a:solidFill>
                <a:latin typeface="Helvetica Neue"/>
                <a:ea typeface="Helvetica Neue"/>
                <a:cs typeface="Helvetica Neue"/>
              </a:rPr>
              <a:t>Separate three payment signals</a:t>
            </a:r>
          </a:p>
        </p:txBody>
      </p:sp>
      <p:sp>
        <p:nvSpPr>
          <p:cNvPr id="3" name="">
            <a:extLst xmlns:a="http://schemas.openxmlformats.org/drawingml/2006/main">
              <a:ext uri="{FF2B5EF4-FFF2-40B4-BE49-F238E27FC236}">
                <a16:creationId xmlns:a16="http://schemas.microsoft.com/office/drawing/2014/main" id="{68399BCF-E03B-490B-8EFA-CA17D77844DC}"/>
              </a:ext>
            </a:extLst>
          </p:cNvPr>
          <p:cNvSpPr>
            <a:spLocks xmlns:a="http://schemas.openxmlformats.org/drawingml/2006/main" noGrp="1"/>
          </p:cNvSpPr>
          <p:nvPr/>
        </p:nvSpPr>
        <p:spPr>
          <a:xfrm xmlns:a="http://schemas.openxmlformats.org/drawingml/2006/main">
            <a:off x="704850" y="20193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02F43"/>
                </a:solidFill>
                <a:latin typeface="Helvetica Neue"/>
                <a:ea typeface="Helvetica Neue"/>
                <a:cs typeface="Helvetica Neue"/>
              </a:defRPr>
            </a:defPPr>
            <a:lvl1pPr>
              <a:buNone/>
              <a:defRPr sz="2325" b="1">
                <a:solidFill>
                  <a:srgbClr val="102F43"/>
                </a:solidFill>
                <a:latin typeface="Helvetica Neue"/>
                <a:ea typeface="Helvetica Neue"/>
                <a:cs typeface="Helvetica Neue"/>
              </a:defRPr>
            </a:lvl1pPr>
            <a:lvl2pPr>
              <a:buNone/>
              <a:defRPr sz="2325" b="1">
                <a:solidFill>
                  <a:srgbClr val="102F43"/>
                </a:solidFill>
                <a:latin typeface="Helvetica Neue"/>
                <a:ea typeface="Helvetica Neue"/>
                <a:cs typeface="Helvetica Neue"/>
              </a:defRPr>
            </a:lvl2pPr>
            <a:lvl3pPr>
              <a:buNone/>
              <a:defRPr sz="2325" b="1">
                <a:solidFill>
                  <a:srgbClr val="102F43"/>
                </a:solidFill>
                <a:latin typeface="Helvetica Neue"/>
                <a:ea typeface="Helvetica Neue"/>
                <a:cs typeface="Helvetica Neue"/>
              </a:defRPr>
            </a:lvl3pPr>
            <a:lvl4pPr>
              <a:buNone/>
              <a:defRPr sz="2325" b="1">
                <a:solidFill>
                  <a:srgbClr val="102F43"/>
                </a:solidFill>
                <a:latin typeface="Helvetica Neue"/>
                <a:ea typeface="Helvetica Neue"/>
                <a:cs typeface="Helvetica Neue"/>
              </a:defRPr>
            </a:lvl4pPr>
            <a:lvl5pPr>
              <a:buNone/>
              <a:defRPr sz="2325" b="1">
                <a:solidFill>
                  <a:srgbClr val="102F43"/>
                </a:solidFill>
                <a:latin typeface="Helvetica Neue"/>
                <a:ea typeface="Helvetica Neue"/>
                <a:cs typeface="Helvetica Neue"/>
              </a:defRPr>
            </a:lvl5pPr>
            <a:lvl6pPr>
              <a:buNone/>
              <a:defRPr sz="2325" b="1">
                <a:solidFill>
                  <a:srgbClr val="102F43"/>
                </a:solidFill>
                <a:latin typeface="Helvetica Neue"/>
                <a:ea typeface="Helvetica Neue"/>
                <a:cs typeface="Helvetica Neue"/>
              </a:defRPr>
            </a:lvl6pPr>
            <a:lvl7pPr>
              <a:buNone/>
              <a:defRPr sz="2325" b="1">
                <a:solidFill>
                  <a:srgbClr val="102F43"/>
                </a:solidFill>
                <a:latin typeface="Helvetica Neue"/>
                <a:ea typeface="Helvetica Neue"/>
                <a:cs typeface="Helvetica Neue"/>
              </a:defRPr>
            </a:lvl7pPr>
            <a:lvl8pPr>
              <a:buNone/>
              <a:defRPr sz="2325" b="1">
                <a:solidFill>
                  <a:srgbClr val="102F43"/>
                </a:solidFill>
                <a:latin typeface="Helvetica Neue"/>
                <a:ea typeface="Helvetica Neue"/>
                <a:cs typeface="Helvetica Neue"/>
              </a:defRPr>
            </a:lvl8pPr>
            <a:lvl9pPr>
              <a:buNone/>
              <a:defRPr sz="2325" b="1">
                <a:solidFill>
                  <a:srgbClr val="102F43"/>
                </a:solidFill>
                <a:latin typeface="Helvetica Neue"/>
                <a:ea typeface="Helvetica Neue"/>
                <a:cs typeface="Helvetica Neue"/>
              </a:defRPr>
            </a:lvl9pPr>
          </a:lstStyle>
          <a:p xmlns:a="http://schemas.openxmlformats.org/drawingml/2006/main">
            <a:pPr>
              <a:buNone/>
              <a:defRPr sz="2025" b="1">
                <a:solidFill>
                  <a:srgbClr val="102F43"/>
                </a:solidFill>
                <a:latin typeface="Helvetica Neue"/>
                <a:ea typeface="Helvetica Neue"/>
                <a:cs typeface="Helvetica Neue"/>
              </a:defRPr>
            </a:pPr>
            <a:r>
              <a:rPr sz="2025" b="1">
                <a:solidFill>
                  <a:srgbClr val="102F43"/>
                </a:solidFill>
                <a:latin typeface="Helvetica Neue"/>
                <a:ea typeface="Helvetica Neue"/>
                <a:cs typeface="Helvetica Neue"/>
              </a:rPr>
              <a:t>Payment record</a:t>
            </a:r>
          </a:p>
        </p:txBody>
      </p:sp>
      <p:sp>
        <p:nvSpPr>
          <p:cNvPr id="4" name="">
            <a:extLst xmlns:a="http://schemas.openxmlformats.org/drawingml/2006/main">
              <a:ext uri="{FF2B5EF4-FFF2-40B4-BE49-F238E27FC236}">
                <a16:creationId xmlns:a16="http://schemas.microsoft.com/office/drawing/2014/main" id="{0601FB16-0850-4FE5-9617-B0D6ED1790F0}"/>
              </a:ext>
            </a:extLst>
          </p:cNvPr>
          <p:cNvSpPr>
            <a:spLocks xmlns:a="http://schemas.openxmlformats.org/drawingml/2006/main" noGrp="1"/>
          </p:cNvSpPr>
          <p:nvPr/>
        </p:nvSpPr>
        <p:spPr>
          <a:xfrm xmlns:a="http://schemas.openxmlformats.org/drawingml/2006/main">
            <a:off x="704850" y="2419350"/>
            <a:ext cx="5095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B7C"/>
                </a:solidFill>
                <a:latin typeface="Helvetica Neue"/>
                <a:ea typeface="Helvetica Neue"/>
                <a:cs typeface="Helvetica Neue"/>
              </a:defRPr>
            </a:defPPr>
            <a:lvl1pPr>
              <a:buNone/>
              <a:defRPr sz="1875" b="0">
                <a:solidFill>
                  <a:srgbClr val="526B7C"/>
                </a:solidFill>
                <a:latin typeface="Helvetica Neue"/>
                <a:ea typeface="Helvetica Neue"/>
                <a:cs typeface="Helvetica Neue"/>
              </a:defRPr>
            </a:lvl1pPr>
            <a:lvl2pPr>
              <a:buNone/>
              <a:defRPr sz="1875" b="0">
                <a:solidFill>
                  <a:srgbClr val="526B7C"/>
                </a:solidFill>
                <a:latin typeface="Helvetica Neue"/>
                <a:ea typeface="Helvetica Neue"/>
                <a:cs typeface="Helvetica Neue"/>
              </a:defRPr>
            </a:lvl2pPr>
            <a:lvl3pPr>
              <a:buNone/>
              <a:defRPr sz="1875" b="0">
                <a:solidFill>
                  <a:srgbClr val="526B7C"/>
                </a:solidFill>
                <a:latin typeface="Helvetica Neue"/>
                <a:ea typeface="Helvetica Neue"/>
                <a:cs typeface="Helvetica Neue"/>
              </a:defRPr>
            </a:lvl3pPr>
            <a:lvl4pPr>
              <a:buNone/>
              <a:defRPr sz="1875" b="0">
                <a:solidFill>
                  <a:srgbClr val="526B7C"/>
                </a:solidFill>
                <a:latin typeface="Helvetica Neue"/>
                <a:ea typeface="Helvetica Neue"/>
                <a:cs typeface="Helvetica Neue"/>
              </a:defRPr>
            </a:lvl4pPr>
            <a:lvl5pPr>
              <a:buNone/>
              <a:defRPr sz="1875" b="0">
                <a:solidFill>
                  <a:srgbClr val="526B7C"/>
                </a:solidFill>
                <a:latin typeface="Helvetica Neue"/>
                <a:ea typeface="Helvetica Neue"/>
                <a:cs typeface="Helvetica Neue"/>
              </a:defRPr>
            </a:lvl5pPr>
            <a:lvl6pPr>
              <a:buNone/>
              <a:defRPr sz="1875" b="0">
                <a:solidFill>
                  <a:srgbClr val="526B7C"/>
                </a:solidFill>
                <a:latin typeface="Helvetica Neue"/>
                <a:ea typeface="Helvetica Neue"/>
                <a:cs typeface="Helvetica Neue"/>
              </a:defRPr>
            </a:lvl6pPr>
            <a:lvl7pPr>
              <a:buNone/>
              <a:defRPr sz="1875" b="0">
                <a:solidFill>
                  <a:srgbClr val="526B7C"/>
                </a:solidFill>
                <a:latin typeface="Helvetica Neue"/>
                <a:ea typeface="Helvetica Neue"/>
                <a:cs typeface="Helvetica Neue"/>
              </a:defRPr>
            </a:lvl7pPr>
            <a:lvl8pPr>
              <a:buNone/>
              <a:defRPr sz="1875" b="0">
                <a:solidFill>
                  <a:srgbClr val="526B7C"/>
                </a:solidFill>
                <a:latin typeface="Helvetica Neue"/>
                <a:ea typeface="Helvetica Neue"/>
                <a:cs typeface="Helvetica Neue"/>
              </a:defRPr>
            </a:lvl8pPr>
            <a:lvl9pPr>
              <a:buNone/>
              <a:defRPr sz="1875" b="0">
                <a:solidFill>
                  <a:srgbClr val="526B7C"/>
                </a:solidFill>
                <a:latin typeface="Helvetica Neue"/>
                <a:ea typeface="Helvetica Neue"/>
                <a:cs typeface="Helvetica Neue"/>
              </a:defRPr>
            </a:lvl9pPr>
          </a:lstStyle>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Does the merchant app show a successful entry?</a:t>
            </a:r>
          </a:p>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Keep this separate from audio and bank credit.</a:t>
            </a:r>
          </a:p>
        </p:txBody>
      </p:sp>
      <p:sp>
        <p:nvSpPr>
          <p:cNvPr id="5" name="">
            <a:extLst xmlns:a="http://schemas.openxmlformats.org/drawingml/2006/main">
              <a:ext uri="{FF2B5EF4-FFF2-40B4-BE49-F238E27FC236}">
                <a16:creationId xmlns:a16="http://schemas.microsoft.com/office/drawing/2014/main" id="{337E0D29-D5C7-42AA-AFBB-82916E75D07C}"/>
              </a:ext>
            </a:extLst>
          </p:cNvPr>
          <p:cNvSpPr>
            <a:spLocks xmlns:a="http://schemas.openxmlformats.org/drawingml/2006/main" noGrp="1"/>
          </p:cNvSpPr>
          <p:nvPr/>
        </p:nvSpPr>
        <p:spPr>
          <a:xfrm xmlns:a="http://schemas.openxmlformats.org/drawingml/2006/main">
            <a:off x="704850" y="334327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02F43"/>
                </a:solidFill>
                <a:latin typeface="Helvetica Neue"/>
                <a:ea typeface="Helvetica Neue"/>
                <a:cs typeface="Helvetica Neue"/>
              </a:defRPr>
            </a:defPPr>
            <a:lvl1pPr>
              <a:buNone/>
              <a:defRPr sz="2250" b="1">
                <a:solidFill>
                  <a:srgbClr val="00A9D6"/>
                </a:solidFill>
                <a:latin typeface="Helvetica Neue"/>
                <a:ea typeface="Helvetica Neue"/>
                <a:cs typeface="Helvetica Neue"/>
              </a:defRPr>
            </a:lvl1pPr>
            <a:lvl2pPr>
              <a:buNone/>
              <a:defRPr sz="2250" b="1">
                <a:solidFill>
                  <a:srgbClr val="00A9D6"/>
                </a:solidFill>
                <a:latin typeface="Helvetica Neue"/>
                <a:ea typeface="Helvetica Neue"/>
                <a:cs typeface="Helvetica Neue"/>
              </a:defRPr>
            </a:lvl2pPr>
            <a:lvl3pPr>
              <a:buNone/>
              <a:defRPr sz="2250" b="1">
                <a:solidFill>
                  <a:srgbClr val="00A9D6"/>
                </a:solidFill>
                <a:latin typeface="Helvetica Neue"/>
                <a:ea typeface="Helvetica Neue"/>
                <a:cs typeface="Helvetica Neue"/>
              </a:defRPr>
            </a:lvl3pPr>
            <a:lvl4pPr>
              <a:buNone/>
              <a:defRPr sz="2250" b="1">
                <a:solidFill>
                  <a:srgbClr val="00A9D6"/>
                </a:solidFill>
                <a:latin typeface="Helvetica Neue"/>
                <a:ea typeface="Helvetica Neue"/>
                <a:cs typeface="Helvetica Neue"/>
              </a:defRPr>
            </a:lvl4pPr>
            <a:lvl5pPr>
              <a:buNone/>
              <a:defRPr sz="2250" b="1">
                <a:solidFill>
                  <a:srgbClr val="00A9D6"/>
                </a:solidFill>
                <a:latin typeface="Helvetica Neue"/>
                <a:ea typeface="Helvetica Neue"/>
                <a:cs typeface="Helvetica Neue"/>
              </a:defRPr>
            </a:lvl5pPr>
            <a:lvl6pPr>
              <a:buNone/>
              <a:defRPr sz="2250" b="1">
                <a:solidFill>
                  <a:srgbClr val="00A9D6"/>
                </a:solidFill>
                <a:latin typeface="Helvetica Neue"/>
                <a:ea typeface="Helvetica Neue"/>
                <a:cs typeface="Helvetica Neue"/>
              </a:defRPr>
            </a:lvl6pPr>
            <a:lvl7pPr>
              <a:buNone/>
              <a:defRPr sz="2250" b="1">
                <a:solidFill>
                  <a:srgbClr val="00A9D6"/>
                </a:solidFill>
                <a:latin typeface="Helvetica Neue"/>
                <a:ea typeface="Helvetica Neue"/>
                <a:cs typeface="Helvetica Neue"/>
              </a:defRPr>
            </a:lvl7pPr>
            <a:lvl8pPr>
              <a:buNone/>
              <a:defRPr sz="2250" b="1">
                <a:solidFill>
                  <a:srgbClr val="00A9D6"/>
                </a:solidFill>
                <a:latin typeface="Helvetica Neue"/>
                <a:ea typeface="Helvetica Neue"/>
                <a:cs typeface="Helvetica Neue"/>
              </a:defRPr>
            </a:lvl8pPr>
            <a:lvl9pPr>
              <a:buNone/>
              <a:defRPr sz="2250" b="1">
                <a:solidFill>
                  <a:srgbClr val="00A9D6"/>
                </a:solidFill>
                <a:latin typeface="Helvetica Neue"/>
                <a:ea typeface="Helvetica Neue"/>
                <a:cs typeface="Helvetica Neue"/>
              </a:defRPr>
            </a:lvl9pPr>
          </a:lstStyle>
          <a:p xmlns:a="http://schemas.openxmlformats.org/drawingml/2006/main">
            <a:pPr>
              <a:buNone/>
              <a:defRPr sz="2025" b="1">
                <a:solidFill>
                  <a:srgbClr val="102F43"/>
                </a:solidFill>
                <a:latin typeface="Helvetica Neue"/>
                <a:ea typeface="Helvetica Neue"/>
                <a:cs typeface="Helvetica Neue"/>
              </a:defRPr>
            </a:pPr>
            <a:r>
              <a:rPr sz="2025" b="1">
                <a:solidFill>
                  <a:srgbClr val="102F43"/>
                </a:solidFill>
                <a:latin typeface="Helvetica Neue"/>
                <a:ea typeface="Helvetica Neue"/>
                <a:cs typeface="Helvetica Neue"/>
              </a:rPr>
              <a:t>Bank settlement</a:t>
            </a:r>
          </a:p>
        </p:txBody>
      </p:sp>
      <p:sp>
        <p:nvSpPr>
          <p:cNvPr id="6" name="">
            <a:extLst xmlns:a="http://schemas.openxmlformats.org/drawingml/2006/main">
              <a:ext uri="{FF2B5EF4-FFF2-40B4-BE49-F238E27FC236}">
                <a16:creationId xmlns:a16="http://schemas.microsoft.com/office/drawing/2014/main" id="{901F183E-6DFA-4502-A5DA-194CE2FD78A5}"/>
              </a:ext>
            </a:extLst>
          </p:cNvPr>
          <p:cNvSpPr>
            <a:spLocks xmlns:a="http://schemas.openxmlformats.org/drawingml/2006/main" noGrp="1"/>
          </p:cNvSpPr>
          <p:nvPr/>
        </p:nvSpPr>
        <p:spPr>
          <a:xfrm xmlns:a="http://schemas.openxmlformats.org/drawingml/2006/main">
            <a:off x="704850" y="3743325"/>
            <a:ext cx="5095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B7C"/>
                </a:solidFill>
                <a:latin typeface="Helvetica Neue"/>
                <a:ea typeface="Helvetica Neue"/>
                <a:cs typeface="Helvetica Neue"/>
              </a:defRPr>
            </a:defPPr>
            <a:lvl1pPr>
              <a:buNone/>
              <a:defRPr sz="2325" b="1">
                <a:solidFill>
                  <a:srgbClr val="102F43"/>
                </a:solidFill>
                <a:latin typeface="Helvetica Neue"/>
                <a:ea typeface="Helvetica Neue"/>
                <a:cs typeface="Helvetica Neue"/>
              </a:defRPr>
            </a:lvl1pPr>
            <a:lvl2pPr>
              <a:buNone/>
              <a:defRPr sz="2325" b="1">
                <a:solidFill>
                  <a:srgbClr val="102F43"/>
                </a:solidFill>
                <a:latin typeface="Helvetica Neue"/>
                <a:ea typeface="Helvetica Neue"/>
                <a:cs typeface="Helvetica Neue"/>
              </a:defRPr>
            </a:lvl2pPr>
            <a:lvl3pPr>
              <a:buNone/>
              <a:defRPr sz="2325" b="1">
                <a:solidFill>
                  <a:srgbClr val="102F43"/>
                </a:solidFill>
                <a:latin typeface="Helvetica Neue"/>
                <a:ea typeface="Helvetica Neue"/>
                <a:cs typeface="Helvetica Neue"/>
              </a:defRPr>
            </a:lvl3pPr>
            <a:lvl4pPr>
              <a:buNone/>
              <a:defRPr sz="2325" b="1">
                <a:solidFill>
                  <a:srgbClr val="102F43"/>
                </a:solidFill>
                <a:latin typeface="Helvetica Neue"/>
                <a:ea typeface="Helvetica Neue"/>
                <a:cs typeface="Helvetica Neue"/>
              </a:defRPr>
            </a:lvl4pPr>
            <a:lvl5pPr>
              <a:buNone/>
              <a:defRPr sz="2325" b="1">
                <a:solidFill>
                  <a:srgbClr val="102F43"/>
                </a:solidFill>
                <a:latin typeface="Helvetica Neue"/>
                <a:ea typeface="Helvetica Neue"/>
                <a:cs typeface="Helvetica Neue"/>
              </a:defRPr>
            </a:lvl5pPr>
            <a:lvl6pPr>
              <a:buNone/>
              <a:defRPr sz="2325" b="1">
                <a:solidFill>
                  <a:srgbClr val="102F43"/>
                </a:solidFill>
                <a:latin typeface="Helvetica Neue"/>
                <a:ea typeface="Helvetica Neue"/>
                <a:cs typeface="Helvetica Neue"/>
              </a:defRPr>
            </a:lvl6pPr>
            <a:lvl7pPr>
              <a:buNone/>
              <a:defRPr sz="2325" b="1">
                <a:solidFill>
                  <a:srgbClr val="102F43"/>
                </a:solidFill>
                <a:latin typeface="Helvetica Neue"/>
                <a:ea typeface="Helvetica Neue"/>
                <a:cs typeface="Helvetica Neue"/>
              </a:defRPr>
            </a:lvl7pPr>
            <a:lvl8pPr>
              <a:buNone/>
              <a:defRPr sz="2325" b="1">
                <a:solidFill>
                  <a:srgbClr val="102F43"/>
                </a:solidFill>
                <a:latin typeface="Helvetica Neue"/>
                <a:ea typeface="Helvetica Neue"/>
                <a:cs typeface="Helvetica Neue"/>
              </a:defRPr>
            </a:lvl8pPr>
            <a:lvl9pPr>
              <a:buNone/>
              <a:defRPr sz="2325" b="1">
                <a:solidFill>
                  <a:srgbClr val="102F43"/>
                </a:solidFill>
                <a:latin typeface="Helvetica Neue"/>
                <a:ea typeface="Helvetica Neue"/>
                <a:cs typeface="Helvetica Neue"/>
              </a:defRPr>
            </a:lvl9pPr>
          </a:lstStyle>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Has the merchant checked the bank statement?</a:t>
            </a:r>
          </a:p>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If not, preserve “not checked” as an unknown.</a:t>
            </a:r>
          </a:p>
        </p:txBody>
      </p:sp>
      <p:sp>
        <p:nvSpPr>
          <p:cNvPr id="7" name="">
            <a:extLst xmlns:a="http://schemas.openxmlformats.org/drawingml/2006/main">
              <a:ext uri="{FF2B5EF4-FFF2-40B4-BE49-F238E27FC236}">
                <a16:creationId xmlns:a16="http://schemas.microsoft.com/office/drawing/2014/main" id="{372B84BF-A5A9-4E98-B28B-24466338E30E}"/>
              </a:ext>
            </a:extLst>
          </p:cNvPr>
          <p:cNvSpPr>
            <a:spLocks xmlns:a="http://schemas.openxmlformats.org/drawingml/2006/main" noGrp="1"/>
          </p:cNvSpPr>
          <p:nvPr/>
        </p:nvSpPr>
        <p:spPr>
          <a:xfrm xmlns:a="http://schemas.openxmlformats.org/drawingml/2006/main">
            <a:off x="704850" y="46672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02F43"/>
                </a:solidFill>
                <a:latin typeface="Helvetica Neue"/>
                <a:ea typeface="Helvetica Neue"/>
                <a:cs typeface="Helvetica Neue"/>
              </a:defRPr>
            </a:defPPr>
            <a:lvl1pPr>
              <a:buNone/>
              <a:defRPr sz="1875" b="0">
                <a:solidFill>
                  <a:srgbClr val="526B7C"/>
                </a:solidFill>
                <a:latin typeface="Helvetica Neue"/>
                <a:ea typeface="Helvetica Neue"/>
                <a:cs typeface="Helvetica Neue"/>
              </a:defRPr>
            </a:lvl1pPr>
            <a:lvl2pPr>
              <a:buNone/>
              <a:defRPr sz="1875" b="0">
                <a:solidFill>
                  <a:srgbClr val="526B7C"/>
                </a:solidFill>
                <a:latin typeface="Helvetica Neue"/>
                <a:ea typeface="Helvetica Neue"/>
                <a:cs typeface="Helvetica Neue"/>
              </a:defRPr>
            </a:lvl2pPr>
            <a:lvl3pPr>
              <a:buNone/>
              <a:defRPr sz="1875" b="0">
                <a:solidFill>
                  <a:srgbClr val="526B7C"/>
                </a:solidFill>
                <a:latin typeface="Helvetica Neue"/>
                <a:ea typeface="Helvetica Neue"/>
                <a:cs typeface="Helvetica Neue"/>
              </a:defRPr>
            </a:lvl3pPr>
            <a:lvl4pPr>
              <a:buNone/>
              <a:defRPr sz="1875" b="0">
                <a:solidFill>
                  <a:srgbClr val="526B7C"/>
                </a:solidFill>
                <a:latin typeface="Helvetica Neue"/>
                <a:ea typeface="Helvetica Neue"/>
                <a:cs typeface="Helvetica Neue"/>
              </a:defRPr>
            </a:lvl4pPr>
            <a:lvl5pPr>
              <a:buNone/>
              <a:defRPr sz="1875" b="0">
                <a:solidFill>
                  <a:srgbClr val="526B7C"/>
                </a:solidFill>
                <a:latin typeface="Helvetica Neue"/>
                <a:ea typeface="Helvetica Neue"/>
                <a:cs typeface="Helvetica Neue"/>
              </a:defRPr>
            </a:lvl5pPr>
            <a:lvl6pPr>
              <a:buNone/>
              <a:defRPr sz="1875" b="0">
                <a:solidFill>
                  <a:srgbClr val="526B7C"/>
                </a:solidFill>
                <a:latin typeface="Helvetica Neue"/>
                <a:ea typeface="Helvetica Neue"/>
                <a:cs typeface="Helvetica Neue"/>
              </a:defRPr>
            </a:lvl6pPr>
            <a:lvl7pPr>
              <a:buNone/>
              <a:defRPr sz="1875" b="0">
                <a:solidFill>
                  <a:srgbClr val="526B7C"/>
                </a:solidFill>
                <a:latin typeface="Helvetica Neue"/>
                <a:ea typeface="Helvetica Neue"/>
                <a:cs typeface="Helvetica Neue"/>
              </a:defRPr>
            </a:lvl7pPr>
            <a:lvl8pPr>
              <a:buNone/>
              <a:defRPr sz="1875" b="0">
                <a:solidFill>
                  <a:srgbClr val="526B7C"/>
                </a:solidFill>
                <a:latin typeface="Helvetica Neue"/>
                <a:ea typeface="Helvetica Neue"/>
                <a:cs typeface="Helvetica Neue"/>
              </a:defRPr>
            </a:lvl8pPr>
            <a:lvl9pPr>
              <a:buNone/>
              <a:defRPr sz="1875" b="0">
                <a:solidFill>
                  <a:srgbClr val="526B7C"/>
                </a:solidFill>
                <a:latin typeface="Helvetica Neue"/>
                <a:ea typeface="Helvetica Neue"/>
                <a:cs typeface="Helvetica Neue"/>
              </a:defRPr>
            </a:lvl9pPr>
          </a:lstStyle>
          <a:p xmlns:a="http://schemas.openxmlformats.org/drawingml/2006/main">
            <a:pPr>
              <a:buNone/>
              <a:defRPr sz="2025" b="1">
                <a:solidFill>
                  <a:srgbClr val="102F43"/>
                </a:solidFill>
                <a:latin typeface="Helvetica Neue"/>
                <a:ea typeface="Helvetica Neue"/>
                <a:cs typeface="Helvetica Neue"/>
              </a:defRPr>
            </a:pPr>
            <a:r>
              <a:rPr sz="2025" b="1">
                <a:solidFill>
                  <a:srgbClr val="102F43"/>
                </a:solidFill>
                <a:latin typeface="Helvetica Neue"/>
                <a:ea typeface="Helvetica Neue"/>
                <a:cs typeface="Helvetica Neue"/>
              </a:rPr>
              <a:t>Soundbox announcement</a:t>
            </a:r>
          </a:p>
        </p:txBody>
      </p:sp>
      <p:sp>
        <p:nvSpPr>
          <p:cNvPr id="8" name="">
            <a:extLst xmlns:a="http://schemas.openxmlformats.org/drawingml/2006/main">
              <a:ext uri="{FF2B5EF4-FFF2-40B4-BE49-F238E27FC236}">
                <a16:creationId xmlns:a16="http://schemas.microsoft.com/office/drawing/2014/main" id="{D7AF189F-6FDF-49F8-8D90-4EE2A95063B4}"/>
              </a:ext>
            </a:extLst>
          </p:cNvPr>
          <p:cNvSpPr>
            <a:spLocks xmlns:a="http://schemas.openxmlformats.org/drawingml/2006/main" noGrp="1"/>
          </p:cNvSpPr>
          <p:nvPr/>
        </p:nvSpPr>
        <p:spPr>
          <a:xfrm xmlns:a="http://schemas.openxmlformats.org/drawingml/2006/main">
            <a:off x="704850" y="5067300"/>
            <a:ext cx="5095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B7C"/>
                </a:solidFill>
                <a:latin typeface="Helvetica Neue"/>
                <a:ea typeface="Helvetica Neue"/>
                <a:cs typeface="Helvetica Neue"/>
              </a:defRPr>
            </a:defPPr>
            <a:lvl1pPr>
              <a:buNone/>
              <a:defRPr sz="2250" b="1">
                <a:solidFill>
                  <a:srgbClr val="00A9D6"/>
                </a:solidFill>
                <a:latin typeface="Helvetica Neue"/>
                <a:ea typeface="Helvetica Neue"/>
                <a:cs typeface="Helvetica Neue"/>
              </a:defRPr>
            </a:lvl1pPr>
            <a:lvl2pPr>
              <a:buNone/>
              <a:defRPr sz="2250" b="1">
                <a:solidFill>
                  <a:srgbClr val="00A9D6"/>
                </a:solidFill>
                <a:latin typeface="Helvetica Neue"/>
                <a:ea typeface="Helvetica Neue"/>
                <a:cs typeface="Helvetica Neue"/>
              </a:defRPr>
            </a:lvl2pPr>
            <a:lvl3pPr>
              <a:buNone/>
              <a:defRPr sz="2250" b="1">
                <a:solidFill>
                  <a:srgbClr val="00A9D6"/>
                </a:solidFill>
                <a:latin typeface="Helvetica Neue"/>
                <a:ea typeface="Helvetica Neue"/>
                <a:cs typeface="Helvetica Neue"/>
              </a:defRPr>
            </a:lvl3pPr>
            <a:lvl4pPr>
              <a:buNone/>
              <a:defRPr sz="2250" b="1">
                <a:solidFill>
                  <a:srgbClr val="00A9D6"/>
                </a:solidFill>
                <a:latin typeface="Helvetica Neue"/>
                <a:ea typeface="Helvetica Neue"/>
                <a:cs typeface="Helvetica Neue"/>
              </a:defRPr>
            </a:lvl4pPr>
            <a:lvl5pPr>
              <a:buNone/>
              <a:defRPr sz="2250" b="1">
                <a:solidFill>
                  <a:srgbClr val="00A9D6"/>
                </a:solidFill>
                <a:latin typeface="Helvetica Neue"/>
                <a:ea typeface="Helvetica Neue"/>
                <a:cs typeface="Helvetica Neue"/>
              </a:defRPr>
            </a:lvl5pPr>
            <a:lvl6pPr>
              <a:buNone/>
              <a:defRPr sz="2250" b="1">
                <a:solidFill>
                  <a:srgbClr val="00A9D6"/>
                </a:solidFill>
                <a:latin typeface="Helvetica Neue"/>
                <a:ea typeface="Helvetica Neue"/>
                <a:cs typeface="Helvetica Neue"/>
              </a:defRPr>
            </a:lvl6pPr>
            <a:lvl7pPr>
              <a:buNone/>
              <a:defRPr sz="2250" b="1">
                <a:solidFill>
                  <a:srgbClr val="00A9D6"/>
                </a:solidFill>
                <a:latin typeface="Helvetica Neue"/>
                <a:ea typeface="Helvetica Neue"/>
                <a:cs typeface="Helvetica Neue"/>
              </a:defRPr>
            </a:lvl7pPr>
            <a:lvl8pPr>
              <a:buNone/>
              <a:defRPr sz="2250" b="1">
                <a:solidFill>
                  <a:srgbClr val="00A9D6"/>
                </a:solidFill>
                <a:latin typeface="Helvetica Neue"/>
                <a:ea typeface="Helvetica Neue"/>
                <a:cs typeface="Helvetica Neue"/>
              </a:defRPr>
            </a:lvl8pPr>
            <a:lvl9pPr>
              <a:buNone/>
              <a:defRPr sz="2250" b="1">
                <a:solidFill>
                  <a:srgbClr val="00A9D6"/>
                </a:solidFill>
                <a:latin typeface="Helvetica Neue"/>
                <a:ea typeface="Helvetica Neue"/>
                <a:cs typeface="Helvetica Neue"/>
              </a:defRPr>
            </a:lvl9pPr>
          </a:lstStyle>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Was only the announcement missing?</a:t>
            </a:r>
          </a:p>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Do not infer a network fault or a financial loss.</a:t>
            </a:r>
          </a:p>
        </p:txBody>
      </p:sp>
      <p:sp>
        <p:nvSpPr>
          <p:cNvPr id="9" name="">
            <a:extLst xmlns:a="http://schemas.openxmlformats.org/drawingml/2006/main">
              <a:ext uri="{FF2B5EF4-FFF2-40B4-BE49-F238E27FC236}">
                <a16:creationId xmlns:a16="http://schemas.microsoft.com/office/drawing/2014/main" id="{6F864814-B847-4D3F-BCE6-A5F709F89541}"/>
              </a:ext>
            </a:extLst>
          </p:cNvPr>
          <p:cNvSpPr>
            <a:spLocks xmlns:a="http://schemas.openxmlformats.org/drawingml/2006/main" noGrp="1"/>
          </p:cNvSpPr>
          <p:nvPr/>
        </p:nvSpPr>
        <p:spPr>
          <a:xfrm xmlns:a="http://schemas.openxmlformats.org/drawingml/2006/main">
            <a:off x="6343650" y="14097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A9D6"/>
                </a:solidFill>
                <a:latin typeface="Helvetica Neue"/>
                <a:ea typeface="Helvetica Neue"/>
                <a:cs typeface="Helvetica Neue"/>
              </a:defRPr>
            </a:defPPr>
            <a:lvl1pPr>
              <a:buNone/>
              <a:defRPr sz="2325" b="1">
                <a:solidFill>
                  <a:srgbClr val="102F43"/>
                </a:solidFill>
                <a:latin typeface="Helvetica Neue"/>
                <a:ea typeface="Helvetica Neue"/>
                <a:cs typeface="Helvetica Neue"/>
              </a:defRPr>
            </a:lvl1pPr>
            <a:lvl2pPr>
              <a:buNone/>
              <a:defRPr sz="2325" b="1">
                <a:solidFill>
                  <a:srgbClr val="102F43"/>
                </a:solidFill>
                <a:latin typeface="Helvetica Neue"/>
                <a:ea typeface="Helvetica Neue"/>
                <a:cs typeface="Helvetica Neue"/>
              </a:defRPr>
            </a:lvl2pPr>
            <a:lvl3pPr>
              <a:buNone/>
              <a:defRPr sz="2325" b="1">
                <a:solidFill>
                  <a:srgbClr val="102F43"/>
                </a:solidFill>
                <a:latin typeface="Helvetica Neue"/>
                <a:ea typeface="Helvetica Neue"/>
                <a:cs typeface="Helvetica Neue"/>
              </a:defRPr>
            </a:lvl3pPr>
            <a:lvl4pPr>
              <a:buNone/>
              <a:defRPr sz="2325" b="1">
                <a:solidFill>
                  <a:srgbClr val="102F43"/>
                </a:solidFill>
                <a:latin typeface="Helvetica Neue"/>
                <a:ea typeface="Helvetica Neue"/>
                <a:cs typeface="Helvetica Neue"/>
              </a:defRPr>
            </a:lvl4pPr>
            <a:lvl5pPr>
              <a:buNone/>
              <a:defRPr sz="2325" b="1">
                <a:solidFill>
                  <a:srgbClr val="102F43"/>
                </a:solidFill>
                <a:latin typeface="Helvetica Neue"/>
                <a:ea typeface="Helvetica Neue"/>
                <a:cs typeface="Helvetica Neue"/>
              </a:defRPr>
            </a:lvl5pPr>
            <a:lvl6pPr>
              <a:buNone/>
              <a:defRPr sz="2325" b="1">
                <a:solidFill>
                  <a:srgbClr val="102F43"/>
                </a:solidFill>
                <a:latin typeface="Helvetica Neue"/>
                <a:ea typeface="Helvetica Neue"/>
                <a:cs typeface="Helvetica Neue"/>
              </a:defRPr>
            </a:lvl6pPr>
            <a:lvl7pPr>
              <a:buNone/>
              <a:defRPr sz="2325" b="1">
                <a:solidFill>
                  <a:srgbClr val="102F43"/>
                </a:solidFill>
                <a:latin typeface="Helvetica Neue"/>
                <a:ea typeface="Helvetica Neue"/>
                <a:cs typeface="Helvetica Neue"/>
              </a:defRPr>
            </a:lvl7pPr>
            <a:lvl8pPr>
              <a:buNone/>
              <a:defRPr sz="2325" b="1">
                <a:solidFill>
                  <a:srgbClr val="102F43"/>
                </a:solidFill>
                <a:latin typeface="Helvetica Neue"/>
                <a:ea typeface="Helvetica Neue"/>
                <a:cs typeface="Helvetica Neue"/>
              </a:defRPr>
            </a:lvl8pPr>
            <a:lvl9pPr>
              <a:buNone/>
              <a:defRPr sz="2325" b="1">
                <a:solidFill>
                  <a:srgbClr val="102F43"/>
                </a:solidFill>
                <a:latin typeface="Helvetica Neue"/>
                <a:ea typeface="Helvetica Neue"/>
                <a:cs typeface="Helvetica Neue"/>
              </a:defRPr>
            </a:lvl9pPr>
          </a:lstStyle>
          <a:p xmlns:a="http://schemas.openxmlformats.org/drawingml/2006/main">
            <a:pPr>
              <a:buNone/>
              <a:defRPr sz="2175" b="1">
                <a:solidFill>
                  <a:srgbClr val="00A9D6"/>
                </a:solidFill>
                <a:latin typeface="Helvetica Neue"/>
                <a:ea typeface="Helvetica Neue"/>
                <a:cs typeface="Helvetica Neue"/>
              </a:defRPr>
            </a:pPr>
            <a:r>
              <a:rPr sz="2175" b="1">
                <a:solidFill>
                  <a:srgbClr val="00A9D6"/>
                </a:solidFill>
                <a:latin typeface="Helvetica Neue"/>
                <a:ea typeface="Helvetica Neue"/>
                <a:cs typeface="Helvetica Neue"/>
              </a:rPr>
              <a:t>One case across touchpoints</a:t>
            </a:r>
          </a:p>
        </p:txBody>
      </p:sp>
      <p:sp>
        <p:nvSpPr>
          <p:cNvPr id="10" name="">
            <a:extLst xmlns:a="http://schemas.openxmlformats.org/drawingml/2006/main">
              <a:ext uri="{FF2B5EF4-FFF2-40B4-BE49-F238E27FC236}">
                <a16:creationId xmlns:a16="http://schemas.microsoft.com/office/drawing/2014/main" id="{85B8BBD3-B9E0-429F-86F5-A2FAA1B623C6}"/>
              </a:ext>
            </a:extLst>
          </p:cNvPr>
          <p:cNvSpPr>
            <a:spLocks xmlns:a="http://schemas.openxmlformats.org/drawingml/2006/main" noGrp="1"/>
          </p:cNvSpPr>
          <p:nvPr/>
        </p:nvSpPr>
        <p:spPr>
          <a:xfrm xmlns:a="http://schemas.openxmlformats.org/drawingml/2006/main">
            <a:off x="6343650" y="20193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02F43"/>
                </a:solidFill>
                <a:latin typeface="Helvetica Neue"/>
                <a:ea typeface="Helvetica Neue"/>
                <a:cs typeface="Helvetica Neue"/>
              </a:defRPr>
            </a:defPPr>
            <a:lvl1pPr>
              <a:buNone/>
              <a:defRPr sz="1875" b="0">
                <a:solidFill>
                  <a:srgbClr val="526B7C"/>
                </a:solidFill>
                <a:latin typeface="Helvetica Neue"/>
                <a:ea typeface="Helvetica Neue"/>
                <a:cs typeface="Helvetica Neue"/>
              </a:defRPr>
            </a:lvl1pPr>
            <a:lvl2pPr>
              <a:buNone/>
              <a:defRPr sz="1875" b="0">
                <a:solidFill>
                  <a:srgbClr val="526B7C"/>
                </a:solidFill>
                <a:latin typeface="Helvetica Neue"/>
                <a:ea typeface="Helvetica Neue"/>
                <a:cs typeface="Helvetica Neue"/>
              </a:defRPr>
            </a:lvl2pPr>
            <a:lvl3pPr>
              <a:buNone/>
              <a:defRPr sz="1875" b="0">
                <a:solidFill>
                  <a:srgbClr val="526B7C"/>
                </a:solidFill>
                <a:latin typeface="Helvetica Neue"/>
                <a:ea typeface="Helvetica Neue"/>
                <a:cs typeface="Helvetica Neue"/>
              </a:defRPr>
            </a:lvl3pPr>
            <a:lvl4pPr>
              <a:buNone/>
              <a:defRPr sz="1875" b="0">
                <a:solidFill>
                  <a:srgbClr val="526B7C"/>
                </a:solidFill>
                <a:latin typeface="Helvetica Neue"/>
                <a:ea typeface="Helvetica Neue"/>
                <a:cs typeface="Helvetica Neue"/>
              </a:defRPr>
            </a:lvl4pPr>
            <a:lvl5pPr>
              <a:buNone/>
              <a:defRPr sz="1875" b="0">
                <a:solidFill>
                  <a:srgbClr val="526B7C"/>
                </a:solidFill>
                <a:latin typeface="Helvetica Neue"/>
                <a:ea typeface="Helvetica Neue"/>
                <a:cs typeface="Helvetica Neue"/>
              </a:defRPr>
            </a:lvl5pPr>
            <a:lvl6pPr>
              <a:buNone/>
              <a:defRPr sz="1875" b="0">
                <a:solidFill>
                  <a:srgbClr val="526B7C"/>
                </a:solidFill>
                <a:latin typeface="Helvetica Neue"/>
                <a:ea typeface="Helvetica Neue"/>
                <a:cs typeface="Helvetica Neue"/>
              </a:defRPr>
            </a:lvl6pPr>
            <a:lvl7pPr>
              <a:buNone/>
              <a:defRPr sz="1875" b="0">
                <a:solidFill>
                  <a:srgbClr val="526B7C"/>
                </a:solidFill>
                <a:latin typeface="Helvetica Neue"/>
                <a:ea typeface="Helvetica Neue"/>
                <a:cs typeface="Helvetica Neue"/>
              </a:defRPr>
            </a:lvl7pPr>
            <a:lvl8pPr>
              <a:buNone/>
              <a:defRPr sz="1875" b="0">
                <a:solidFill>
                  <a:srgbClr val="526B7C"/>
                </a:solidFill>
                <a:latin typeface="Helvetica Neue"/>
                <a:ea typeface="Helvetica Neue"/>
                <a:cs typeface="Helvetica Neue"/>
              </a:defRPr>
            </a:lvl8pPr>
            <a:lvl9pPr>
              <a:buNone/>
              <a:defRPr sz="1875" b="0">
                <a:solidFill>
                  <a:srgbClr val="526B7C"/>
                </a:solidFill>
                <a:latin typeface="Helvetica Neue"/>
                <a:ea typeface="Helvetica Neue"/>
                <a:cs typeface="Helvetica Neue"/>
              </a:defRPr>
            </a:lvl9pPr>
          </a:lstStyle>
          <a:p xmlns:a="http://schemas.openxmlformats.org/drawingml/2006/main">
            <a:pPr>
              <a:buNone/>
              <a:defRPr sz="2025" b="1">
                <a:solidFill>
                  <a:srgbClr val="102F43"/>
                </a:solidFill>
                <a:latin typeface="Helvetica Neue"/>
                <a:ea typeface="Helvetica Neue"/>
                <a:cs typeface="Helvetica Neue"/>
              </a:defRPr>
            </a:pPr>
            <a:r>
              <a:rPr sz="2025" b="1">
                <a:solidFill>
                  <a:srgbClr val="102F43"/>
                </a:solidFill>
                <a:latin typeface="Helvetica Neue"/>
                <a:ea typeface="Helvetica Neue"/>
                <a:cs typeface="Helvetica Neue"/>
              </a:rPr>
              <a:t>History and operating context</a:t>
            </a:r>
          </a:p>
        </p:txBody>
      </p:sp>
      <p:sp>
        <p:nvSpPr>
          <p:cNvPr id="11" name="">
            <a:extLst xmlns:a="http://schemas.openxmlformats.org/drawingml/2006/main">
              <a:ext uri="{FF2B5EF4-FFF2-40B4-BE49-F238E27FC236}">
                <a16:creationId xmlns:a16="http://schemas.microsoft.com/office/drawing/2014/main" id="{9E60FA78-7639-46FA-A160-B8F2294A8B47}"/>
              </a:ext>
            </a:extLst>
          </p:cNvPr>
          <p:cNvSpPr>
            <a:spLocks xmlns:a="http://schemas.openxmlformats.org/drawingml/2006/main" noGrp="1"/>
          </p:cNvSpPr>
          <p:nvPr/>
        </p:nvSpPr>
        <p:spPr>
          <a:xfrm xmlns:a="http://schemas.openxmlformats.org/drawingml/2006/main">
            <a:off x="6343650" y="2419350"/>
            <a:ext cx="5095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B7C"/>
                </a:solidFill>
                <a:latin typeface="Helvetica Neue"/>
                <a:ea typeface="Helvetica Neue"/>
                <a:cs typeface="Helvetica Neue"/>
              </a:defRPr>
            </a:defPPr>
            <a:lvl1pPr>
              <a:buNone/>
              <a:defRPr sz="5700" b="1">
                <a:solidFill>
                  <a:srgbClr val="102F43"/>
                </a:solidFill>
                <a:latin typeface="Helvetica Neue"/>
                <a:ea typeface="Helvetica Neue"/>
                <a:cs typeface="Helvetica Neue"/>
              </a:defRPr>
            </a:lvl1pPr>
            <a:lvl2pPr>
              <a:buNone/>
              <a:defRPr sz="5700" b="1">
                <a:solidFill>
                  <a:srgbClr val="102F43"/>
                </a:solidFill>
                <a:latin typeface="Helvetica Neue"/>
                <a:ea typeface="Helvetica Neue"/>
                <a:cs typeface="Helvetica Neue"/>
              </a:defRPr>
            </a:lvl2pPr>
            <a:lvl3pPr>
              <a:buNone/>
              <a:defRPr sz="5700" b="1">
                <a:solidFill>
                  <a:srgbClr val="102F43"/>
                </a:solidFill>
                <a:latin typeface="Helvetica Neue"/>
                <a:ea typeface="Helvetica Neue"/>
                <a:cs typeface="Helvetica Neue"/>
              </a:defRPr>
            </a:lvl3pPr>
            <a:lvl4pPr>
              <a:buNone/>
              <a:defRPr sz="5700" b="1">
                <a:solidFill>
                  <a:srgbClr val="102F43"/>
                </a:solidFill>
                <a:latin typeface="Helvetica Neue"/>
                <a:ea typeface="Helvetica Neue"/>
                <a:cs typeface="Helvetica Neue"/>
              </a:defRPr>
            </a:lvl4pPr>
            <a:lvl5pPr>
              <a:buNone/>
              <a:defRPr sz="5700" b="1">
                <a:solidFill>
                  <a:srgbClr val="102F43"/>
                </a:solidFill>
                <a:latin typeface="Helvetica Neue"/>
                <a:ea typeface="Helvetica Neue"/>
                <a:cs typeface="Helvetica Neue"/>
              </a:defRPr>
            </a:lvl5pPr>
            <a:lvl6pPr>
              <a:buNone/>
              <a:defRPr sz="5700" b="1">
                <a:solidFill>
                  <a:srgbClr val="102F43"/>
                </a:solidFill>
                <a:latin typeface="Helvetica Neue"/>
                <a:ea typeface="Helvetica Neue"/>
                <a:cs typeface="Helvetica Neue"/>
              </a:defRPr>
            </a:lvl6pPr>
            <a:lvl7pPr>
              <a:buNone/>
              <a:defRPr sz="5700" b="1">
                <a:solidFill>
                  <a:srgbClr val="102F43"/>
                </a:solidFill>
                <a:latin typeface="Helvetica Neue"/>
                <a:ea typeface="Helvetica Neue"/>
                <a:cs typeface="Helvetica Neue"/>
              </a:defRPr>
            </a:lvl7pPr>
            <a:lvl8pPr>
              <a:buNone/>
              <a:defRPr sz="5700" b="1">
                <a:solidFill>
                  <a:srgbClr val="102F43"/>
                </a:solidFill>
                <a:latin typeface="Helvetica Neue"/>
                <a:ea typeface="Helvetica Neue"/>
                <a:cs typeface="Helvetica Neue"/>
              </a:defRPr>
            </a:lvl8pPr>
            <a:lvl9pPr>
              <a:buNone/>
              <a:defRPr sz="5700" b="1">
                <a:solidFill>
                  <a:srgbClr val="102F43"/>
                </a:solidFill>
                <a:latin typeface="Helvetica Neue"/>
                <a:ea typeface="Helvetica Neue"/>
                <a:cs typeface="Helvetica Neue"/>
              </a:defRPr>
            </a:lvl9pPr>
          </a:lstStyle>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Symptom, workflow, earlier checks, channels and reported outcomes; unresolved questions stay attached.</a:t>
            </a:r>
          </a:p>
        </p:txBody>
      </p:sp>
      <p:sp>
        <p:nvSpPr>
          <p:cNvPr id="12" name="">
            <a:extLst xmlns:a="http://schemas.openxmlformats.org/drawingml/2006/main">
              <a:ext uri="{FF2B5EF4-FFF2-40B4-BE49-F238E27FC236}">
                <a16:creationId xmlns:a16="http://schemas.microsoft.com/office/drawing/2014/main" id="{C5EBA453-A5D5-445B-ACDE-E0CE67186E8C}"/>
              </a:ext>
            </a:extLst>
          </p:cNvPr>
          <p:cNvSpPr>
            <a:spLocks xmlns:a="http://schemas.openxmlformats.org/drawingml/2006/main" noGrp="1"/>
          </p:cNvSpPr>
          <p:nvPr/>
        </p:nvSpPr>
        <p:spPr>
          <a:xfrm xmlns:a="http://schemas.openxmlformats.org/drawingml/2006/main">
            <a:off x="6343650" y="334327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02F43"/>
                </a:solidFill>
                <a:latin typeface="Helvetica Neue"/>
                <a:ea typeface="Helvetica Neue"/>
                <a:cs typeface="Helvetica Neue"/>
              </a:defRPr>
            </a:defPPr>
            <a:lvl1pPr>
              <a:buNone/>
              <a:defRPr sz="2325" b="1">
                <a:solidFill>
                  <a:srgbClr val="102F43"/>
                </a:solidFill>
                <a:latin typeface="Helvetica Neue"/>
                <a:ea typeface="Helvetica Neue"/>
                <a:cs typeface="Helvetica Neue"/>
              </a:defRPr>
            </a:lvl1pPr>
            <a:lvl2pPr>
              <a:buNone/>
              <a:defRPr sz="2325" b="1">
                <a:solidFill>
                  <a:srgbClr val="102F43"/>
                </a:solidFill>
                <a:latin typeface="Helvetica Neue"/>
                <a:ea typeface="Helvetica Neue"/>
                <a:cs typeface="Helvetica Neue"/>
              </a:defRPr>
            </a:lvl2pPr>
            <a:lvl3pPr>
              <a:buNone/>
              <a:defRPr sz="2325" b="1">
                <a:solidFill>
                  <a:srgbClr val="102F43"/>
                </a:solidFill>
                <a:latin typeface="Helvetica Neue"/>
                <a:ea typeface="Helvetica Neue"/>
                <a:cs typeface="Helvetica Neue"/>
              </a:defRPr>
            </a:lvl3pPr>
            <a:lvl4pPr>
              <a:buNone/>
              <a:defRPr sz="2325" b="1">
                <a:solidFill>
                  <a:srgbClr val="102F43"/>
                </a:solidFill>
                <a:latin typeface="Helvetica Neue"/>
                <a:ea typeface="Helvetica Neue"/>
                <a:cs typeface="Helvetica Neue"/>
              </a:defRPr>
            </a:lvl4pPr>
            <a:lvl5pPr>
              <a:buNone/>
              <a:defRPr sz="2325" b="1">
                <a:solidFill>
                  <a:srgbClr val="102F43"/>
                </a:solidFill>
                <a:latin typeface="Helvetica Neue"/>
                <a:ea typeface="Helvetica Neue"/>
                <a:cs typeface="Helvetica Neue"/>
              </a:defRPr>
            </a:lvl5pPr>
            <a:lvl6pPr>
              <a:buNone/>
              <a:defRPr sz="2325" b="1">
                <a:solidFill>
                  <a:srgbClr val="102F43"/>
                </a:solidFill>
                <a:latin typeface="Helvetica Neue"/>
                <a:ea typeface="Helvetica Neue"/>
                <a:cs typeface="Helvetica Neue"/>
              </a:defRPr>
            </a:lvl6pPr>
            <a:lvl7pPr>
              <a:buNone/>
              <a:defRPr sz="2325" b="1">
                <a:solidFill>
                  <a:srgbClr val="102F43"/>
                </a:solidFill>
                <a:latin typeface="Helvetica Neue"/>
                <a:ea typeface="Helvetica Neue"/>
                <a:cs typeface="Helvetica Neue"/>
              </a:defRPr>
            </a:lvl7pPr>
            <a:lvl8pPr>
              <a:buNone/>
              <a:defRPr sz="2325" b="1">
                <a:solidFill>
                  <a:srgbClr val="102F43"/>
                </a:solidFill>
                <a:latin typeface="Helvetica Neue"/>
                <a:ea typeface="Helvetica Neue"/>
                <a:cs typeface="Helvetica Neue"/>
              </a:defRPr>
            </a:lvl8pPr>
            <a:lvl9pPr>
              <a:buNone/>
              <a:defRPr sz="2325" b="1">
                <a:solidFill>
                  <a:srgbClr val="102F43"/>
                </a:solidFill>
                <a:latin typeface="Helvetica Neue"/>
                <a:ea typeface="Helvetica Neue"/>
                <a:cs typeface="Helvetica Neue"/>
              </a:defRPr>
            </a:lvl9pPr>
          </a:lstStyle>
          <a:p xmlns:a="http://schemas.openxmlformats.org/drawingml/2006/main">
            <a:pPr>
              <a:buNone/>
              <a:defRPr sz="2025" b="1">
                <a:solidFill>
                  <a:srgbClr val="102F43"/>
                </a:solidFill>
                <a:latin typeface="Helvetica Neue"/>
                <a:ea typeface="Helvetica Neue"/>
                <a:cs typeface="Helvetica Neue"/>
              </a:defRPr>
            </a:pPr>
            <a:r>
              <a:rPr sz="2025" b="1">
                <a:solidFill>
                  <a:srgbClr val="102F43"/>
                </a:solidFill>
                <a:latin typeface="Helvetica Neue"/>
                <a:ea typeface="Helvetica Neue"/>
                <a:cs typeface="Helvetica Neue"/>
              </a:rPr>
              <a:t>Evidence and uncertainty</a:t>
            </a:r>
          </a:p>
        </p:txBody>
      </p:sp>
      <p:sp>
        <p:nvSpPr>
          <p:cNvPr id="13" name="">
            <a:extLst xmlns:a="http://schemas.openxmlformats.org/drawingml/2006/main">
              <a:ext uri="{FF2B5EF4-FFF2-40B4-BE49-F238E27FC236}">
                <a16:creationId xmlns:a16="http://schemas.microsoft.com/office/drawing/2014/main" id="{ADCCB305-2B1F-49F1-85F9-774F08977B28}"/>
              </a:ext>
            </a:extLst>
          </p:cNvPr>
          <p:cNvSpPr>
            <a:spLocks xmlns:a="http://schemas.openxmlformats.org/drawingml/2006/main" noGrp="1"/>
          </p:cNvSpPr>
          <p:nvPr/>
        </p:nvSpPr>
        <p:spPr>
          <a:xfrm xmlns:a="http://schemas.openxmlformats.org/drawingml/2006/main">
            <a:off x="6343650" y="3743325"/>
            <a:ext cx="5095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B7C"/>
                </a:solidFill>
                <a:latin typeface="Helvetica Neue"/>
                <a:ea typeface="Helvetica Neue"/>
                <a:cs typeface="Helvetica Neue"/>
              </a:defRPr>
            </a:defPPr>
            <a:lvl1pPr>
              <a:buNone/>
              <a:defRPr sz="2100" b="0">
                <a:solidFill>
                  <a:srgbClr val="526B7C"/>
                </a:solidFill>
                <a:latin typeface="Helvetica Neue"/>
                <a:ea typeface="Helvetica Neue"/>
                <a:cs typeface="Helvetica Neue"/>
              </a:defRPr>
            </a:lvl1pPr>
            <a:lvl2pPr>
              <a:buNone/>
              <a:defRPr sz="2100" b="0">
                <a:solidFill>
                  <a:srgbClr val="526B7C"/>
                </a:solidFill>
                <a:latin typeface="Helvetica Neue"/>
                <a:ea typeface="Helvetica Neue"/>
                <a:cs typeface="Helvetica Neue"/>
              </a:defRPr>
            </a:lvl2pPr>
            <a:lvl3pPr>
              <a:buNone/>
              <a:defRPr sz="2100" b="0">
                <a:solidFill>
                  <a:srgbClr val="526B7C"/>
                </a:solidFill>
                <a:latin typeface="Helvetica Neue"/>
                <a:ea typeface="Helvetica Neue"/>
                <a:cs typeface="Helvetica Neue"/>
              </a:defRPr>
            </a:lvl3pPr>
            <a:lvl4pPr>
              <a:buNone/>
              <a:defRPr sz="2100" b="0">
                <a:solidFill>
                  <a:srgbClr val="526B7C"/>
                </a:solidFill>
                <a:latin typeface="Helvetica Neue"/>
                <a:ea typeface="Helvetica Neue"/>
                <a:cs typeface="Helvetica Neue"/>
              </a:defRPr>
            </a:lvl4pPr>
            <a:lvl5pPr>
              <a:buNone/>
              <a:defRPr sz="2100" b="0">
                <a:solidFill>
                  <a:srgbClr val="526B7C"/>
                </a:solidFill>
                <a:latin typeface="Helvetica Neue"/>
                <a:ea typeface="Helvetica Neue"/>
                <a:cs typeface="Helvetica Neue"/>
              </a:defRPr>
            </a:lvl5pPr>
            <a:lvl6pPr>
              <a:buNone/>
              <a:defRPr sz="2100" b="0">
                <a:solidFill>
                  <a:srgbClr val="526B7C"/>
                </a:solidFill>
                <a:latin typeface="Helvetica Neue"/>
                <a:ea typeface="Helvetica Neue"/>
                <a:cs typeface="Helvetica Neue"/>
              </a:defRPr>
            </a:lvl6pPr>
            <a:lvl7pPr>
              <a:buNone/>
              <a:defRPr sz="2100" b="0">
                <a:solidFill>
                  <a:srgbClr val="526B7C"/>
                </a:solidFill>
                <a:latin typeface="Helvetica Neue"/>
                <a:ea typeface="Helvetica Neue"/>
                <a:cs typeface="Helvetica Neue"/>
              </a:defRPr>
            </a:lvl7pPr>
            <a:lvl8pPr>
              <a:buNone/>
              <a:defRPr sz="2100" b="0">
                <a:solidFill>
                  <a:srgbClr val="526B7C"/>
                </a:solidFill>
                <a:latin typeface="Helvetica Neue"/>
                <a:ea typeface="Helvetica Neue"/>
                <a:cs typeface="Helvetica Neue"/>
              </a:defRPr>
            </a:lvl8pPr>
            <a:lvl9pPr>
              <a:buNone/>
              <a:defRPr sz="2100" b="0">
                <a:solidFill>
                  <a:srgbClr val="526B7C"/>
                </a:solidFill>
                <a:latin typeface="Helvetica Neue"/>
                <a:ea typeface="Helvetica Neue"/>
                <a:cs typeface="Helvetica Neue"/>
              </a:defRPr>
            </a:lvl9pPr>
          </a:lstStyle>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Observation → received quote → turn ID. Context includes prior facts, corrections, language and curated sources.</a:t>
            </a:r>
          </a:p>
        </p:txBody>
      </p:sp>
      <p:sp>
        <p:nvSpPr>
          <p:cNvPr id="14" name="">
            <a:extLst xmlns:a="http://schemas.openxmlformats.org/drawingml/2006/main">
              <a:ext uri="{FF2B5EF4-FFF2-40B4-BE49-F238E27FC236}">
                <a16:creationId xmlns:a16="http://schemas.microsoft.com/office/drawing/2014/main" id="{C6FFA36A-932B-498D-AB2A-9401F13D762A}"/>
              </a:ext>
            </a:extLst>
          </p:cNvPr>
          <p:cNvSpPr>
            <a:spLocks xmlns:a="http://schemas.openxmlformats.org/drawingml/2006/main" noGrp="1"/>
          </p:cNvSpPr>
          <p:nvPr/>
        </p:nvSpPr>
        <p:spPr>
          <a:xfrm xmlns:a="http://schemas.openxmlformats.org/drawingml/2006/main">
            <a:off x="6343650" y="46672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02F43"/>
                </a:solidFill>
                <a:latin typeface="Helvetica Neue"/>
                <a:ea typeface="Helvetica Neue"/>
                <a:cs typeface="Helvetica Neue"/>
              </a:defRPr>
            </a:defPPr>
            <a:lvl1pPr>
              <a:buNone/>
              <a:defRPr sz="1500" b="0">
                <a:solidFill>
                  <a:srgbClr val="526B7C"/>
                </a:solidFill>
                <a:latin typeface="Helvetica Neue"/>
                <a:ea typeface="Helvetica Neue"/>
                <a:cs typeface="Helvetica Neue"/>
              </a:defRPr>
            </a:lvl1pPr>
            <a:lvl2pPr>
              <a:buNone/>
              <a:defRPr sz="1500" b="0">
                <a:solidFill>
                  <a:srgbClr val="526B7C"/>
                </a:solidFill>
                <a:latin typeface="Helvetica Neue"/>
                <a:ea typeface="Helvetica Neue"/>
                <a:cs typeface="Helvetica Neue"/>
              </a:defRPr>
            </a:lvl2pPr>
            <a:lvl3pPr>
              <a:buNone/>
              <a:defRPr sz="1500" b="0">
                <a:solidFill>
                  <a:srgbClr val="526B7C"/>
                </a:solidFill>
                <a:latin typeface="Helvetica Neue"/>
                <a:ea typeface="Helvetica Neue"/>
                <a:cs typeface="Helvetica Neue"/>
              </a:defRPr>
            </a:lvl3pPr>
            <a:lvl4pPr>
              <a:buNone/>
              <a:defRPr sz="1500" b="0">
                <a:solidFill>
                  <a:srgbClr val="526B7C"/>
                </a:solidFill>
                <a:latin typeface="Helvetica Neue"/>
                <a:ea typeface="Helvetica Neue"/>
                <a:cs typeface="Helvetica Neue"/>
              </a:defRPr>
            </a:lvl4pPr>
            <a:lvl5pPr>
              <a:buNone/>
              <a:defRPr sz="1500" b="0">
                <a:solidFill>
                  <a:srgbClr val="526B7C"/>
                </a:solidFill>
                <a:latin typeface="Helvetica Neue"/>
                <a:ea typeface="Helvetica Neue"/>
                <a:cs typeface="Helvetica Neue"/>
              </a:defRPr>
            </a:lvl5pPr>
            <a:lvl6pPr>
              <a:buNone/>
              <a:defRPr sz="1500" b="0">
                <a:solidFill>
                  <a:srgbClr val="526B7C"/>
                </a:solidFill>
                <a:latin typeface="Helvetica Neue"/>
                <a:ea typeface="Helvetica Neue"/>
                <a:cs typeface="Helvetica Neue"/>
              </a:defRPr>
            </a:lvl6pPr>
            <a:lvl7pPr>
              <a:buNone/>
              <a:defRPr sz="1500" b="0">
                <a:solidFill>
                  <a:srgbClr val="526B7C"/>
                </a:solidFill>
                <a:latin typeface="Helvetica Neue"/>
                <a:ea typeface="Helvetica Neue"/>
                <a:cs typeface="Helvetica Neue"/>
              </a:defRPr>
            </a:lvl7pPr>
            <a:lvl8pPr>
              <a:buNone/>
              <a:defRPr sz="1500" b="0">
                <a:solidFill>
                  <a:srgbClr val="526B7C"/>
                </a:solidFill>
                <a:latin typeface="Helvetica Neue"/>
                <a:ea typeface="Helvetica Neue"/>
                <a:cs typeface="Helvetica Neue"/>
              </a:defRPr>
            </a:lvl8pPr>
            <a:lvl9pPr>
              <a:buNone/>
              <a:defRPr sz="1500" b="0">
                <a:solidFill>
                  <a:srgbClr val="526B7C"/>
                </a:solidFill>
                <a:latin typeface="Helvetica Neue"/>
                <a:ea typeface="Helvetica Neue"/>
                <a:cs typeface="Helvetica Neue"/>
              </a:defRPr>
            </a:lvl9pPr>
          </a:lstStyle>
          <a:p xmlns:a="http://schemas.openxmlformats.org/drawingml/2006/main">
            <a:pPr>
              <a:buNone/>
              <a:defRPr sz="2025" b="1">
                <a:solidFill>
                  <a:srgbClr val="102F43"/>
                </a:solidFill>
                <a:latin typeface="Helvetica Neue"/>
                <a:ea typeface="Helvetica Neue"/>
                <a:cs typeface="Helvetica Neue"/>
              </a:defRPr>
            </a:pPr>
            <a:r>
              <a:rPr sz="2025" b="1">
                <a:solidFill>
                  <a:srgbClr val="102F43"/>
                </a:solidFill>
                <a:latin typeface="Helvetica Neue"/>
                <a:ea typeface="Helvetica Neue"/>
                <a:cs typeface="Helvetica Neue"/>
              </a:rPr>
              <a:t>Merchant control</a:t>
            </a:r>
          </a:p>
        </p:txBody>
      </p:sp>
      <p:sp>
        <p:nvSpPr>
          <p:cNvPr id="15" name="">
            <a:extLst xmlns:a="http://schemas.openxmlformats.org/drawingml/2006/main">
              <a:ext uri="{FF2B5EF4-FFF2-40B4-BE49-F238E27FC236}">
                <a16:creationId xmlns:a16="http://schemas.microsoft.com/office/drawing/2014/main" id="{96B617F3-2F1D-4833-8EB1-4FFC13994BE6}"/>
              </a:ext>
            </a:extLst>
          </p:cNvPr>
          <p:cNvSpPr>
            <a:spLocks xmlns:a="http://schemas.openxmlformats.org/drawingml/2006/main" noGrp="1"/>
          </p:cNvSpPr>
          <p:nvPr/>
        </p:nvSpPr>
        <p:spPr>
          <a:xfrm xmlns:a="http://schemas.openxmlformats.org/drawingml/2006/main">
            <a:off x="6343650" y="5067300"/>
            <a:ext cx="5095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B7C"/>
                </a:solidFill>
                <a:latin typeface="Helvetica Neue"/>
                <a:ea typeface="Helvetica Neue"/>
                <a:cs typeface="Helvetica Neue"/>
              </a:defRPr>
            </a:defPPr>
            <a:lvl1pPr>
              <a:buNone/>
              <a:defRPr sz="1275" b="0">
                <a:solidFill>
                  <a:srgbClr val="526B7C"/>
                </a:solidFill>
                <a:latin typeface="Helvetica Neue"/>
                <a:ea typeface="Helvetica Neue"/>
                <a:cs typeface="Helvetica Neue"/>
              </a:defRPr>
            </a:lvl1pPr>
            <a:lvl2pPr>
              <a:buNone/>
              <a:defRPr sz="1275" b="0">
                <a:solidFill>
                  <a:srgbClr val="526B7C"/>
                </a:solidFill>
                <a:latin typeface="Helvetica Neue"/>
                <a:ea typeface="Helvetica Neue"/>
                <a:cs typeface="Helvetica Neue"/>
              </a:defRPr>
            </a:lvl2pPr>
            <a:lvl3pPr>
              <a:buNone/>
              <a:defRPr sz="1275" b="0">
                <a:solidFill>
                  <a:srgbClr val="526B7C"/>
                </a:solidFill>
                <a:latin typeface="Helvetica Neue"/>
                <a:ea typeface="Helvetica Neue"/>
                <a:cs typeface="Helvetica Neue"/>
              </a:defRPr>
            </a:lvl3pPr>
            <a:lvl4pPr>
              <a:buNone/>
              <a:defRPr sz="1275" b="0">
                <a:solidFill>
                  <a:srgbClr val="526B7C"/>
                </a:solidFill>
                <a:latin typeface="Helvetica Neue"/>
                <a:ea typeface="Helvetica Neue"/>
                <a:cs typeface="Helvetica Neue"/>
              </a:defRPr>
            </a:lvl4pPr>
            <a:lvl5pPr>
              <a:buNone/>
              <a:defRPr sz="1275" b="0">
                <a:solidFill>
                  <a:srgbClr val="526B7C"/>
                </a:solidFill>
                <a:latin typeface="Helvetica Neue"/>
                <a:ea typeface="Helvetica Neue"/>
                <a:cs typeface="Helvetica Neue"/>
              </a:defRPr>
            </a:lvl5pPr>
            <a:lvl6pPr>
              <a:buNone/>
              <a:defRPr sz="1275" b="0">
                <a:solidFill>
                  <a:srgbClr val="526B7C"/>
                </a:solidFill>
                <a:latin typeface="Helvetica Neue"/>
                <a:ea typeface="Helvetica Neue"/>
                <a:cs typeface="Helvetica Neue"/>
              </a:defRPr>
            </a:lvl6pPr>
            <a:lvl7pPr>
              <a:buNone/>
              <a:defRPr sz="1275" b="0">
                <a:solidFill>
                  <a:srgbClr val="526B7C"/>
                </a:solidFill>
                <a:latin typeface="Helvetica Neue"/>
                <a:ea typeface="Helvetica Neue"/>
                <a:cs typeface="Helvetica Neue"/>
              </a:defRPr>
            </a:lvl7pPr>
            <a:lvl8pPr>
              <a:buNone/>
              <a:defRPr sz="1275" b="0">
                <a:solidFill>
                  <a:srgbClr val="526B7C"/>
                </a:solidFill>
                <a:latin typeface="Helvetica Neue"/>
                <a:ea typeface="Helvetica Neue"/>
                <a:cs typeface="Helvetica Neue"/>
              </a:defRPr>
            </a:lvl8pPr>
            <a:lvl9pPr>
              <a:buNone/>
              <a:defRPr sz="1275" b="0">
                <a:solidFill>
                  <a:srgbClr val="526B7C"/>
                </a:solidFill>
                <a:latin typeface="Helvetica Neue"/>
                <a:ea typeface="Helvetica Neue"/>
                <a:cs typeface="Helvetica Neue"/>
              </a:defRPr>
            </a:lvl9pPr>
          </a:lstStyle>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Edits reset both approvals. Internal handoffs retain history; anonymized exports omit free-text support details.</a:t>
            </a:r>
          </a:p>
        </p:txBody>
      </p:sp>
      <p:sp>
        <p:nvSpPr>
          <p:cNvPr id="16" name="">
            <a:extLst xmlns:a="http://schemas.openxmlformats.org/drawingml/2006/main">
              <a:ext uri="{FF2B5EF4-FFF2-40B4-BE49-F238E27FC236}">
                <a16:creationId xmlns:a16="http://schemas.microsoft.com/office/drawing/2014/main" id="{54AE587E-1076-4165-B242-A7E074E46C1B}"/>
              </a:ext>
            </a:extLst>
          </p:cNvPr>
          <p:cNvSpPr>
            <a:spLocks xmlns:a="http://schemas.openxmlformats.org/drawingml/2006/main" noGrp="1"/>
          </p:cNvSpPr>
          <p:nvPr/>
        </p:nvSpPr>
        <p:spPr>
          <a:xfrm xmlns:a="http://schemas.openxmlformats.org/drawingml/2006/main">
            <a:off x="704850" y="599122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02F43"/>
                </a:solidFill>
                <a:latin typeface="Helvetica Neue"/>
                <a:ea typeface="Helvetica Neue"/>
                <a:cs typeface="Helvetica Neue"/>
              </a:defRPr>
            </a:defPPr>
            <a:lvl1pPr>
              <a:buNone/>
              <a:defRPr sz="1275" b="0">
                <a:solidFill>
                  <a:srgbClr val="526B7C"/>
                </a:solidFill>
                <a:latin typeface="Helvetica Neue"/>
                <a:ea typeface="Helvetica Neue"/>
                <a:cs typeface="Helvetica Neue"/>
              </a:defRPr>
            </a:lvl1pPr>
            <a:lvl2pPr>
              <a:buNone/>
              <a:defRPr sz="1275" b="0">
                <a:solidFill>
                  <a:srgbClr val="526B7C"/>
                </a:solidFill>
                <a:latin typeface="Helvetica Neue"/>
                <a:ea typeface="Helvetica Neue"/>
                <a:cs typeface="Helvetica Neue"/>
              </a:defRPr>
            </a:lvl2pPr>
            <a:lvl3pPr>
              <a:buNone/>
              <a:defRPr sz="1275" b="0">
                <a:solidFill>
                  <a:srgbClr val="526B7C"/>
                </a:solidFill>
                <a:latin typeface="Helvetica Neue"/>
                <a:ea typeface="Helvetica Neue"/>
                <a:cs typeface="Helvetica Neue"/>
              </a:defRPr>
            </a:lvl3pPr>
            <a:lvl4pPr>
              <a:buNone/>
              <a:defRPr sz="1275" b="0">
                <a:solidFill>
                  <a:srgbClr val="526B7C"/>
                </a:solidFill>
                <a:latin typeface="Helvetica Neue"/>
                <a:ea typeface="Helvetica Neue"/>
                <a:cs typeface="Helvetica Neue"/>
              </a:defRPr>
            </a:lvl4pPr>
            <a:lvl5pPr>
              <a:buNone/>
              <a:defRPr sz="1275" b="0">
                <a:solidFill>
                  <a:srgbClr val="526B7C"/>
                </a:solidFill>
                <a:latin typeface="Helvetica Neue"/>
                <a:ea typeface="Helvetica Neue"/>
                <a:cs typeface="Helvetica Neue"/>
              </a:defRPr>
            </a:lvl5pPr>
            <a:lvl6pPr>
              <a:buNone/>
              <a:defRPr sz="1275" b="0">
                <a:solidFill>
                  <a:srgbClr val="526B7C"/>
                </a:solidFill>
                <a:latin typeface="Helvetica Neue"/>
                <a:ea typeface="Helvetica Neue"/>
                <a:cs typeface="Helvetica Neue"/>
              </a:defRPr>
            </a:lvl6pPr>
            <a:lvl7pPr>
              <a:buNone/>
              <a:defRPr sz="1275" b="0">
                <a:solidFill>
                  <a:srgbClr val="526B7C"/>
                </a:solidFill>
                <a:latin typeface="Helvetica Neue"/>
                <a:ea typeface="Helvetica Neue"/>
                <a:cs typeface="Helvetica Neue"/>
              </a:defRPr>
            </a:lvl7pPr>
            <a:lvl8pPr>
              <a:buNone/>
              <a:defRPr sz="1275" b="0">
                <a:solidFill>
                  <a:srgbClr val="526B7C"/>
                </a:solidFill>
                <a:latin typeface="Helvetica Neue"/>
                <a:ea typeface="Helvetica Neue"/>
                <a:cs typeface="Helvetica Neue"/>
              </a:defRPr>
            </a:lvl8pPr>
            <a:lvl9pPr>
              <a:buNone/>
              <a:defRPr sz="1275" b="0">
                <a:solidFill>
                  <a:srgbClr val="526B7C"/>
                </a:solidFill>
                <a:latin typeface="Helvetica Neue"/>
                <a:ea typeface="Helvetica Neue"/>
                <a:cs typeface="Helvetica Neue"/>
              </a:defRPr>
            </a:lvl9pPr>
          </a:lstStyle>
          <a:p xmlns:a="http://schemas.openxmlformats.org/drawingml/2006/main">
            <a:pPr>
              <a:buNone/>
              <a:defRPr sz="1950" b="1">
                <a:solidFill>
                  <a:srgbClr val="102F43"/>
                </a:solidFill>
                <a:latin typeface="Helvetica Neue"/>
                <a:ea typeface="Helvetica Neue"/>
                <a:cs typeface="Helvetica Neue"/>
              </a:defRPr>
            </a:pPr>
            <a:r>
              <a:rPr sz="1950" b="1">
                <a:solidFill>
                  <a:srgbClr val="102F43"/>
                </a:solidFill>
                <a:latin typeface="Helvetica Neue"/>
                <a:ea typeface="Helvetica Neue"/>
                <a:cs typeface="Helvetica Neue"/>
              </a:rPr>
              <a:t>₹2,400 may be affected payment value; actual financial loss remains unverified</a:t>
            </a:r>
          </a:p>
        </p:txBody>
      </p:sp>
      <p:sp>
        <p:nvSpPr>
          <p:cNvPr id="18" name="">
            <a:extLst xmlns:a="http://schemas.openxmlformats.org/drawingml/2006/main">
              <a:ext uri="{FF2B5EF4-FFF2-40B4-BE49-F238E27FC236}">
                <a16:creationId xmlns:a16="http://schemas.microsoft.com/office/drawing/2014/main" id="{FDACD081-E9CC-4496-B821-B9777682ED07}"/>
              </a:ext>
            </a:extLst>
          </p:cNvPr>
          <p:cNvSpPr>
            <a:spLocks xmlns:a="http://schemas.openxmlformats.org/drawingml/2006/main" noGrp="1"/>
          </p:cNvSpPr>
          <p:nvPr/>
        </p:nvSpPr>
        <p:spPr>
          <a:xfrm xmlns:a="http://schemas.openxmlformats.org/drawingml/2006/main">
            <a:off x="685800" y="646747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buNone/>
              <a:defRPr sz="1200" b="0">
                <a:solidFill>
                  <a:srgbClr val="526B7C"/>
                </a:solidFill>
                <a:latin typeface="Helvetica Neue"/>
                <a:ea typeface="Helvetica Neue"/>
                <a:cs typeface="Helvetica Neue"/>
              </a:defRPr>
            </a:lvl1pPr>
            <a:lvl2pPr>
              <a:buNone/>
              <a:defRPr sz="1200" b="0">
                <a:solidFill>
                  <a:srgbClr val="526B7C"/>
                </a:solidFill>
                <a:latin typeface="Helvetica Neue"/>
                <a:ea typeface="Helvetica Neue"/>
                <a:cs typeface="Helvetica Neue"/>
              </a:defRPr>
            </a:lvl2pPr>
            <a:lvl3pPr>
              <a:buNone/>
              <a:defRPr sz="1200" b="0">
                <a:solidFill>
                  <a:srgbClr val="526B7C"/>
                </a:solidFill>
                <a:latin typeface="Helvetica Neue"/>
                <a:ea typeface="Helvetica Neue"/>
                <a:cs typeface="Helvetica Neue"/>
              </a:defRPr>
            </a:lvl3pPr>
            <a:lvl4pPr>
              <a:buNone/>
              <a:defRPr sz="1200" b="0">
                <a:solidFill>
                  <a:srgbClr val="526B7C"/>
                </a:solidFill>
                <a:latin typeface="Helvetica Neue"/>
                <a:ea typeface="Helvetica Neue"/>
                <a:cs typeface="Helvetica Neue"/>
              </a:defRPr>
            </a:lvl4pPr>
            <a:lvl5pPr>
              <a:buNone/>
              <a:defRPr sz="1200" b="0">
                <a:solidFill>
                  <a:srgbClr val="526B7C"/>
                </a:solidFill>
                <a:latin typeface="Helvetica Neue"/>
                <a:ea typeface="Helvetica Neue"/>
                <a:cs typeface="Helvetica Neue"/>
              </a:defRPr>
            </a:lvl5pPr>
            <a:lvl6pPr>
              <a:buNone/>
              <a:defRPr sz="1200" b="0">
                <a:solidFill>
                  <a:srgbClr val="526B7C"/>
                </a:solidFill>
                <a:latin typeface="Helvetica Neue"/>
                <a:ea typeface="Helvetica Neue"/>
                <a:cs typeface="Helvetica Neue"/>
              </a:defRPr>
            </a:lvl6pPr>
            <a:lvl7pPr>
              <a:buNone/>
              <a:defRPr sz="1200" b="0">
                <a:solidFill>
                  <a:srgbClr val="526B7C"/>
                </a:solidFill>
                <a:latin typeface="Helvetica Neue"/>
                <a:ea typeface="Helvetica Neue"/>
                <a:cs typeface="Helvetica Neue"/>
              </a:defRPr>
            </a:lvl7pPr>
            <a:lvl8pPr>
              <a:buNone/>
              <a:defRPr sz="1200" b="0">
                <a:solidFill>
                  <a:srgbClr val="526B7C"/>
                </a:solidFill>
                <a:latin typeface="Helvetica Neue"/>
                <a:ea typeface="Helvetica Neue"/>
                <a:cs typeface="Helvetica Neue"/>
              </a:defRPr>
            </a:lvl8pPr>
            <a:lvl9pPr>
              <a:buNone/>
              <a:defRPr sz="1200" b="0">
                <a:solidFill>
                  <a:srgbClr val="526B7C"/>
                </a:solidFill>
                <a:latin typeface="Helvetica Neue"/>
                <a:ea typeface="Helvetica Neue"/>
                <a:cs typeface="Helvetica Neue"/>
              </a:defRPr>
            </a:lvl9pPr>
          </a:lstStyle>
          <a:p xmlns:a="http://schemas.openxmlformats.org/drawingml/2006/main">
            <a:pPr>
              <a:buNone/>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MerchantLens · Gowtham Ramachandra</a:t>
            </a:r>
          </a:p>
        </p:txBody>
      </p:sp>
      <p:sp>
        <p:nvSpPr>
          <p:cNvPr id="19" name="">
            <a:extLst xmlns:a="http://schemas.openxmlformats.org/drawingml/2006/main">
              <a:ext uri="{FF2B5EF4-FFF2-40B4-BE49-F238E27FC236}">
                <a16:creationId xmlns:a16="http://schemas.microsoft.com/office/drawing/2014/main" id="{3FE3B817-4077-4F9B-81FF-1481FA4F635C}"/>
              </a:ext>
            </a:extLst>
          </p:cNvPr>
          <p:cNvSpPr>
            <a:spLocks xmlns:a="http://schemas.openxmlformats.org/drawingml/2006/main" noGrp="1"/>
          </p:cNvSpPr>
          <p:nvPr/>
        </p:nvSpPr>
        <p:spPr>
          <a:xfrm xmlns:a="http://schemas.openxmlformats.org/drawingml/2006/main">
            <a:off x="10839450" y="646747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buNone/>
              <a:defRPr sz="1200" b="0">
                <a:solidFill>
                  <a:srgbClr val="526B7C"/>
                </a:solidFill>
                <a:latin typeface="Helvetica Neue"/>
                <a:ea typeface="Helvetica Neue"/>
                <a:cs typeface="Helvetica Neue"/>
              </a:defRPr>
            </a:lvl1pPr>
            <a:lvl2pPr>
              <a:buNone/>
              <a:defRPr sz="1200" b="0">
                <a:solidFill>
                  <a:srgbClr val="526B7C"/>
                </a:solidFill>
                <a:latin typeface="Helvetica Neue"/>
                <a:ea typeface="Helvetica Neue"/>
                <a:cs typeface="Helvetica Neue"/>
              </a:defRPr>
            </a:lvl2pPr>
            <a:lvl3pPr>
              <a:buNone/>
              <a:defRPr sz="1200" b="0">
                <a:solidFill>
                  <a:srgbClr val="526B7C"/>
                </a:solidFill>
                <a:latin typeface="Helvetica Neue"/>
                <a:ea typeface="Helvetica Neue"/>
                <a:cs typeface="Helvetica Neue"/>
              </a:defRPr>
            </a:lvl3pPr>
            <a:lvl4pPr>
              <a:buNone/>
              <a:defRPr sz="1200" b="0">
                <a:solidFill>
                  <a:srgbClr val="526B7C"/>
                </a:solidFill>
                <a:latin typeface="Helvetica Neue"/>
                <a:ea typeface="Helvetica Neue"/>
                <a:cs typeface="Helvetica Neue"/>
              </a:defRPr>
            </a:lvl4pPr>
            <a:lvl5pPr>
              <a:buNone/>
              <a:defRPr sz="1200" b="0">
                <a:solidFill>
                  <a:srgbClr val="526B7C"/>
                </a:solidFill>
                <a:latin typeface="Helvetica Neue"/>
                <a:ea typeface="Helvetica Neue"/>
                <a:cs typeface="Helvetica Neue"/>
              </a:defRPr>
            </a:lvl5pPr>
            <a:lvl6pPr>
              <a:buNone/>
              <a:defRPr sz="1200" b="0">
                <a:solidFill>
                  <a:srgbClr val="526B7C"/>
                </a:solidFill>
                <a:latin typeface="Helvetica Neue"/>
                <a:ea typeface="Helvetica Neue"/>
                <a:cs typeface="Helvetica Neue"/>
              </a:defRPr>
            </a:lvl6pPr>
            <a:lvl7pPr>
              <a:buNone/>
              <a:defRPr sz="1200" b="0">
                <a:solidFill>
                  <a:srgbClr val="526B7C"/>
                </a:solidFill>
                <a:latin typeface="Helvetica Neue"/>
                <a:ea typeface="Helvetica Neue"/>
                <a:cs typeface="Helvetica Neue"/>
              </a:defRPr>
            </a:lvl7pPr>
            <a:lvl8pPr>
              <a:buNone/>
              <a:defRPr sz="1200" b="0">
                <a:solidFill>
                  <a:srgbClr val="526B7C"/>
                </a:solidFill>
                <a:latin typeface="Helvetica Neue"/>
                <a:ea typeface="Helvetica Neue"/>
                <a:cs typeface="Helvetica Neue"/>
              </a:defRPr>
            </a:lvl8pPr>
            <a:lvl9pPr>
              <a:buNone/>
              <a:defRPr sz="1200" b="0">
                <a:solidFill>
                  <a:srgbClr val="526B7C"/>
                </a:solidFill>
                <a:latin typeface="Helvetica Neue"/>
                <a:ea typeface="Helvetica Neue"/>
                <a:cs typeface="Helvetica Neue"/>
              </a:defRPr>
            </a:lvl9pPr>
          </a:lstStyle>
          <a:p xmlns:a="http://schemas.openxmlformats.org/drawingml/2006/main">
            <a:pPr>
              <a:buNone/>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2 / 5</a:t>
            </a:r>
          </a:p>
        </p:txBody>
      </p:sp>
    </p:spTree>
    <p:extLst>
      <p:ext uri="{BB962C8B-B14F-4D97-AF65-F5344CB8AC3E}">
        <p14:creationId xmlns:p14="http://schemas.microsoft.com/office/powerpoint/2010/main" val="18546508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D78C9B-0AAA-4463-8E61-A17D1A28F472}"/>
              </a:ext>
            </a:extLst>
          </p:cNvPr>
          <p:cNvSpPr>
            <a:spLocks xmlns:a="http://schemas.openxmlformats.org/drawingml/2006/main" noGrp="1"/>
          </p:cNvSpPr>
          <p:nvPr/>
        </p:nvSpPr>
        <p:spPr>
          <a:xfrm xmlns:a="http://schemas.openxmlformats.org/drawingml/2006/main">
            <a:off x="685800" y="5334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02F43"/>
                </a:solidFill>
                <a:latin typeface="Helvetica Neue"/>
                <a:ea typeface="Helvetica Neue"/>
                <a:cs typeface="Helvetica Neue"/>
              </a:defRPr>
            </a:defPPr>
            <a:lvl1pPr>
              <a:buNone/>
              <a:defRPr sz="3450" b="1">
                <a:solidFill>
                  <a:srgbClr val="102F43"/>
                </a:solidFill>
                <a:latin typeface="Helvetica Neue"/>
                <a:ea typeface="Helvetica Neue"/>
                <a:cs typeface="Helvetica Neue"/>
              </a:defRPr>
            </a:lvl1pPr>
            <a:lvl2pPr>
              <a:buNone/>
              <a:defRPr sz="3450" b="1">
                <a:solidFill>
                  <a:srgbClr val="102F43"/>
                </a:solidFill>
                <a:latin typeface="Helvetica Neue"/>
                <a:ea typeface="Helvetica Neue"/>
                <a:cs typeface="Helvetica Neue"/>
              </a:defRPr>
            </a:lvl2pPr>
            <a:lvl3pPr>
              <a:buNone/>
              <a:defRPr sz="3450" b="1">
                <a:solidFill>
                  <a:srgbClr val="102F43"/>
                </a:solidFill>
                <a:latin typeface="Helvetica Neue"/>
                <a:ea typeface="Helvetica Neue"/>
                <a:cs typeface="Helvetica Neue"/>
              </a:defRPr>
            </a:lvl3pPr>
            <a:lvl4pPr>
              <a:buNone/>
              <a:defRPr sz="3450" b="1">
                <a:solidFill>
                  <a:srgbClr val="102F43"/>
                </a:solidFill>
                <a:latin typeface="Helvetica Neue"/>
                <a:ea typeface="Helvetica Neue"/>
                <a:cs typeface="Helvetica Neue"/>
              </a:defRPr>
            </a:lvl4pPr>
            <a:lvl5pPr>
              <a:buNone/>
              <a:defRPr sz="3450" b="1">
                <a:solidFill>
                  <a:srgbClr val="102F43"/>
                </a:solidFill>
                <a:latin typeface="Helvetica Neue"/>
                <a:ea typeface="Helvetica Neue"/>
                <a:cs typeface="Helvetica Neue"/>
              </a:defRPr>
            </a:lvl5pPr>
            <a:lvl6pPr>
              <a:buNone/>
              <a:defRPr sz="3450" b="1">
                <a:solidFill>
                  <a:srgbClr val="102F43"/>
                </a:solidFill>
                <a:latin typeface="Helvetica Neue"/>
                <a:ea typeface="Helvetica Neue"/>
                <a:cs typeface="Helvetica Neue"/>
              </a:defRPr>
            </a:lvl6pPr>
            <a:lvl7pPr>
              <a:buNone/>
              <a:defRPr sz="3450" b="1">
                <a:solidFill>
                  <a:srgbClr val="102F43"/>
                </a:solidFill>
                <a:latin typeface="Helvetica Neue"/>
                <a:ea typeface="Helvetica Neue"/>
                <a:cs typeface="Helvetica Neue"/>
              </a:defRPr>
            </a:lvl7pPr>
            <a:lvl8pPr>
              <a:buNone/>
              <a:defRPr sz="3450" b="1">
                <a:solidFill>
                  <a:srgbClr val="102F43"/>
                </a:solidFill>
                <a:latin typeface="Helvetica Neue"/>
                <a:ea typeface="Helvetica Neue"/>
                <a:cs typeface="Helvetica Neue"/>
              </a:defRPr>
            </a:lvl8pPr>
            <a:lvl9pPr>
              <a:buNone/>
              <a:defRPr sz="3450" b="1">
                <a:solidFill>
                  <a:srgbClr val="102F43"/>
                </a:solidFill>
                <a:latin typeface="Helvetica Neue"/>
                <a:ea typeface="Helvetica Neue"/>
                <a:cs typeface="Helvetica Neue"/>
              </a:defRPr>
            </a:lvl9pPr>
          </a:lstStyle>
          <a:p xmlns:a="http://schemas.openxmlformats.org/drawingml/2006/main">
            <a:pPr>
              <a:buNone/>
              <a:defRPr sz="3300" b="1">
                <a:solidFill>
                  <a:srgbClr val="102F43"/>
                </a:solidFill>
                <a:latin typeface="Helvetica Neue"/>
                <a:ea typeface="Helvetica Neue"/>
                <a:cs typeface="Helvetica Neue"/>
              </a:defRPr>
            </a:pPr>
            <a:r>
              <a:rPr sz="3300" b="1">
                <a:solidFill>
                  <a:srgbClr val="102F43"/>
                </a:solidFill>
                <a:latin typeface="Helvetica Neue"/>
                <a:ea typeface="Helvetica Neue"/>
                <a:cs typeface="Helvetica Neue"/>
              </a:rPr>
              <a:t>Voice recovery, codecs and runtime</a:t>
            </a:r>
          </a:p>
        </p:txBody>
      </p:sp>
      <p:sp>
        <p:nvSpPr>
          <p:cNvPr id="2" name="">
            <a:extLst xmlns:a="http://schemas.openxmlformats.org/drawingml/2006/main">
              <a:ext uri="{FF2B5EF4-FFF2-40B4-BE49-F238E27FC236}">
                <a16:creationId xmlns:a16="http://schemas.microsoft.com/office/drawing/2014/main" id="{915C1400-4AC6-4133-8410-1940910D87FB}"/>
              </a:ext>
            </a:extLst>
          </p:cNvPr>
          <p:cNvSpPr>
            <a:spLocks xmlns:a="http://schemas.openxmlformats.org/drawingml/2006/main" noGrp="1"/>
          </p:cNvSpPr>
          <p:nvPr/>
        </p:nvSpPr>
        <p:spPr>
          <a:xfrm xmlns:a="http://schemas.openxmlformats.org/drawingml/2006/main">
            <a:off x="704850" y="13811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02F43"/>
                </a:solidFill>
                <a:latin typeface="Helvetica Neue"/>
                <a:ea typeface="Helvetica Neue"/>
                <a:cs typeface="Helvetica Neue"/>
              </a:defRPr>
            </a:defPPr>
            <a:lvl1pPr>
              <a:buNone/>
              <a:defRPr sz="2550" b="1">
                <a:solidFill>
                  <a:srgbClr val="00A9D6"/>
                </a:solidFill>
                <a:latin typeface="Helvetica Neue"/>
                <a:ea typeface="Helvetica Neue"/>
                <a:cs typeface="Helvetica Neue"/>
              </a:defRPr>
            </a:lvl1pPr>
            <a:lvl2pPr>
              <a:buNone/>
              <a:defRPr sz="2550" b="1">
                <a:solidFill>
                  <a:srgbClr val="00A9D6"/>
                </a:solidFill>
                <a:latin typeface="Helvetica Neue"/>
                <a:ea typeface="Helvetica Neue"/>
                <a:cs typeface="Helvetica Neue"/>
              </a:defRPr>
            </a:lvl2pPr>
            <a:lvl3pPr>
              <a:buNone/>
              <a:defRPr sz="2550" b="1">
                <a:solidFill>
                  <a:srgbClr val="00A9D6"/>
                </a:solidFill>
                <a:latin typeface="Helvetica Neue"/>
                <a:ea typeface="Helvetica Neue"/>
                <a:cs typeface="Helvetica Neue"/>
              </a:defRPr>
            </a:lvl3pPr>
            <a:lvl4pPr>
              <a:buNone/>
              <a:defRPr sz="2550" b="1">
                <a:solidFill>
                  <a:srgbClr val="00A9D6"/>
                </a:solidFill>
                <a:latin typeface="Helvetica Neue"/>
                <a:ea typeface="Helvetica Neue"/>
                <a:cs typeface="Helvetica Neue"/>
              </a:defRPr>
            </a:lvl4pPr>
            <a:lvl5pPr>
              <a:buNone/>
              <a:defRPr sz="2550" b="1">
                <a:solidFill>
                  <a:srgbClr val="00A9D6"/>
                </a:solidFill>
                <a:latin typeface="Helvetica Neue"/>
                <a:ea typeface="Helvetica Neue"/>
                <a:cs typeface="Helvetica Neue"/>
              </a:defRPr>
            </a:lvl5pPr>
            <a:lvl6pPr>
              <a:buNone/>
              <a:defRPr sz="2550" b="1">
                <a:solidFill>
                  <a:srgbClr val="00A9D6"/>
                </a:solidFill>
                <a:latin typeface="Helvetica Neue"/>
                <a:ea typeface="Helvetica Neue"/>
                <a:cs typeface="Helvetica Neue"/>
              </a:defRPr>
            </a:lvl6pPr>
            <a:lvl7pPr>
              <a:buNone/>
              <a:defRPr sz="2550" b="1">
                <a:solidFill>
                  <a:srgbClr val="00A9D6"/>
                </a:solidFill>
                <a:latin typeface="Helvetica Neue"/>
                <a:ea typeface="Helvetica Neue"/>
                <a:cs typeface="Helvetica Neue"/>
              </a:defRPr>
            </a:lvl7pPr>
            <a:lvl8pPr>
              <a:buNone/>
              <a:defRPr sz="2550" b="1">
                <a:solidFill>
                  <a:srgbClr val="00A9D6"/>
                </a:solidFill>
                <a:latin typeface="Helvetica Neue"/>
                <a:ea typeface="Helvetica Neue"/>
                <a:cs typeface="Helvetica Neue"/>
              </a:defRPr>
            </a:lvl8pPr>
            <a:lvl9pPr>
              <a:buNone/>
              <a:defRPr sz="2550" b="1">
                <a:solidFill>
                  <a:srgbClr val="00A9D6"/>
                </a:solidFill>
                <a:latin typeface="Helvetica Neue"/>
                <a:ea typeface="Helvetica Neue"/>
                <a:cs typeface="Helvetica Neue"/>
              </a:defRPr>
            </a:lvl9pPr>
          </a:lstStyle>
          <a:p xmlns:a="http://schemas.openxmlformats.org/drawingml/2006/main">
            <a:pPr>
              <a:buNone/>
              <a:defRPr sz="2100" b="1">
                <a:solidFill>
                  <a:srgbClr val="102F43"/>
                </a:solidFill>
                <a:latin typeface="Helvetica Neue"/>
                <a:ea typeface="Helvetica Neue"/>
                <a:cs typeface="Helvetica Neue"/>
              </a:defRPr>
            </a:pPr>
            <a:r>
              <a:rPr sz="2100" b="1">
                <a:solidFill>
                  <a:srgbClr val="102F43"/>
                </a:solidFill>
                <a:latin typeface="Helvetica Neue"/>
                <a:ea typeface="Helvetica Neue"/>
                <a:cs typeface="Helvetica Neue"/>
              </a:rPr>
              <a:t>Mic → local VAD → Gemini transcription → editable text → Send</a:t>
            </a:r>
          </a:p>
        </p:txBody>
      </p:sp>
      <p:sp>
        <p:nvSpPr>
          <p:cNvPr id="3" name="">
            <a:extLst xmlns:a="http://schemas.openxmlformats.org/drawingml/2006/main">
              <a:ext uri="{FF2B5EF4-FFF2-40B4-BE49-F238E27FC236}">
                <a16:creationId xmlns:a16="http://schemas.microsoft.com/office/drawing/2014/main" id="{B3017A7C-BF36-4E49-A614-022B305A4674}"/>
              </a:ext>
            </a:extLst>
          </p:cNvPr>
          <p:cNvSpPr>
            <a:spLocks xmlns:a="http://schemas.openxmlformats.org/drawingml/2006/main" noGrp="1"/>
          </p:cNvSpPr>
          <p:nvPr/>
        </p:nvSpPr>
        <p:spPr>
          <a:xfrm xmlns:a="http://schemas.openxmlformats.org/drawingml/2006/main">
            <a:off x="704850" y="188595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02F43"/>
                </a:solidFill>
                <a:latin typeface="Helvetica Neue"/>
                <a:ea typeface="Helvetica Neue"/>
                <a:cs typeface="Helvetica Neue"/>
              </a:defRPr>
            </a:defPPr>
            <a:lvl1pPr>
              <a:buNone/>
              <a:defRPr sz="2175" b="1">
                <a:solidFill>
                  <a:srgbClr val="102F43"/>
                </a:solidFill>
                <a:latin typeface="Helvetica Neue"/>
                <a:ea typeface="Helvetica Neue"/>
                <a:cs typeface="Helvetica Neue"/>
              </a:defRPr>
            </a:lvl1pPr>
            <a:lvl2pPr>
              <a:buNone/>
              <a:defRPr sz="2175" b="1">
                <a:solidFill>
                  <a:srgbClr val="102F43"/>
                </a:solidFill>
                <a:latin typeface="Helvetica Neue"/>
                <a:ea typeface="Helvetica Neue"/>
                <a:cs typeface="Helvetica Neue"/>
              </a:defRPr>
            </a:lvl2pPr>
            <a:lvl3pPr>
              <a:buNone/>
              <a:defRPr sz="2175" b="1">
                <a:solidFill>
                  <a:srgbClr val="102F43"/>
                </a:solidFill>
                <a:latin typeface="Helvetica Neue"/>
                <a:ea typeface="Helvetica Neue"/>
                <a:cs typeface="Helvetica Neue"/>
              </a:defRPr>
            </a:lvl3pPr>
            <a:lvl4pPr>
              <a:buNone/>
              <a:defRPr sz="2175" b="1">
                <a:solidFill>
                  <a:srgbClr val="102F43"/>
                </a:solidFill>
                <a:latin typeface="Helvetica Neue"/>
                <a:ea typeface="Helvetica Neue"/>
                <a:cs typeface="Helvetica Neue"/>
              </a:defRPr>
            </a:lvl4pPr>
            <a:lvl5pPr>
              <a:buNone/>
              <a:defRPr sz="2175" b="1">
                <a:solidFill>
                  <a:srgbClr val="102F43"/>
                </a:solidFill>
                <a:latin typeface="Helvetica Neue"/>
                <a:ea typeface="Helvetica Neue"/>
                <a:cs typeface="Helvetica Neue"/>
              </a:defRPr>
            </a:lvl5pPr>
            <a:lvl6pPr>
              <a:buNone/>
              <a:defRPr sz="2175" b="1">
                <a:solidFill>
                  <a:srgbClr val="102F43"/>
                </a:solidFill>
                <a:latin typeface="Helvetica Neue"/>
                <a:ea typeface="Helvetica Neue"/>
                <a:cs typeface="Helvetica Neue"/>
              </a:defRPr>
            </a:lvl6pPr>
            <a:lvl7pPr>
              <a:buNone/>
              <a:defRPr sz="2175" b="1">
                <a:solidFill>
                  <a:srgbClr val="102F43"/>
                </a:solidFill>
                <a:latin typeface="Helvetica Neue"/>
                <a:ea typeface="Helvetica Neue"/>
                <a:cs typeface="Helvetica Neue"/>
              </a:defRPr>
            </a:lvl7pPr>
            <a:lvl8pPr>
              <a:buNone/>
              <a:defRPr sz="2175" b="1">
                <a:solidFill>
                  <a:srgbClr val="102F43"/>
                </a:solidFill>
                <a:latin typeface="Helvetica Neue"/>
                <a:ea typeface="Helvetica Neue"/>
                <a:cs typeface="Helvetica Neue"/>
              </a:defRPr>
            </a:lvl8pPr>
            <a:lvl9pPr>
              <a:buNone/>
              <a:defRPr sz="2175" b="1">
                <a:solidFill>
                  <a:srgbClr val="102F43"/>
                </a:solidFill>
                <a:latin typeface="Helvetica Neue"/>
                <a:ea typeface="Helvetica Neue"/>
                <a:cs typeface="Helvetica Neue"/>
              </a:defRPr>
            </a:lvl9pPr>
          </a:lstStyle>
          <a:p xmlns:a="http://schemas.openxmlformats.org/drawingml/2006/main">
            <a:pPr>
              <a:buNone/>
              <a:defRPr sz="2025" b="1">
                <a:solidFill>
                  <a:srgbClr val="102F43"/>
                </a:solidFill>
                <a:latin typeface="Helvetica Neue"/>
                <a:ea typeface="Helvetica Neue"/>
                <a:cs typeface="Helvetica Neue"/>
              </a:defRPr>
            </a:pPr>
            <a:r>
              <a:rPr sz="2025" b="1">
                <a:solidFill>
                  <a:srgbClr val="102F43"/>
                </a:solidFill>
                <a:latin typeface="Helvetica Neue"/>
                <a:ea typeface="Helvetica Neue"/>
                <a:cs typeface="Helvetica Neue"/>
              </a:rPr>
              <a:t>Interview API → bounded agent harness → next question → reviewed brief</a:t>
            </a:r>
          </a:p>
        </p:txBody>
      </p:sp>
      <p:sp>
        <p:nvSpPr>
          <p:cNvPr id="4" name="">
            <a:extLst xmlns:a="http://schemas.openxmlformats.org/drawingml/2006/main">
              <a:ext uri="{FF2B5EF4-FFF2-40B4-BE49-F238E27FC236}">
                <a16:creationId xmlns:a16="http://schemas.microsoft.com/office/drawing/2014/main" id="{56B5B450-DE77-4209-827E-E388EFF93B7E}"/>
              </a:ext>
            </a:extLst>
          </p:cNvPr>
          <p:cNvSpPr>
            <a:spLocks xmlns:a="http://schemas.openxmlformats.org/drawingml/2006/main" noGrp="1"/>
          </p:cNvSpPr>
          <p:nvPr/>
        </p:nvSpPr>
        <p:spPr>
          <a:xfrm xmlns:a="http://schemas.openxmlformats.org/drawingml/2006/main">
            <a:off x="704850" y="26384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A9D6"/>
                </a:solidFill>
                <a:latin typeface="Helvetica Neue"/>
                <a:ea typeface="Helvetica Neue"/>
                <a:cs typeface="Helvetica Neue"/>
              </a:defRPr>
            </a:defPPr>
            <a:lvl1pPr>
              <a:buNone/>
              <a:defRPr sz="1875" b="0">
                <a:solidFill>
                  <a:srgbClr val="526B7C"/>
                </a:solidFill>
                <a:latin typeface="Helvetica Neue"/>
                <a:ea typeface="Helvetica Neue"/>
                <a:cs typeface="Helvetica Neue"/>
              </a:defRPr>
            </a:lvl1pPr>
            <a:lvl2pPr>
              <a:buNone/>
              <a:defRPr sz="1875" b="0">
                <a:solidFill>
                  <a:srgbClr val="526B7C"/>
                </a:solidFill>
                <a:latin typeface="Helvetica Neue"/>
                <a:ea typeface="Helvetica Neue"/>
                <a:cs typeface="Helvetica Neue"/>
              </a:defRPr>
            </a:lvl2pPr>
            <a:lvl3pPr>
              <a:buNone/>
              <a:defRPr sz="1875" b="0">
                <a:solidFill>
                  <a:srgbClr val="526B7C"/>
                </a:solidFill>
                <a:latin typeface="Helvetica Neue"/>
                <a:ea typeface="Helvetica Neue"/>
                <a:cs typeface="Helvetica Neue"/>
              </a:defRPr>
            </a:lvl3pPr>
            <a:lvl4pPr>
              <a:buNone/>
              <a:defRPr sz="1875" b="0">
                <a:solidFill>
                  <a:srgbClr val="526B7C"/>
                </a:solidFill>
                <a:latin typeface="Helvetica Neue"/>
                <a:ea typeface="Helvetica Neue"/>
                <a:cs typeface="Helvetica Neue"/>
              </a:defRPr>
            </a:lvl4pPr>
            <a:lvl5pPr>
              <a:buNone/>
              <a:defRPr sz="1875" b="0">
                <a:solidFill>
                  <a:srgbClr val="526B7C"/>
                </a:solidFill>
                <a:latin typeface="Helvetica Neue"/>
                <a:ea typeface="Helvetica Neue"/>
                <a:cs typeface="Helvetica Neue"/>
              </a:defRPr>
            </a:lvl5pPr>
            <a:lvl6pPr>
              <a:buNone/>
              <a:defRPr sz="1875" b="0">
                <a:solidFill>
                  <a:srgbClr val="526B7C"/>
                </a:solidFill>
                <a:latin typeface="Helvetica Neue"/>
                <a:ea typeface="Helvetica Neue"/>
                <a:cs typeface="Helvetica Neue"/>
              </a:defRPr>
            </a:lvl6pPr>
            <a:lvl7pPr>
              <a:buNone/>
              <a:defRPr sz="1875" b="0">
                <a:solidFill>
                  <a:srgbClr val="526B7C"/>
                </a:solidFill>
                <a:latin typeface="Helvetica Neue"/>
                <a:ea typeface="Helvetica Neue"/>
                <a:cs typeface="Helvetica Neue"/>
              </a:defRPr>
            </a:lvl7pPr>
            <a:lvl8pPr>
              <a:buNone/>
              <a:defRPr sz="1875" b="0">
                <a:solidFill>
                  <a:srgbClr val="526B7C"/>
                </a:solidFill>
                <a:latin typeface="Helvetica Neue"/>
                <a:ea typeface="Helvetica Neue"/>
                <a:cs typeface="Helvetica Neue"/>
              </a:defRPr>
            </a:lvl8pPr>
            <a:lvl9pPr>
              <a:buNone/>
              <a:defRPr sz="1875" b="0">
                <a:solidFill>
                  <a:srgbClr val="526B7C"/>
                </a:solidFill>
                <a:latin typeface="Helvetica Neue"/>
                <a:ea typeface="Helvetica Neue"/>
                <a:cs typeface="Helvetica Neue"/>
              </a:defRPr>
            </a:lvl9pPr>
          </a:lstStyle>
          <a:p xmlns:a="http://schemas.openxmlformats.org/drawingml/2006/main">
            <a:pPr>
              <a:buNone/>
              <a:defRPr sz="2175" b="1">
                <a:solidFill>
                  <a:srgbClr val="00A9D6"/>
                </a:solidFill>
                <a:latin typeface="Helvetica Neue"/>
                <a:ea typeface="Helvetica Neue"/>
                <a:cs typeface="Helvetica Neue"/>
              </a:defRPr>
            </a:pPr>
            <a:r>
              <a:rPr sz="2175" b="1">
                <a:solidFill>
                  <a:srgbClr val="00A9D6"/>
                </a:solidFill>
                <a:latin typeface="Helvetica Neue"/>
                <a:ea typeface="Helvetica Neue"/>
                <a:cs typeface="Helvetica Neue"/>
              </a:rPr>
              <a:t>Voice feedback incorporated</a:t>
            </a:r>
          </a:p>
        </p:txBody>
      </p:sp>
      <p:sp>
        <p:nvSpPr>
          <p:cNvPr id="5" name="">
            <a:extLst xmlns:a="http://schemas.openxmlformats.org/drawingml/2006/main">
              <a:ext uri="{FF2B5EF4-FFF2-40B4-BE49-F238E27FC236}">
                <a16:creationId xmlns:a16="http://schemas.microsoft.com/office/drawing/2014/main" id="{82E76C14-9AFA-47EB-807B-E7EC871CECD5}"/>
              </a:ext>
            </a:extLst>
          </p:cNvPr>
          <p:cNvSpPr>
            <a:spLocks xmlns:a="http://schemas.openxmlformats.org/drawingml/2006/main" noGrp="1"/>
          </p:cNvSpPr>
          <p:nvPr/>
        </p:nvSpPr>
        <p:spPr>
          <a:xfrm xmlns:a="http://schemas.openxmlformats.org/drawingml/2006/main">
            <a:off x="704850" y="3133725"/>
            <a:ext cx="5267325"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02F43"/>
                </a:solidFill>
                <a:latin typeface="Helvetica Neue"/>
                <a:ea typeface="Helvetica Neue"/>
                <a:cs typeface="Helvetica Neue"/>
              </a:defRPr>
            </a:defPPr>
            <a:lvl1pPr>
              <a:buNone/>
              <a:defRPr sz="2175" b="1">
                <a:solidFill>
                  <a:srgbClr val="102F43"/>
                </a:solidFill>
                <a:latin typeface="Helvetica Neue"/>
                <a:ea typeface="Helvetica Neue"/>
                <a:cs typeface="Helvetica Neue"/>
              </a:defRPr>
            </a:lvl1pPr>
            <a:lvl2pPr>
              <a:buNone/>
              <a:defRPr sz="2175" b="1">
                <a:solidFill>
                  <a:srgbClr val="102F43"/>
                </a:solidFill>
                <a:latin typeface="Helvetica Neue"/>
                <a:ea typeface="Helvetica Neue"/>
                <a:cs typeface="Helvetica Neue"/>
              </a:defRPr>
            </a:lvl2pPr>
            <a:lvl3pPr>
              <a:buNone/>
              <a:defRPr sz="2175" b="1">
                <a:solidFill>
                  <a:srgbClr val="102F43"/>
                </a:solidFill>
                <a:latin typeface="Helvetica Neue"/>
                <a:ea typeface="Helvetica Neue"/>
                <a:cs typeface="Helvetica Neue"/>
              </a:defRPr>
            </a:lvl3pPr>
            <a:lvl4pPr>
              <a:buNone/>
              <a:defRPr sz="2175" b="1">
                <a:solidFill>
                  <a:srgbClr val="102F43"/>
                </a:solidFill>
                <a:latin typeface="Helvetica Neue"/>
                <a:ea typeface="Helvetica Neue"/>
                <a:cs typeface="Helvetica Neue"/>
              </a:defRPr>
            </a:lvl4pPr>
            <a:lvl5pPr>
              <a:buNone/>
              <a:defRPr sz="2175" b="1">
                <a:solidFill>
                  <a:srgbClr val="102F43"/>
                </a:solidFill>
                <a:latin typeface="Helvetica Neue"/>
                <a:ea typeface="Helvetica Neue"/>
                <a:cs typeface="Helvetica Neue"/>
              </a:defRPr>
            </a:lvl5pPr>
            <a:lvl6pPr>
              <a:buNone/>
              <a:defRPr sz="2175" b="1">
                <a:solidFill>
                  <a:srgbClr val="102F43"/>
                </a:solidFill>
                <a:latin typeface="Helvetica Neue"/>
                <a:ea typeface="Helvetica Neue"/>
                <a:cs typeface="Helvetica Neue"/>
              </a:defRPr>
            </a:lvl6pPr>
            <a:lvl7pPr>
              <a:buNone/>
              <a:defRPr sz="2175" b="1">
                <a:solidFill>
                  <a:srgbClr val="102F43"/>
                </a:solidFill>
                <a:latin typeface="Helvetica Neue"/>
                <a:ea typeface="Helvetica Neue"/>
                <a:cs typeface="Helvetica Neue"/>
              </a:defRPr>
            </a:lvl7pPr>
            <a:lvl8pPr>
              <a:buNone/>
              <a:defRPr sz="2175" b="1">
                <a:solidFill>
                  <a:srgbClr val="102F43"/>
                </a:solidFill>
                <a:latin typeface="Helvetica Neue"/>
                <a:ea typeface="Helvetica Neue"/>
                <a:cs typeface="Helvetica Neue"/>
              </a:defRPr>
            </a:lvl8pPr>
            <a:lvl9pPr>
              <a:buNone/>
              <a:defRPr sz="2175" b="1">
                <a:solidFill>
                  <a:srgbClr val="102F43"/>
                </a:solidFill>
                <a:latin typeface="Helvetica Neue"/>
                <a:ea typeface="Helvetica Neue"/>
                <a:cs typeface="Helvetica Neue"/>
              </a:defRPr>
            </a:lvl9pPr>
          </a:lstStyle>
          <a:p xmlns:a="http://schemas.openxmlformats.org/drawingml/2006/main">
            <a:pPr>
              <a:buNone/>
              <a:defRPr sz="1725"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MediaRecorder replaces failed browser recognition</a:t>
            </a:r>
          </a:p>
          <a:p xmlns:a="http://schemas.openxmlformats.org/drawingml/2006/main">
            <a:pPr>
              <a:buNone/>
              <a:defRPr sz="1725"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Local VAD: 1.2 / 2 / 3.5 s; manual Stop available</a:t>
            </a:r>
          </a:p>
          <a:p xmlns:a="http://schemas.openxmlformats.org/drawingml/2006/main">
            <a:pPr>
              <a:buNone/>
              <a:defRPr sz="1725"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English, Hindi, Kannada and Hinglish input</a:t>
            </a:r>
          </a:p>
          <a:p xmlns:a="http://schemas.openxmlformats.org/drawingml/2006/main">
            <a:pPr>
              <a:buNone/>
              <a:defRPr sz="1725"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Opus/WebM preferred; tested WAV: PCM, 24 kHz mono</a:t>
            </a:r>
          </a:p>
          <a:p xmlns:a="http://schemas.openxmlformats.org/drawingml/2006/main">
            <a:pPr>
              <a:buNone/>
              <a:defRPr sz="1725"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Gemini transcription + Kore TTS; device fallback</a:t>
            </a:r>
          </a:p>
        </p:txBody>
      </p:sp>
      <p:sp>
        <p:nvSpPr>
          <p:cNvPr id="6" name="">
            <a:extLst xmlns:a="http://schemas.openxmlformats.org/drawingml/2006/main">
              <a:ext uri="{FF2B5EF4-FFF2-40B4-BE49-F238E27FC236}">
                <a16:creationId xmlns:a16="http://schemas.microsoft.com/office/drawing/2014/main" id="{C0FFC240-0164-4ADC-8727-FFB6DE2FA9BA}"/>
              </a:ext>
            </a:extLst>
          </p:cNvPr>
          <p:cNvSpPr>
            <a:spLocks xmlns:a="http://schemas.openxmlformats.org/drawingml/2006/main" noGrp="1"/>
          </p:cNvSpPr>
          <p:nvPr/>
        </p:nvSpPr>
        <p:spPr>
          <a:xfrm xmlns:a="http://schemas.openxmlformats.org/drawingml/2006/main">
            <a:off x="704850" y="5495925"/>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A9D6"/>
                </a:solidFill>
                <a:latin typeface="Helvetica Neue"/>
                <a:ea typeface="Helvetica Neue"/>
                <a:cs typeface="Helvetica Neue"/>
              </a:defRPr>
            </a:defPPr>
            <a:lvl1pPr>
              <a:buNone/>
              <a:defRPr sz="1875" b="0">
                <a:solidFill>
                  <a:srgbClr val="526B7C"/>
                </a:solidFill>
                <a:latin typeface="Helvetica Neue"/>
                <a:ea typeface="Helvetica Neue"/>
                <a:cs typeface="Helvetica Neue"/>
              </a:defRPr>
            </a:lvl1pPr>
            <a:lvl2pPr>
              <a:buNone/>
              <a:defRPr sz="1875" b="0">
                <a:solidFill>
                  <a:srgbClr val="526B7C"/>
                </a:solidFill>
                <a:latin typeface="Helvetica Neue"/>
                <a:ea typeface="Helvetica Neue"/>
                <a:cs typeface="Helvetica Neue"/>
              </a:defRPr>
            </a:lvl2pPr>
            <a:lvl3pPr>
              <a:buNone/>
              <a:defRPr sz="1875" b="0">
                <a:solidFill>
                  <a:srgbClr val="526B7C"/>
                </a:solidFill>
                <a:latin typeface="Helvetica Neue"/>
                <a:ea typeface="Helvetica Neue"/>
                <a:cs typeface="Helvetica Neue"/>
              </a:defRPr>
            </a:lvl3pPr>
            <a:lvl4pPr>
              <a:buNone/>
              <a:defRPr sz="1875" b="0">
                <a:solidFill>
                  <a:srgbClr val="526B7C"/>
                </a:solidFill>
                <a:latin typeface="Helvetica Neue"/>
                <a:ea typeface="Helvetica Neue"/>
                <a:cs typeface="Helvetica Neue"/>
              </a:defRPr>
            </a:lvl4pPr>
            <a:lvl5pPr>
              <a:buNone/>
              <a:defRPr sz="1875" b="0">
                <a:solidFill>
                  <a:srgbClr val="526B7C"/>
                </a:solidFill>
                <a:latin typeface="Helvetica Neue"/>
                <a:ea typeface="Helvetica Neue"/>
                <a:cs typeface="Helvetica Neue"/>
              </a:defRPr>
            </a:lvl5pPr>
            <a:lvl6pPr>
              <a:buNone/>
              <a:defRPr sz="1875" b="0">
                <a:solidFill>
                  <a:srgbClr val="526B7C"/>
                </a:solidFill>
                <a:latin typeface="Helvetica Neue"/>
                <a:ea typeface="Helvetica Neue"/>
                <a:cs typeface="Helvetica Neue"/>
              </a:defRPr>
            </a:lvl6pPr>
            <a:lvl7pPr>
              <a:buNone/>
              <a:defRPr sz="1875" b="0">
                <a:solidFill>
                  <a:srgbClr val="526B7C"/>
                </a:solidFill>
                <a:latin typeface="Helvetica Neue"/>
                <a:ea typeface="Helvetica Neue"/>
                <a:cs typeface="Helvetica Neue"/>
              </a:defRPr>
            </a:lvl7pPr>
            <a:lvl8pPr>
              <a:buNone/>
              <a:defRPr sz="1875" b="0">
                <a:solidFill>
                  <a:srgbClr val="526B7C"/>
                </a:solidFill>
                <a:latin typeface="Helvetica Neue"/>
                <a:ea typeface="Helvetica Neue"/>
                <a:cs typeface="Helvetica Neue"/>
              </a:defRPr>
            </a:lvl8pPr>
            <a:lvl9pPr>
              <a:buNone/>
              <a:defRPr sz="1875" b="0">
                <a:solidFill>
                  <a:srgbClr val="526B7C"/>
                </a:solidFill>
                <a:latin typeface="Helvetica Neue"/>
                <a:ea typeface="Helvetica Neue"/>
                <a:cs typeface="Helvetica Neue"/>
              </a:defRPr>
            </a:lvl9pPr>
          </a:lstStyle>
          <a:p xmlns:a="http://schemas.openxmlformats.org/drawingml/2006/main">
            <a:pPr>
              <a:buNone/>
              <a:defRPr sz="2025" b="1">
                <a:solidFill>
                  <a:srgbClr val="00A9D6"/>
                </a:solidFill>
                <a:latin typeface="Helvetica Neue"/>
                <a:ea typeface="Helvetica Neue"/>
                <a:cs typeface="Helvetica Neue"/>
              </a:defRPr>
            </a:pPr>
            <a:r>
              <a:rPr sz="2025" b="1">
                <a:solidFill>
                  <a:srgbClr val="00A9D6"/>
                </a:solidFill>
                <a:latin typeface="Helvetica Neue"/>
                <a:ea typeface="Helvetica Neue"/>
                <a:cs typeface="Helvetica Neue"/>
              </a:rPr>
              <a:t>Runtime and data boundary</a:t>
            </a:r>
          </a:p>
        </p:txBody>
      </p:sp>
      <p:sp>
        <p:nvSpPr>
          <p:cNvPr id="7" name="">
            <a:extLst xmlns:a="http://schemas.openxmlformats.org/drawingml/2006/main">
              <a:ext uri="{FF2B5EF4-FFF2-40B4-BE49-F238E27FC236}">
                <a16:creationId xmlns:a16="http://schemas.microsoft.com/office/drawing/2014/main" id="{1C027901-8D5C-466F-BCCB-56E2B05F6D7E}"/>
              </a:ext>
            </a:extLst>
          </p:cNvPr>
          <p:cNvSpPr>
            <a:spLocks xmlns:a="http://schemas.openxmlformats.org/drawingml/2006/main" noGrp="1"/>
          </p:cNvSpPr>
          <p:nvPr/>
        </p:nvSpPr>
        <p:spPr>
          <a:xfrm xmlns:a="http://schemas.openxmlformats.org/drawingml/2006/main">
            <a:off x="704850" y="5905500"/>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02F43"/>
                </a:solidFill>
                <a:latin typeface="Helvetica Neue"/>
                <a:ea typeface="Helvetica Neue"/>
                <a:cs typeface="Helvetica Neue"/>
              </a:defRPr>
            </a:defPPr>
            <a:lvl1pPr>
              <a:buNone/>
              <a:defRPr sz="2175" b="1">
                <a:solidFill>
                  <a:srgbClr val="102F43"/>
                </a:solidFill>
                <a:latin typeface="Helvetica Neue"/>
                <a:ea typeface="Helvetica Neue"/>
                <a:cs typeface="Helvetica Neue"/>
              </a:defRPr>
            </a:lvl1pPr>
            <a:lvl2pPr>
              <a:buNone/>
              <a:defRPr sz="2175" b="1">
                <a:solidFill>
                  <a:srgbClr val="102F43"/>
                </a:solidFill>
                <a:latin typeface="Helvetica Neue"/>
                <a:ea typeface="Helvetica Neue"/>
                <a:cs typeface="Helvetica Neue"/>
              </a:defRPr>
            </a:lvl2pPr>
            <a:lvl3pPr>
              <a:buNone/>
              <a:defRPr sz="2175" b="1">
                <a:solidFill>
                  <a:srgbClr val="102F43"/>
                </a:solidFill>
                <a:latin typeface="Helvetica Neue"/>
                <a:ea typeface="Helvetica Neue"/>
                <a:cs typeface="Helvetica Neue"/>
              </a:defRPr>
            </a:lvl3pPr>
            <a:lvl4pPr>
              <a:buNone/>
              <a:defRPr sz="2175" b="1">
                <a:solidFill>
                  <a:srgbClr val="102F43"/>
                </a:solidFill>
                <a:latin typeface="Helvetica Neue"/>
                <a:ea typeface="Helvetica Neue"/>
                <a:cs typeface="Helvetica Neue"/>
              </a:defRPr>
            </a:lvl4pPr>
            <a:lvl5pPr>
              <a:buNone/>
              <a:defRPr sz="2175" b="1">
                <a:solidFill>
                  <a:srgbClr val="102F43"/>
                </a:solidFill>
                <a:latin typeface="Helvetica Neue"/>
                <a:ea typeface="Helvetica Neue"/>
                <a:cs typeface="Helvetica Neue"/>
              </a:defRPr>
            </a:lvl5pPr>
            <a:lvl6pPr>
              <a:buNone/>
              <a:defRPr sz="2175" b="1">
                <a:solidFill>
                  <a:srgbClr val="102F43"/>
                </a:solidFill>
                <a:latin typeface="Helvetica Neue"/>
                <a:ea typeface="Helvetica Neue"/>
                <a:cs typeface="Helvetica Neue"/>
              </a:defRPr>
            </a:lvl6pPr>
            <a:lvl7pPr>
              <a:buNone/>
              <a:defRPr sz="2175" b="1">
                <a:solidFill>
                  <a:srgbClr val="102F43"/>
                </a:solidFill>
                <a:latin typeface="Helvetica Neue"/>
                <a:ea typeface="Helvetica Neue"/>
                <a:cs typeface="Helvetica Neue"/>
              </a:defRPr>
            </a:lvl7pPr>
            <a:lvl8pPr>
              <a:buNone/>
              <a:defRPr sz="2175" b="1">
                <a:solidFill>
                  <a:srgbClr val="102F43"/>
                </a:solidFill>
                <a:latin typeface="Helvetica Neue"/>
                <a:ea typeface="Helvetica Neue"/>
                <a:cs typeface="Helvetica Neue"/>
              </a:defRPr>
            </a:lvl8pPr>
            <a:lvl9pPr>
              <a:buNone/>
              <a:defRPr sz="2175" b="1">
                <a:solidFill>
                  <a:srgbClr val="102F43"/>
                </a:solidFill>
                <a:latin typeface="Helvetica Neue"/>
                <a:ea typeface="Helvetica Neue"/>
                <a:cs typeface="Helvetica Neue"/>
              </a:defRPr>
            </a:lvl9pPr>
          </a:lstStyle>
          <a:p xmlns:a="http://schemas.openxmlformats.org/drawingml/2006/main">
            <a:pPr>
              <a:buNone/>
              <a:defRPr sz="1725"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React 19 · TypeScript · Vinext/Vite · Node 24</a:t>
            </a:r>
          </a:p>
          <a:p xmlns:a="http://schemas.openxmlformats.org/drawingml/2006/main">
            <a:pPr>
              <a:buNone/>
              <a:defRPr sz="1725"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Cloud Run (Mumbai) · Secret Manager · local storage</a:t>
            </a:r>
          </a:p>
        </p:txBody>
      </p:sp>
      <p:sp>
        <p:nvSpPr>
          <p:cNvPr id="8" name="">
            <a:extLst xmlns:a="http://schemas.openxmlformats.org/drawingml/2006/main">
              <a:ext uri="{FF2B5EF4-FFF2-40B4-BE49-F238E27FC236}">
                <a16:creationId xmlns:a16="http://schemas.microsoft.com/office/drawing/2014/main" id="{8F761684-395D-4C0A-BF3F-25C6670035DE}"/>
              </a:ext>
            </a:extLst>
          </p:cNvPr>
          <p:cNvSpPr>
            <a:spLocks xmlns:a="http://schemas.openxmlformats.org/drawingml/2006/main" noGrp="1"/>
          </p:cNvSpPr>
          <p:nvPr/>
        </p:nvSpPr>
        <p:spPr>
          <a:xfrm xmlns:a="http://schemas.openxmlformats.org/drawingml/2006/main">
            <a:off x="6343650" y="5305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B7C"/>
                </a:solidFill>
                <a:latin typeface="Helvetica Neue"/>
                <a:ea typeface="Helvetica Neue"/>
                <a:cs typeface="Helvetica Neue"/>
              </a:defRPr>
            </a:defPPr>
            <a:lvl1pPr>
              <a:buNone/>
              <a:defRPr sz="1875" b="0">
                <a:solidFill>
                  <a:srgbClr val="526B7C"/>
                </a:solidFill>
                <a:latin typeface="Helvetica Neue"/>
                <a:ea typeface="Helvetica Neue"/>
                <a:cs typeface="Helvetica Neue"/>
              </a:defRPr>
            </a:lvl1pPr>
            <a:lvl2pPr>
              <a:buNone/>
              <a:defRPr sz="1875" b="0">
                <a:solidFill>
                  <a:srgbClr val="526B7C"/>
                </a:solidFill>
                <a:latin typeface="Helvetica Neue"/>
                <a:ea typeface="Helvetica Neue"/>
                <a:cs typeface="Helvetica Neue"/>
              </a:defRPr>
            </a:lvl2pPr>
            <a:lvl3pPr>
              <a:buNone/>
              <a:defRPr sz="1875" b="0">
                <a:solidFill>
                  <a:srgbClr val="526B7C"/>
                </a:solidFill>
                <a:latin typeface="Helvetica Neue"/>
                <a:ea typeface="Helvetica Neue"/>
                <a:cs typeface="Helvetica Neue"/>
              </a:defRPr>
            </a:lvl3pPr>
            <a:lvl4pPr>
              <a:buNone/>
              <a:defRPr sz="1875" b="0">
                <a:solidFill>
                  <a:srgbClr val="526B7C"/>
                </a:solidFill>
                <a:latin typeface="Helvetica Neue"/>
                <a:ea typeface="Helvetica Neue"/>
                <a:cs typeface="Helvetica Neue"/>
              </a:defRPr>
            </a:lvl4pPr>
            <a:lvl5pPr>
              <a:buNone/>
              <a:defRPr sz="1875" b="0">
                <a:solidFill>
                  <a:srgbClr val="526B7C"/>
                </a:solidFill>
                <a:latin typeface="Helvetica Neue"/>
                <a:ea typeface="Helvetica Neue"/>
                <a:cs typeface="Helvetica Neue"/>
              </a:defRPr>
            </a:lvl5pPr>
            <a:lvl6pPr>
              <a:buNone/>
              <a:defRPr sz="1875" b="0">
                <a:solidFill>
                  <a:srgbClr val="526B7C"/>
                </a:solidFill>
                <a:latin typeface="Helvetica Neue"/>
                <a:ea typeface="Helvetica Neue"/>
                <a:cs typeface="Helvetica Neue"/>
              </a:defRPr>
            </a:lvl6pPr>
            <a:lvl7pPr>
              <a:buNone/>
              <a:defRPr sz="1875" b="0">
                <a:solidFill>
                  <a:srgbClr val="526B7C"/>
                </a:solidFill>
                <a:latin typeface="Helvetica Neue"/>
                <a:ea typeface="Helvetica Neue"/>
                <a:cs typeface="Helvetica Neue"/>
              </a:defRPr>
            </a:lvl7pPr>
            <a:lvl8pPr>
              <a:buNone/>
              <a:defRPr sz="1875" b="0">
                <a:solidFill>
                  <a:srgbClr val="526B7C"/>
                </a:solidFill>
                <a:latin typeface="Helvetica Neue"/>
                <a:ea typeface="Helvetica Neue"/>
                <a:cs typeface="Helvetica Neue"/>
              </a:defRPr>
            </a:lvl8pPr>
            <a:lvl9pPr>
              <a:buNone/>
              <a:defRPr sz="1875" b="0">
                <a:solidFill>
                  <a:srgbClr val="526B7C"/>
                </a:solidFill>
                <a:latin typeface="Helvetica Neue"/>
                <a:ea typeface="Helvetica Neue"/>
                <a:cs typeface="Helvetica Neue"/>
              </a:defRPr>
            </a:lvl9pPr>
          </a:lstStyle>
          <a:p xmlns:a="http://schemas.openxmlformats.org/drawingml/2006/main">
            <a:pPr>
              <a:buNone/>
              <a:defRPr sz="1425" b="0">
                <a:solidFill>
                  <a:srgbClr val="526B7C"/>
                </a:solidFill>
                <a:latin typeface="Helvetica Neue"/>
                <a:ea typeface="Helvetica Neue"/>
                <a:cs typeface="Helvetica Neue"/>
              </a:defRPr>
            </a:pPr>
            <a:r>
              <a:rPr sz="1350" b="0">
                <a:solidFill>
                  <a:srgbClr val="526B7C"/>
                </a:solidFill>
                <a:latin typeface="Helvetica Neue"/>
                <a:ea typeface="Helvetica Neue"/>
                <a:cs typeface="Helvetica Neue"/>
              </a:rPr>
              <a:t>Playback recovered after enabling spoken responses</a:t>
            </a:r>
          </a:p>
        </p:txBody>
      </p:sp>
      <p:pic>
        <p:nvPicPr>
          <p:cNvPr id="9" name="">
            <a:extLst xmlns:a="http://schemas.openxmlformats.org/drawingml/2006/main">
              <a:ext uri="{FF2B5EF4-FFF2-40B4-BE49-F238E27FC236}">
                <a16:creationId xmlns:a16="http://schemas.microsoft.com/office/drawing/2014/main" id="{D023D4C0-E223-4D67-848A-C4A6FB7B9B4B}"/>
              </a:ext>
            </a:extLst>
          </p:cNvPr>
          <p:cNvPicPr>
            <a:picLocks xmlns:a="http://schemas.openxmlformats.org/drawingml/2006/main" noChangeAspect="1"/>
          </p:cNvPicPr>
          <p:nvPr/>
        </p:nvPicPr>
        <p:blipFill>
          <a:blip xmlns:r="http://schemas.openxmlformats.org/officeDocument/2006/relationships" xmlns:a="http://schemas.openxmlformats.org/drawingml/2006/main" r:embed="R8e838d7a01a84460"/>
          <a:stretch xmlns:a="http://schemas.openxmlformats.org/drawingml/2006/main"/>
        </p:blipFill>
        <p:spPr>
          <a:xfrm xmlns:a="http://schemas.openxmlformats.org/drawingml/2006/main">
            <a:off x="6502400" y="2541382"/>
            <a:ext cx="4826000" cy="2642012"/>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FE30614-6150-426A-816B-CC93E888DEAC}"/>
              </a:ext>
            </a:extLst>
          </p:cNvPr>
          <p:cNvSpPr>
            <a:spLocks xmlns:a="http://schemas.openxmlformats.org/drawingml/2006/main" noGrp="1"/>
          </p:cNvSpPr>
          <p:nvPr/>
        </p:nvSpPr>
        <p:spPr>
          <a:xfrm xmlns:a="http://schemas.openxmlformats.org/drawingml/2006/main">
            <a:off x="6343650" y="562927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26B7C"/>
                </a:solidFill>
                <a:latin typeface="Helvetica Neue"/>
                <a:ea typeface="Helvetica Neue"/>
                <a:cs typeface="Helvetica Neue"/>
              </a:defRPr>
            </a:defPPr>
            <a:lvl1pPr>
              <a:buNone/>
              <a:defRPr sz="1650" b="1">
                <a:solidFill>
                  <a:srgbClr val="00A9D6"/>
                </a:solidFill>
                <a:latin typeface="Helvetica Neue"/>
                <a:ea typeface="Helvetica Neue"/>
                <a:cs typeface="Helvetica Neue"/>
              </a:defRPr>
            </a:lvl1pPr>
            <a:lvl2pPr>
              <a:buNone/>
              <a:defRPr sz="1650" b="1">
                <a:solidFill>
                  <a:srgbClr val="00A9D6"/>
                </a:solidFill>
                <a:latin typeface="Helvetica Neue"/>
                <a:ea typeface="Helvetica Neue"/>
                <a:cs typeface="Helvetica Neue"/>
              </a:defRPr>
            </a:lvl2pPr>
            <a:lvl3pPr>
              <a:buNone/>
              <a:defRPr sz="1650" b="1">
                <a:solidFill>
                  <a:srgbClr val="00A9D6"/>
                </a:solidFill>
                <a:latin typeface="Helvetica Neue"/>
                <a:ea typeface="Helvetica Neue"/>
                <a:cs typeface="Helvetica Neue"/>
              </a:defRPr>
            </a:lvl3pPr>
            <a:lvl4pPr>
              <a:buNone/>
              <a:defRPr sz="1650" b="1">
                <a:solidFill>
                  <a:srgbClr val="00A9D6"/>
                </a:solidFill>
                <a:latin typeface="Helvetica Neue"/>
                <a:ea typeface="Helvetica Neue"/>
                <a:cs typeface="Helvetica Neue"/>
              </a:defRPr>
            </a:lvl4pPr>
            <a:lvl5pPr>
              <a:buNone/>
              <a:defRPr sz="1650" b="1">
                <a:solidFill>
                  <a:srgbClr val="00A9D6"/>
                </a:solidFill>
                <a:latin typeface="Helvetica Neue"/>
                <a:ea typeface="Helvetica Neue"/>
                <a:cs typeface="Helvetica Neue"/>
              </a:defRPr>
            </a:lvl5pPr>
            <a:lvl6pPr>
              <a:buNone/>
              <a:defRPr sz="1650" b="1">
                <a:solidFill>
                  <a:srgbClr val="00A9D6"/>
                </a:solidFill>
                <a:latin typeface="Helvetica Neue"/>
                <a:ea typeface="Helvetica Neue"/>
                <a:cs typeface="Helvetica Neue"/>
              </a:defRPr>
            </a:lvl6pPr>
            <a:lvl7pPr>
              <a:buNone/>
              <a:defRPr sz="1650" b="1">
                <a:solidFill>
                  <a:srgbClr val="00A9D6"/>
                </a:solidFill>
                <a:latin typeface="Helvetica Neue"/>
                <a:ea typeface="Helvetica Neue"/>
                <a:cs typeface="Helvetica Neue"/>
              </a:defRPr>
            </a:lvl7pPr>
            <a:lvl8pPr>
              <a:buNone/>
              <a:defRPr sz="1650" b="1">
                <a:solidFill>
                  <a:srgbClr val="00A9D6"/>
                </a:solidFill>
                <a:latin typeface="Helvetica Neue"/>
                <a:ea typeface="Helvetica Neue"/>
                <a:cs typeface="Helvetica Neue"/>
              </a:defRPr>
            </a:lvl8pPr>
            <a:lvl9pPr>
              <a:buNone/>
              <a:defRPr sz="1650" b="1">
                <a:solidFill>
                  <a:srgbClr val="00A9D6"/>
                </a:solidFill>
                <a:latin typeface="Helvetica Neue"/>
                <a:ea typeface="Helvetica Neue"/>
                <a:cs typeface="Helvetica Neue"/>
              </a:defRPr>
            </a:lvl9pPr>
          </a:lstStyle>
          <a:p xmlns:a="http://schemas.openxmlformats.org/drawingml/2006/main">
            <a:pPr>
              <a:buNone/>
              <a:defRPr sz="1650" b="0">
                <a:solidFill>
                  <a:srgbClr val="526B7C"/>
                </a:solidFill>
                <a:latin typeface="Helvetica Neue"/>
                <a:ea typeface="Helvetica Neue"/>
                <a:cs typeface="Helvetica Neue"/>
              </a:defRPr>
            </a:pPr>
            <a:r>
              <a:rPr sz="1650" b="0">
                <a:solidFill>
                  <a:srgbClr val="526B7C"/>
                </a:solidFill>
                <a:latin typeface="Helvetica Neue"/>
                <a:ea typeface="Helvetica Neue"/>
                <a:cs typeface="Helvetica Neue"/>
              </a:rPr>
              <a:t>Open: refresh resets speech to off. OpenAI audio lacked credit; GPT-Live is not connected.</a:t>
            </a:r>
          </a:p>
        </p:txBody>
      </p:sp>
      <p:sp>
        <p:nvSpPr>
          <p:cNvPr id="11" name="">
            <a:extLst xmlns:a="http://schemas.openxmlformats.org/drawingml/2006/main">
              <a:ext uri="{FF2B5EF4-FFF2-40B4-BE49-F238E27FC236}">
                <a16:creationId xmlns:a16="http://schemas.microsoft.com/office/drawing/2014/main" id="{6673D979-F1FB-4998-8AD0-D7E0C5ADBDEF}"/>
              </a:ext>
            </a:extLst>
          </p:cNvPr>
          <p:cNvSpPr>
            <a:spLocks xmlns:a="http://schemas.openxmlformats.org/drawingml/2006/main" noGrp="1"/>
          </p:cNvSpPr>
          <p:nvPr/>
        </p:nvSpPr>
        <p:spPr>
          <a:xfrm xmlns:a="http://schemas.openxmlformats.org/drawingml/2006/main">
            <a:off x="685800" y="6467475"/>
            <a:ext cx="904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buNone/>
              <a:defRPr sz="1275" b="0">
                <a:solidFill>
                  <a:srgbClr val="526B7C"/>
                </a:solidFill>
                <a:latin typeface="Helvetica Neue"/>
                <a:ea typeface="Helvetica Neue"/>
                <a:cs typeface="Helvetica Neue"/>
              </a:defRPr>
            </a:lvl1pPr>
            <a:lvl2pPr>
              <a:buNone/>
              <a:defRPr sz="1275" b="0">
                <a:solidFill>
                  <a:srgbClr val="526B7C"/>
                </a:solidFill>
                <a:latin typeface="Helvetica Neue"/>
                <a:ea typeface="Helvetica Neue"/>
                <a:cs typeface="Helvetica Neue"/>
              </a:defRPr>
            </a:lvl2pPr>
            <a:lvl3pPr>
              <a:buNone/>
              <a:defRPr sz="1275" b="0">
                <a:solidFill>
                  <a:srgbClr val="526B7C"/>
                </a:solidFill>
                <a:latin typeface="Helvetica Neue"/>
                <a:ea typeface="Helvetica Neue"/>
                <a:cs typeface="Helvetica Neue"/>
              </a:defRPr>
            </a:lvl3pPr>
            <a:lvl4pPr>
              <a:buNone/>
              <a:defRPr sz="1275" b="0">
                <a:solidFill>
                  <a:srgbClr val="526B7C"/>
                </a:solidFill>
                <a:latin typeface="Helvetica Neue"/>
                <a:ea typeface="Helvetica Neue"/>
                <a:cs typeface="Helvetica Neue"/>
              </a:defRPr>
            </a:lvl4pPr>
            <a:lvl5pPr>
              <a:buNone/>
              <a:defRPr sz="1275" b="0">
                <a:solidFill>
                  <a:srgbClr val="526B7C"/>
                </a:solidFill>
                <a:latin typeface="Helvetica Neue"/>
                <a:ea typeface="Helvetica Neue"/>
                <a:cs typeface="Helvetica Neue"/>
              </a:defRPr>
            </a:lvl5pPr>
            <a:lvl6pPr>
              <a:buNone/>
              <a:defRPr sz="1275" b="0">
                <a:solidFill>
                  <a:srgbClr val="526B7C"/>
                </a:solidFill>
                <a:latin typeface="Helvetica Neue"/>
                <a:ea typeface="Helvetica Neue"/>
                <a:cs typeface="Helvetica Neue"/>
              </a:defRPr>
            </a:lvl6pPr>
            <a:lvl7pPr>
              <a:buNone/>
              <a:defRPr sz="1275" b="0">
                <a:solidFill>
                  <a:srgbClr val="526B7C"/>
                </a:solidFill>
                <a:latin typeface="Helvetica Neue"/>
                <a:ea typeface="Helvetica Neue"/>
                <a:cs typeface="Helvetica Neue"/>
              </a:defRPr>
            </a:lvl7pPr>
            <a:lvl8pPr>
              <a:buNone/>
              <a:defRPr sz="1275" b="0">
                <a:solidFill>
                  <a:srgbClr val="526B7C"/>
                </a:solidFill>
                <a:latin typeface="Helvetica Neue"/>
                <a:ea typeface="Helvetica Neue"/>
                <a:cs typeface="Helvetica Neue"/>
              </a:defRPr>
            </a:lvl8pPr>
            <a:lvl9pPr>
              <a:buNone/>
              <a:defRPr sz="1275" b="0">
                <a:solidFill>
                  <a:srgbClr val="526B7C"/>
                </a:solidFill>
                <a:latin typeface="Helvetica Neue"/>
                <a:ea typeface="Helvetica Neue"/>
                <a:cs typeface="Helvetica Neue"/>
              </a:defRPr>
            </a:lvl9pPr>
          </a:lstStyle>
          <a:p xmlns:a="http://schemas.openxmlformats.org/drawingml/2006/main">
            <a:pPr>
              <a:buNone/>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MerchantLens · Gowtham Ramachandra</a:t>
            </a:r>
          </a:p>
        </p:txBody>
      </p:sp>
      <p:sp>
        <p:nvSpPr>
          <p:cNvPr id="12" name="">
            <a:extLst xmlns:a="http://schemas.openxmlformats.org/drawingml/2006/main">
              <a:ext uri="{FF2B5EF4-FFF2-40B4-BE49-F238E27FC236}">
                <a16:creationId xmlns:a16="http://schemas.microsoft.com/office/drawing/2014/main" id="{B9353544-BAB3-4BAD-8A2A-499CF3C83A75}"/>
              </a:ext>
            </a:extLst>
          </p:cNvPr>
          <p:cNvSpPr>
            <a:spLocks xmlns:a="http://schemas.openxmlformats.org/drawingml/2006/main" noGrp="1"/>
          </p:cNvSpPr>
          <p:nvPr/>
        </p:nvSpPr>
        <p:spPr>
          <a:xfrm xmlns:a="http://schemas.openxmlformats.org/drawingml/2006/main">
            <a:off x="10839450" y="646747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buNone/>
              <a:defRPr sz="1275" b="0">
                <a:solidFill>
                  <a:srgbClr val="526B7C"/>
                </a:solidFill>
                <a:latin typeface="Helvetica Neue"/>
                <a:ea typeface="Helvetica Neue"/>
                <a:cs typeface="Helvetica Neue"/>
              </a:defRPr>
            </a:lvl1pPr>
            <a:lvl2pPr>
              <a:buNone/>
              <a:defRPr sz="1275" b="0">
                <a:solidFill>
                  <a:srgbClr val="526B7C"/>
                </a:solidFill>
                <a:latin typeface="Helvetica Neue"/>
                <a:ea typeface="Helvetica Neue"/>
                <a:cs typeface="Helvetica Neue"/>
              </a:defRPr>
            </a:lvl2pPr>
            <a:lvl3pPr>
              <a:buNone/>
              <a:defRPr sz="1275" b="0">
                <a:solidFill>
                  <a:srgbClr val="526B7C"/>
                </a:solidFill>
                <a:latin typeface="Helvetica Neue"/>
                <a:ea typeface="Helvetica Neue"/>
                <a:cs typeface="Helvetica Neue"/>
              </a:defRPr>
            </a:lvl3pPr>
            <a:lvl4pPr>
              <a:buNone/>
              <a:defRPr sz="1275" b="0">
                <a:solidFill>
                  <a:srgbClr val="526B7C"/>
                </a:solidFill>
                <a:latin typeface="Helvetica Neue"/>
                <a:ea typeface="Helvetica Neue"/>
                <a:cs typeface="Helvetica Neue"/>
              </a:defRPr>
            </a:lvl4pPr>
            <a:lvl5pPr>
              <a:buNone/>
              <a:defRPr sz="1275" b="0">
                <a:solidFill>
                  <a:srgbClr val="526B7C"/>
                </a:solidFill>
                <a:latin typeface="Helvetica Neue"/>
                <a:ea typeface="Helvetica Neue"/>
                <a:cs typeface="Helvetica Neue"/>
              </a:defRPr>
            </a:lvl5pPr>
            <a:lvl6pPr>
              <a:buNone/>
              <a:defRPr sz="1275" b="0">
                <a:solidFill>
                  <a:srgbClr val="526B7C"/>
                </a:solidFill>
                <a:latin typeface="Helvetica Neue"/>
                <a:ea typeface="Helvetica Neue"/>
                <a:cs typeface="Helvetica Neue"/>
              </a:defRPr>
            </a:lvl6pPr>
            <a:lvl7pPr>
              <a:buNone/>
              <a:defRPr sz="1275" b="0">
                <a:solidFill>
                  <a:srgbClr val="526B7C"/>
                </a:solidFill>
                <a:latin typeface="Helvetica Neue"/>
                <a:ea typeface="Helvetica Neue"/>
                <a:cs typeface="Helvetica Neue"/>
              </a:defRPr>
            </a:lvl7pPr>
            <a:lvl8pPr>
              <a:buNone/>
              <a:defRPr sz="1275" b="0">
                <a:solidFill>
                  <a:srgbClr val="526B7C"/>
                </a:solidFill>
                <a:latin typeface="Helvetica Neue"/>
                <a:ea typeface="Helvetica Neue"/>
                <a:cs typeface="Helvetica Neue"/>
              </a:defRPr>
            </a:lvl8pPr>
            <a:lvl9pPr>
              <a:buNone/>
              <a:defRPr sz="1275" b="0">
                <a:solidFill>
                  <a:srgbClr val="526B7C"/>
                </a:solidFill>
                <a:latin typeface="Helvetica Neue"/>
                <a:ea typeface="Helvetica Neue"/>
                <a:cs typeface="Helvetica Neue"/>
              </a:defRPr>
            </a:lvl9pPr>
          </a:lstStyle>
          <a:p xmlns:a="http://schemas.openxmlformats.org/drawingml/2006/main">
            <a:pPr>
              <a:buNone/>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3 / 5</a:t>
            </a:r>
          </a:p>
        </p:txBody>
      </p:sp>
    </p:spTree>
    <p:extLst>
      <p:ext uri="{BB962C8B-B14F-4D97-AF65-F5344CB8AC3E}">
        <p14:creationId xmlns:p14="http://schemas.microsoft.com/office/powerpoint/2010/main" val="657620494"/>
      </p:ext>
    </p:extLst>
  </p:cSld>
</p:sld>
</file>

<file path=ppt/slides/slide4.xml><?xml version="1.0" encoding="utf-8"?>
<p:sld xmlns:p="http://schemas.openxmlformats.org/presentationml/2006/main">
  <p:cSld>
    <p:bg>
      <p:bgPr>
        <a:solidFill xmlns:a="http://schemas.openxmlformats.org/drawingml/2006/main">
          <a:srgbClr val="0B203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4282DD-45D4-4B1E-A5E8-FEF2B180EF03}"/>
              </a:ext>
            </a:extLst>
          </p:cNvPr>
          <p:cNvSpPr>
            <a:spLocks xmlns:a="http://schemas.openxmlformats.org/drawingml/2006/main" noGrp="1"/>
          </p:cNvSpPr>
          <p:nvPr/>
        </p:nvSpPr>
        <p:spPr>
          <a:xfrm xmlns:a="http://schemas.openxmlformats.org/drawingml/2006/main">
            <a:off x="685800" y="5334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FFFFF"/>
                </a:solidFill>
                <a:latin typeface="Helvetica Neue"/>
                <a:ea typeface="Helvetica Neue"/>
                <a:cs typeface="Helvetica Neue"/>
              </a:defRPr>
            </a:defPPr>
            <a:lvl1pPr>
              <a:buNone/>
              <a:defRPr sz="3300" b="1">
                <a:solidFill>
                  <a:srgbClr val="FFFFFF"/>
                </a:solidFill>
                <a:latin typeface="Helvetica Neue"/>
                <a:ea typeface="Helvetica Neue"/>
                <a:cs typeface="Helvetica Neue"/>
              </a:defRPr>
            </a:lvl1pPr>
            <a:lvl2pPr>
              <a:buNone/>
              <a:defRPr sz="3300" b="1">
                <a:solidFill>
                  <a:srgbClr val="FFFFFF"/>
                </a:solidFill>
                <a:latin typeface="Helvetica Neue"/>
                <a:ea typeface="Helvetica Neue"/>
                <a:cs typeface="Helvetica Neue"/>
              </a:defRPr>
            </a:lvl2pPr>
            <a:lvl3pPr>
              <a:buNone/>
              <a:defRPr sz="3300" b="1">
                <a:solidFill>
                  <a:srgbClr val="FFFFFF"/>
                </a:solidFill>
                <a:latin typeface="Helvetica Neue"/>
                <a:ea typeface="Helvetica Neue"/>
                <a:cs typeface="Helvetica Neue"/>
              </a:defRPr>
            </a:lvl3pPr>
            <a:lvl4pPr>
              <a:buNone/>
              <a:defRPr sz="3300" b="1">
                <a:solidFill>
                  <a:srgbClr val="FFFFFF"/>
                </a:solidFill>
                <a:latin typeface="Helvetica Neue"/>
                <a:ea typeface="Helvetica Neue"/>
                <a:cs typeface="Helvetica Neue"/>
              </a:defRPr>
            </a:lvl4pPr>
            <a:lvl5pPr>
              <a:buNone/>
              <a:defRPr sz="3300" b="1">
                <a:solidFill>
                  <a:srgbClr val="FFFFFF"/>
                </a:solidFill>
                <a:latin typeface="Helvetica Neue"/>
                <a:ea typeface="Helvetica Neue"/>
                <a:cs typeface="Helvetica Neue"/>
              </a:defRPr>
            </a:lvl5pPr>
            <a:lvl6pPr>
              <a:buNone/>
              <a:defRPr sz="3300" b="1">
                <a:solidFill>
                  <a:srgbClr val="FFFFFF"/>
                </a:solidFill>
                <a:latin typeface="Helvetica Neue"/>
                <a:ea typeface="Helvetica Neue"/>
                <a:cs typeface="Helvetica Neue"/>
              </a:defRPr>
            </a:lvl6pPr>
            <a:lvl7pPr>
              <a:buNone/>
              <a:defRPr sz="3300" b="1">
                <a:solidFill>
                  <a:srgbClr val="FFFFFF"/>
                </a:solidFill>
                <a:latin typeface="Helvetica Neue"/>
                <a:ea typeface="Helvetica Neue"/>
                <a:cs typeface="Helvetica Neue"/>
              </a:defRPr>
            </a:lvl7pPr>
            <a:lvl8pPr>
              <a:buNone/>
              <a:defRPr sz="3300" b="1">
                <a:solidFill>
                  <a:srgbClr val="FFFFFF"/>
                </a:solidFill>
                <a:latin typeface="Helvetica Neue"/>
                <a:ea typeface="Helvetica Neue"/>
                <a:cs typeface="Helvetica Neue"/>
              </a:defRPr>
            </a:lvl8pPr>
            <a:lvl9pPr>
              <a:buNone/>
              <a:defRPr sz="3300" b="1">
                <a:solidFill>
                  <a:srgbClr val="FFFFFF"/>
                </a:solidFill>
                <a:latin typeface="Helvetica Neue"/>
                <a:ea typeface="Helvetica Neue"/>
                <a:cs typeface="Helvetica Neue"/>
              </a:defRPr>
            </a:lvl9pPr>
          </a:lstStyle>
          <a:p xmlns:a="http://schemas.openxmlformats.org/drawingml/2006/main">
            <a:pPr>
              <a:buNone/>
              <a:defRPr sz="3300" b="1">
                <a:solidFill>
                  <a:srgbClr val="102F43"/>
                </a:solidFill>
                <a:latin typeface="Helvetica Neue"/>
                <a:ea typeface="Helvetica Neue"/>
                <a:cs typeface="Helvetica Neue"/>
              </a:defRPr>
            </a:pPr>
            <a:r>
              <a:rPr sz="3300" b="1">
                <a:solidFill>
                  <a:srgbClr val="FFFFFF"/>
                </a:solidFill>
                <a:latin typeface="Helvetica Neue"/>
                <a:ea typeface="Helvetica Neue"/>
                <a:cs typeface="Helvetica Neue"/>
              </a:rPr>
              <a:t>Agent messages, guardrails and evaluation</a:t>
            </a:r>
          </a:p>
        </p:txBody>
      </p:sp>
      <p:sp>
        <p:nvSpPr>
          <p:cNvPr id="2" name="">
            <a:extLst xmlns:a="http://schemas.openxmlformats.org/drawingml/2006/main">
              <a:ext uri="{FF2B5EF4-FFF2-40B4-BE49-F238E27FC236}">
                <a16:creationId xmlns:a16="http://schemas.microsoft.com/office/drawing/2014/main" id="{A8C68962-3011-4A52-BF06-48EF418A3C3D}"/>
              </a:ext>
            </a:extLst>
          </p:cNvPr>
          <p:cNvSpPr>
            <a:spLocks xmlns:a="http://schemas.openxmlformats.org/drawingml/2006/main" noGrp="1"/>
          </p:cNvSpPr>
          <p:nvPr/>
        </p:nvSpPr>
        <p:spPr>
          <a:xfrm xmlns:a="http://schemas.openxmlformats.org/drawingml/2006/main">
            <a:off x="704850" y="14001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A9D6"/>
                </a:solidFill>
                <a:latin typeface="Helvetica Neue"/>
                <a:ea typeface="Helvetica Neue"/>
                <a:cs typeface="Helvetica Neue"/>
              </a:defRPr>
            </a:defPPr>
            <a:lvl1pPr>
              <a:buNone/>
              <a:defRPr sz="2400" b="1">
                <a:solidFill>
                  <a:srgbClr val="FFFFFF"/>
                </a:solidFill>
                <a:latin typeface="Helvetica Neue"/>
                <a:ea typeface="Helvetica Neue"/>
                <a:cs typeface="Helvetica Neue"/>
              </a:defRPr>
            </a:lvl1pPr>
            <a:lvl2pPr>
              <a:buNone/>
              <a:defRPr sz="2400" b="1">
                <a:solidFill>
                  <a:srgbClr val="FFFFFF"/>
                </a:solidFill>
                <a:latin typeface="Helvetica Neue"/>
                <a:ea typeface="Helvetica Neue"/>
                <a:cs typeface="Helvetica Neue"/>
              </a:defRPr>
            </a:lvl2pPr>
            <a:lvl3pPr>
              <a:buNone/>
              <a:defRPr sz="2400" b="1">
                <a:solidFill>
                  <a:srgbClr val="FFFFFF"/>
                </a:solidFill>
                <a:latin typeface="Helvetica Neue"/>
                <a:ea typeface="Helvetica Neue"/>
                <a:cs typeface="Helvetica Neue"/>
              </a:defRPr>
            </a:lvl3pPr>
            <a:lvl4pPr>
              <a:buNone/>
              <a:defRPr sz="2400" b="1">
                <a:solidFill>
                  <a:srgbClr val="FFFFFF"/>
                </a:solidFill>
                <a:latin typeface="Helvetica Neue"/>
                <a:ea typeface="Helvetica Neue"/>
                <a:cs typeface="Helvetica Neue"/>
              </a:defRPr>
            </a:lvl4pPr>
            <a:lvl5pPr>
              <a:buNone/>
              <a:defRPr sz="2400" b="1">
                <a:solidFill>
                  <a:srgbClr val="FFFFFF"/>
                </a:solidFill>
                <a:latin typeface="Helvetica Neue"/>
                <a:ea typeface="Helvetica Neue"/>
                <a:cs typeface="Helvetica Neue"/>
              </a:defRPr>
            </a:lvl5pPr>
            <a:lvl6pPr>
              <a:buNone/>
              <a:defRPr sz="2400" b="1">
                <a:solidFill>
                  <a:srgbClr val="FFFFFF"/>
                </a:solidFill>
                <a:latin typeface="Helvetica Neue"/>
                <a:ea typeface="Helvetica Neue"/>
                <a:cs typeface="Helvetica Neue"/>
              </a:defRPr>
            </a:lvl6pPr>
            <a:lvl7pPr>
              <a:buNone/>
              <a:defRPr sz="2400" b="1">
                <a:solidFill>
                  <a:srgbClr val="FFFFFF"/>
                </a:solidFill>
                <a:latin typeface="Helvetica Neue"/>
                <a:ea typeface="Helvetica Neue"/>
                <a:cs typeface="Helvetica Neue"/>
              </a:defRPr>
            </a:lvl7pPr>
            <a:lvl8pPr>
              <a:buNone/>
              <a:defRPr sz="2400" b="1">
                <a:solidFill>
                  <a:srgbClr val="FFFFFF"/>
                </a:solidFill>
                <a:latin typeface="Helvetica Neue"/>
                <a:ea typeface="Helvetica Neue"/>
                <a:cs typeface="Helvetica Neue"/>
              </a:defRPr>
            </a:lvl8pPr>
            <a:lvl9pPr>
              <a:buNone/>
              <a:defRPr sz="2400" b="1">
                <a:solidFill>
                  <a:srgbClr val="FFFFFF"/>
                </a:solidFill>
                <a:latin typeface="Helvetica Neue"/>
                <a:ea typeface="Helvetica Neue"/>
                <a:cs typeface="Helvetica Neue"/>
              </a:defRPr>
            </a:lvl9pPr>
          </a:lstStyle>
          <a:p xmlns:a="http://schemas.openxmlformats.org/drawingml/2006/main">
            <a:pPr>
              <a:buNone/>
              <a:defRPr sz="2175" b="1">
                <a:solidFill>
                  <a:srgbClr val="00A9D6"/>
                </a:solidFill>
                <a:latin typeface="Helvetica Neue"/>
                <a:ea typeface="Helvetica Neue"/>
                <a:cs typeface="Helvetica Neue"/>
              </a:defRPr>
            </a:pPr>
            <a:r>
              <a:rPr sz="2175" b="1">
                <a:solidFill>
                  <a:srgbClr val="00A9D6"/>
                </a:solidFill>
                <a:latin typeface="Helvetica Neue"/>
                <a:ea typeface="Helvetica Neue"/>
                <a:cs typeface="Helvetica Neue"/>
              </a:rPr>
              <a:t>How the agent decides</a:t>
            </a:r>
          </a:p>
        </p:txBody>
      </p:sp>
      <p:sp>
        <p:nvSpPr>
          <p:cNvPr id="3" name="">
            <a:extLst xmlns:a="http://schemas.openxmlformats.org/drawingml/2006/main">
              <a:ext uri="{FF2B5EF4-FFF2-40B4-BE49-F238E27FC236}">
                <a16:creationId xmlns:a16="http://schemas.microsoft.com/office/drawing/2014/main" id="{A0DED0BF-4010-4D98-A9E8-877AEE7CFD72}"/>
              </a:ext>
            </a:extLst>
          </p:cNvPr>
          <p:cNvSpPr>
            <a:spLocks xmlns:a="http://schemas.openxmlformats.org/drawingml/2006/main" noGrp="1"/>
          </p:cNvSpPr>
          <p:nvPr/>
        </p:nvSpPr>
        <p:spPr>
          <a:xfrm xmlns:a="http://schemas.openxmlformats.org/drawingml/2006/main">
            <a:off x="704850" y="197167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FFFFFF"/>
                </a:solidFill>
                <a:latin typeface="Helvetica Neue"/>
                <a:ea typeface="Helvetica Neue"/>
                <a:cs typeface="Helvetica Neue"/>
              </a:defRPr>
            </a:defPPr>
            <a:lvl1pPr>
              <a:buNone/>
              <a:defRPr sz="2175" b="0">
                <a:solidFill>
                  <a:srgbClr val="B9D0DE"/>
                </a:solidFill>
                <a:latin typeface="Helvetica Neue"/>
                <a:ea typeface="Helvetica Neue"/>
                <a:cs typeface="Helvetica Neue"/>
              </a:defRPr>
            </a:lvl1pPr>
            <a:lvl2pPr>
              <a:buNone/>
              <a:defRPr sz="2175" b="0">
                <a:solidFill>
                  <a:srgbClr val="B9D0DE"/>
                </a:solidFill>
                <a:latin typeface="Helvetica Neue"/>
                <a:ea typeface="Helvetica Neue"/>
                <a:cs typeface="Helvetica Neue"/>
              </a:defRPr>
            </a:lvl2pPr>
            <a:lvl3pPr>
              <a:buNone/>
              <a:defRPr sz="2175" b="0">
                <a:solidFill>
                  <a:srgbClr val="B9D0DE"/>
                </a:solidFill>
                <a:latin typeface="Helvetica Neue"/>
                <a:ea typeface="Helvetica Neue"/>
                <a:cs typeface="Helvetica Neue"/>
              </a:defRPr>
            </a:lvl3pPr>
            <a:lvl4pPr>
              <a:buNone/>
              <a:defRPr sz="2175" b="0">
                <a:solidFill>
                  <a:srgbClr val="B9D0DE"/>
                </a:solidFill>
                <a:latin typeface="Helvetica Neue"/>
                <a:ea typeface="Helvetica Neue"/>
                <a:cs typeface="Helvetica Neue"/>
              </a:defRPr>
            </a:lvl4pPr>
            <a:lvl5pPr>
              <a:buNone/>
              <a:defRPr sz="2175" b="0">
                <a:solidFill>
                  <a:srgbClr val="B9D0DE"/>
                </a:solidFill>
                <a:latin typeface="Helvetica Neue"/>
                <a:ea typeface="Helvetica Neue"/>
                <a:cs typeface="Helvetica Neue"/>
              </a:defRPr>
            </a:lvl5pPr>
            <a:lvl6pPr>
              <a:buNone/>
              <a:defRPr sz="2175" b="0">
                <a:solidFill>
                  <a:srgbClr val="B9D0DE"/>
                </a:solidFill>
                <a:latin typeface="Helvetica Neue"/>
                <a:ea typeface="Helvetica Neue"/>
                <a:cs typeface="Helvetica Neue"/>
              </a:defRPr>
            </a:lvl6pPr>
            <a:lvl7pPr>
              <a:buNone/>
              <a:defRPr sz="2175" b="0">
                <a:solidFill>
                  <a:srgbClr val="B9D0DE"/>
                </a:solidFill>
                <a:latin typeface="Helvetica Neue"/>
                <a:ea typeface="Helvetica Neue"/>
                <a:cs typeface="Helvetica Neue"/>
              </a:defRPr>
            </a:lvl7pPr>
            <a:lvl8pPr>
              <a:buNone/>
              <a:defRPr sz="2175" b="0">
                <a:solidFill>
                  <a:srgbClr val="B9D0DE"/>
                </a:solidFill>
                <a:latin typeface="Helvetica Neue"/>
                <a:ea typeface="Helvetica Neue"/>
                <a:cs typeface="Helvetica Neue"/>
              </a:defRPr>
            </a:lvl8pPr>
            <a:lvl9pPr>
              <a:buNone/>
              <a:defRPr sz="2175" b="0">
                <a:solidFill>
                  <a:srgbClr val="B9D0DE"/>
                </a:solidFill>
                <a:latin typeface="Helvetica Neue"/>
                <a:ea typeface="Helvetica Neue"/>
                <a:cs typeface="Helvetica Neue"/>
              </a:defRPr>
            </a:lvl9pPr>
          </a:lstStyle>
          <a:p xmlns:a="http://schemas.openxmlformats.org/drawingml/2006/main">
            <a:pPr>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Extractor → validated JSON</a:t>
            </a:r>
          </a:p>
        </p:txBody>
      </p:sp>
      <p:sp>
        <p:nvSpPr>
          <p:cNvPr id="4" name="">
            <a:extLst xmlns:a="http://schemas.openxmlformats.org/drawingml/2006/main">
              <a:ext uri="{FF2B5EF4-FFF2-40B4-BE49-F238E27FC236}">
                <a16:creationId xmlns:a16="http://schemas.microsoft.com/office/drawing/2014/main" id="{2E648BBD-C4DD-415C-991A-110734B2092F}"/>
              </a:ext>
            </a:extLst>
          </p:cNvPr>
          <p:cNvSpPr>
            <a:spLocks xmlns:a="http://schemas.openxmlformats.org/drawingml/2006/main" noGrp="1"/>
          </p:cNvSpPr>
          <p:nvPr/>
        </p:nvSpPr>
        <p:spPr>
          <a:xfrm xmlns:a="http://schemas.openxmlformats.org/drawingml/2006/main">
            <a:off x="704850" y="2371725"/>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D0DE"/>
                </a:solidFill>
                <a:latin typeface="Helvetica Neue"/>
                <a:ea typeface="Helvetica Neue"/>
                <a:cs typeface="Helvetica Neue"/>
              </a:defRPr>
            </a:defPPr>
            <a:lvl1pPr>
              <a:buNone/>
              <a:defRPr sz="2400" b="1">
                <a:solidFill>
                  <a:srgbClr val="FFFFFF"/>
                </a:solidFill>
                <a:latin typeface="Helvetica Neue"/>
                <a:ea typeface="Helvetica Neue"/>
                <a:cs typeface="Helvetica Neue"/>
              </a:defRPr>
            </a:lvl1pPr>
            <a:lvl2pPr>
              <a:buNone/>
              <a:defRPr sz="2400" b="1">
                <a:solidFill>
                  <a:srgbClr val="FFFFFF"/>
                </a:solidFill>
                <a:latin typeface="Helvetica Neue"/>
                <a:ea typeface="Helvetica Neue"/>
                <a:cs typeface="Helvetica Neue"/>
              </a:defRPr>
            </a:lvl2pPr>
            <a:lvl3pPr>
              <a:buNone/>
              <a:defRPr sz="2400" b="1">
                <a:solidFill>
                  <a:srgbClr val="FFFFFF"/>
                </a:solidFill>
                <a:latin typeface="Helvetica Neue"/>
                <a:ea typeface="Helvetica Neue"/>
                <a:cs typeface="Helvetica Neue"/>
              </a:defRPr>
            </a:lvl3pPr>
            <a:lvl4pPr>
              <a:buNone/>
              <a:defRPr sz="2400" b="1">
                <a:solidFill>
                  <a:srgbClr val="FFFFFF"/>
                </a:solidFill>
                <a:latin typeface="Helvetica Neue"/>
                <a:ea typeface="Helvetica Neue"/>
                <a:cs typeface="Helvetica Neue"/>
              </a:defRPr>
            </a:lvl4pPr>
            <a:lvl5pPr>
              <a:buNone/>
              <a:defRPr sz="2400" b="1">
                <a:solidFill>
                  <a:srgbClr val="FFFFFF"/>
                </a:solidFill>
                <a:latin typeface="Helvetica Neue"/>
                <a:ea typeface="Helvetica Neue"/>
                <a:cs typeface="Helvetica Neue"/>
              </a:defRPr>
            </a:lvl5pPr>
            <a:lvl6pPr>
              <a:buNone/>
              <a:defRPr sz="2400" b="1">
                <a:solidFill>
                  <a:srgbClr val="FFFFFF"/>
                </a:solidFill>
                <a:latin typeface="Helvetica Neue"/>
                <a:ea typeface="Helvetica Neue"/>
                <a:cs typeface="Helvetica Neue"/>
              </a:defRPr>
            </a:lvl6pPr>
            <a:lvl7pPr>
              <a:buNone/>
              <a:defRPr sz="2400" b="1">
                <a:solidFill>
                  <a:srgbClr val="FFFFFF"/>
                </a:solidFill>
                <a:latin typeface="Helvetica Neue"/>
                <a:ea typeface="Helvetica Neue"/>
                <a:cs typeface="Helvetica Neue"/>
              </a:defRPr>
            </a:lvl7pPr>
            <a:lvl8pPr>
              <a:buNone/>
              <a:defRPr sz="2400" b="1">
                <a:solidFill>
                  <a:srgbClr val="FFFFFF"/>
                </a:solidFill>
                <a:latin typeface="Helvetica Neue"/>
                <a:ea typeface="Helvetica Neue"/>
                <a:cs typeface="Helvetica Neue"/>
              </a:defRPr>
            </a:lvl8pPr>
            <a:lvl9pPr>
              <a:buNone/>
              <a:defRPr sz="2400" b="1">
                <a:solidFill>
                  <a:srgbClr val="FFFFFF"/>
                </a:solidFill>
                <a:latin typeface="Helvetica Neue"/>
                <a:ea typeface="Helvetica Neue"/>
                <a:cs typeface="Helvetica Neue"/>
              </a:defRPr>
            </a:lvl9pPr>
          </a:lstStyle>
          <a:p xmlns:a="http://schemas.openxmlformats.org/drawingml/2006/main">
            <a:pPr>
              <a:buNone/>
              <a:defRPr sz="1725" b="0">
                <a:solidFill>
                  <a:srgbClr val="B9D0DE"/>
                </a:solidFill>
                <a:latin typeface="Helvetica Neue"/>
                <a:ea typeface="Helvetica Neue"/>
                <a:cs typeface="Helvetica Neue"/>
              </a:defRPr>
            </a:pPr>
            <a:r>
              <a:rPr sz="1725" b="0">
                <a:solidFill>
                  <a:srgbClr val="B9D0DE"/>
                </a:solidFill>
                <a:latin typeface="Helvetica Neue"/>
                <a:ea typeface="Helvetica Neue"/>
                <a:cs typeface="Helvetica Neue"/>
              </a:rPr>
              <a:t>Returns topic, value, quote, turn_id and estimated. Code checks source existence and exact received quotes.</a:t>
            </a:r>
          </a:p>
        </p:txBody>
      </p:sp>
      <p:sp>
        <p:nvSpPr>
          <p:cNvPr id="5" name="">
            <a:extLst xmlns:a="http://schemas.openxmlformats.org/drawingml/2006/main">
              <a:ext uri="{FF2B5EF4-FFF2-40B4-BE49-F238E27FC236}">
                <a16:creationId xmlns:a16="http://schemas.microsoft.com/office/drawing/2014/main" id="{40E31791-D807-45D7-8C32-72C2BCE7BA40}"/>
              </a:ext>
            </a:extLst>
          </p:cNvPr>
          <p:cNvSpPr>
            <a:spLocks xmlns:a="http://schemas.openxmlformats.org/drawingml/2006/main" noGrp="1"/>
          </p:cNvSpPr>
          <p:nvPr/>
        </p:nvSpPr>
        <p:spPr>
          <a:xfrm xmlns:a="http://schemas.openxmlformats.org/drawingml/2006/main">
            <a:off x="704850" y="3248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FFFFFF"/>
                </a:solidFill>
                <a:latin typeface="Helvetica Neue"/>
                <a:ea typeface="Helvetica Neue"/>
                <a:cs typeface="Helvetica Neue"/>
              </a:defRPr>
            </a:defPPr>
            <a:lvl1pPr>
              <a:buNone/>
              <a:defRPr sz="2175" b="0">
                <a:solidFill>
                  <a:srgbClr val="B9D0DE"/>
                </a:solidFill>
                <a:latin typeface="Helvetica Neue"/>
                <a:ea typeface="Helvetica Neue"/>
                <a:cs typeface="Helvetica Neue"/>
              </a:defRPr>
            </a:lvl1pPr>
            <a:lvl2pPr>
              <a:buNone/>
              <a:defRPr sz="2175" b="0">
                <a:solidFill>
                  <a:srgbClr val="B9D0DE"/>
                </a:solidFill>
                <a:latin typeface="Helvetica Neue"/>
                <a:ea typeface="Helvetica Neue"/>
                <a:cs typeface="Helvetica Neue"/>
              </a:defRPr>
            </a:lvl2pPr>
            <a:lvl3pPr>
              <a:buNone/>
              <a:defRPr sz="2175" b="0">
                <a:solidFill>
                  <a:srgbClr val="B9D0DE"/>
                </a:solidFill>
                <a:latin typeface="Helvetica Neue"/>
                <a:ea typeface="Helvetica Neue"/>
                <a:cs typeface="Helvetica Neue"/>
              </a:defRPr>
            </a:lvl3pPr>
            <a:lvl4pPr>
              <a:buNone/>
              <a:defRPr sz="2175" b="0">
                <a:solidFill>
                  <a:srgbClr val="B9D0DE"/>
                </a:solidFill>
                <a:latin typeface="Helvetica Neue"/>
                <a:ea typeface="Helvetica Neue"/>
                <a:cs typeface="Helvetica Neue"/>
              </a:defRPr>
            </a:lvl4pPr>
            <a:lvl5pPr>
              <a:buNone/>
              <a:defRPr sz="2175" b="0">
                <a:solidFill>
                  <a:srgbClr val="B9D0DE"/>
                </a:solidFill>
                <a:latin typeface="Helvetica Neue"/>
                <a:ea typeface="Helvetica Neue"/>
                <a:cs typeface="Helvetica Neue"/>
              </a:defRPr>
            </a:lvl5pPr>
            <a:lvl6pPr>
              <a:buNone/>
              <a:defRPr sz="2175" b="0">
                <a:solidFill>
                  <a:srgbClr val="B9D0DE"/>
                </a:solidFill>
                <a:latin typeface="Helvetica Neue"/>
                <a:ea typeface="Helvetica Neue"/>
                <a:cs typeface="Helvetica Neue"/>
              </a:defRPr>
            </a:lvl6pPr>
            <a:lvl7pPr>
              <a:buNone/>
              <a:defRPr sz="2175" b="0">
                <a:solidFill>
                  <a:srgbClr val="B9D0DE"/>
                </a:solidFill>
                <a:latin typeface="Helvetica Neue"/>
                <a:ea typeface="Helvetica Neue"/>
                <a:cs typeface="Helvetica Neue"/>
              </a:defRPr>
            </a:lvl7pPr>
            <a:lvl8pPr>
              <a:buNone/>
              <a:defRPr sz="2175" b="0">
                <a:solidFill>
                  <a:srgbClr val="B9D0DE"/>
                </a:solidFill>
                <a:latin typeface="Helvetica Neue"/>
                <a:ea typeface="Helvetica Neue"/>
                <a:cs typeface="Helvetica Neue"/>
              </a:defRPr>
            </a:lvl8pPr>
            <a:lvl9pPr>
              <a:buNone/>
              <a:defRPr sz="2175" b="0">
                <a:solidFill>
                  <a:srgbClr val="B9D0DE"/>
                </a:solidFill>
                <a:latin typeface="Helvetica Neue"/>
                <a:ea typeface="Helvetica Neue"/>
                <a:cs typeface="Helvetica Neue"/>
              </a:defRPr>
            </a:lvl9pPr>
          </a:lstStyle>
          <a:p xmlns:a="http://schemas.openxmlformats.org/drawingml/2006/main">
            <a:pPr>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Critic + tools → merged context</a:t>
            </a:r>
          </a:p>
        </p:txBody>
      </p:sp>
      <p:sp>
        <p:nvSpPr>
          <p:cNvPr id="6" name="">
            <a:extLst xmlns:a="http://schemas.openxmlformats.org/drawingml/2006/main">
              <a:ext uri="{FF2B5EF4-FFF2-40B4-BE49-F238E27FC236}">
                <a16:creationId xmlns:a16="http://schemas.microsoft.com/office/drawing/2014/main" id="{E69423DE-DB65-4CFD-B019-30D4FA86AD82}"/>
              </a:ext>
            </a:extLst>
          </p:cNvPr>
          <p:cNvSpPr>
            <a:spLocks xmlns:a="http://schemas.openxmlformats.org/drawingml/2006/main" noGrp="1"/>
          </p:cNvSpPr>
          <p:nvPr/>
        </p:nvSpPr>
        <p:spPr>
          <a:xfrm xmlns:a="http://schemas.openxmlformats.org/drawingml/2006/main">
            <a:off x="704850" y="3648075"/>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D0DE"/>
                </a:solidFill>
                <a:latin typeface="Helvetica Neue"/>
                <a:ea typeface="Helvetica Neue"/>
                <a:cs typeface="Helvetica Neue"/>
              </a:defRPr>
            </a:defPPr>
            <a:lvl1pPr>
              <a:buNone/>
              <a:defRPr sz="2400" b="1">
                <a:solidFill>
                  <a:srgbClr val="FFFFFF"/>
                </a:solidFill>
                <a:latin typeface="Helvetica Neue"/>
                <a:ea typeface="Helvetica Neue"/>
                <a:cs typeface="Helvetica Neue"/>
              </a:defRPr>
            </a:lvl1pPr>
            <a:lvl2pPr>
              <a:buNone/>
              <a:defRPr sz="2400" b="1">
                <a:solidFill>
                  <a:srgbClr val="FFFFFF"/>
                </a:solidFill>
                <a:latin typeface="Helvetica Neue"/>
                <a:ea typeface="Helvetica Neue"/>
                <a:cs typeface="Helvetica Neue"/>
              </a:defRPr>
            </a:lvl2pPr>
            <a:lvl3pPr>
              <a:buNone/>
              <a:defRPr sz="2400" b="1">
                <a:solidFill>
                  <a:srgbClr val="FFFFFF"/>
                </a:solidFill>
                <a:latin typeface="Helvetica Neue"/>
                <a:ea typeface="Helvetica Neue"/>
                <a:cs typeface="Helvetica Neue"/>
              </a:defRPr>
            </a:lvl3pPr>
            <a:lvl4pPr>
              <a:buNone/>
              <a:defRPr sz="2400" b="1">
                <a:solidFill>
                  <a:srgbClr val="FFFFFF"/>
                </a:solidFill>
                <a:latin typeface="Helvetica Neue"/>
                <a:ea typeface="Helvetica Neue"/>
                <a:cs typeface="Helvetica Neue"/>
              </a:defRPr>
            </a:lvl4pPr>
            <a:lvl5pPr>
              <a:buNone/>
              <a:defRPr sz="2400" b="1">
                <a:solidFill>
                  <a:srgbClr val="FFFFFF"/>
                </a:solidFill>
                <a:latin typeface="Helvetica Neue"/>
                <a:ea typeface="Helvetica Neue"/>
                <a:cs typeface="Helvetica Neue"/>
              </a:defRPr>
            </a:lvl5pPr>
            <a:lvl6pPr>
              <a:buNone/>
              <a:defRPr sz="2400" b="1">
                <a:solidFill>
                  <a:srgbClr val="FFFFFF"/>
                </a:solidFill>
                <a:latin typeface="Helvetica Neue"/>
                <a:ea typeface="Helvetica Neue"/>
                <a:cs typeface="Helvetica Neue"/>
              </a:defRPr>
            </a:lvl6pPr>
            <a:lvl7pPr>
              <a:buNone/>
              <a:defRPr sz="2400" b="1">
                <a:solidFill>
                  <a:srgbClr val="FFFFFF"/>
                </a:solidFill>
                <a:latin typeface="Helvetica Neue"/>
                <a:ea typeface="Helvetica Neue"/>
                <a:cs typeface="Helvetica Neue"/>
              </a:defRPr>
            </a:lvl7pPr>
            <a:lvl8pPr>
              <a:buNone/>
              <a:defRPr sz="2400" b="1">
                <a:solidFill>
                  <a:srgbClr val="FFFFFF"/>
                </a:solidFill>
                <a:latin typeface="Helvetica Neue"/>
                <a:ea typeface="Helvetica Neue"/>
                <a:cs typeface="Helvetica Neue"/>
              </a:defRPr>
            </a:lvl8pPr>
            <a:lvl9pPr>
              <a:buNone/>
              <a:defRPr sz="2400" b="1">
                <a:solidFill>
                  <a:srgbClr val="FFFFFF"/>
                </a:solidFill>
                <a:latin typeface="Helvetica Neue"/>
                <a:ea typeface="Helvetica Neue"/>
                <a:cs typeface="Helvetica Neue"/>
              </a:defRPr>
            </a:lvl9pPr>
          </a:lstStyle>
          <a:p xmlns:a="http://schemas.openxmlformats.org/drawingml/2006/main">
            <a:pPr>
              <a:buNone/>
              <a:defRPr sz="1725" b="0">
                <a:solidFill>
                  <a:srgbClr val="B9D0DE"/>
                </a:solidFill>
                <a:latin typeface="Helvetica Neue"/>
                <a:ea typeface="Helvetica Neue"/>
                <a:cs typeface="Helvetica Neue"/>
              </a:defRPr>
            </a:pPr>
            <a:r>
              <a:rPr sz="1725" b="0">
                <a:solidFill>
                  <a:srgbClr val="B9D0DE"/>
                </a:solidFill>
                <a:latin typeface="Helvetica Neue"/>
                <a:ea typeface="Helvetica Neue"/>
                <a:cs typeface="Helvetica Neue"/>
              </a:rPr>
              <a:t>Critic returns rejections and challenges. Allowlisted tools run in parallel; their outputs join before planning.</a:t>
            </a:r>
          </a:p>
        </p:txBody>
      </p:sp>
      <p:sp>
        <p:nvSpPr>
          <p:cNvPr id="7" name="">
            <a:extLst xmlns:a="http://schemas.openxmlformats.org/drawingml/2006/main">
              <a:ext uri="{FF2B5EF4-FFF2-40B4-BE49-F238E27FC236}">
                <a16:creationId xmlns:a16="http://schemas.microsoft.com/office/drawing/2014/main" id="{56A6B471-4674-47E5-9B61-E44114B0FCAD}"/>
              </a:ext>
            </a:extLst>
          </p:cNvPr>
          <p:cNvSpPr>
            <a:spLocks xmlns:a="http://schemas.openxmlformats.org/drawingml/2006/main" noGrp="1"/>
          </p:cNvSpPr>
          <p:nvPr/>
        </p:nvSpPr>
        <p:spPr>
          <a:xfrm xmlns:a="http://schemas.openxmlformats.org/drawingml/2006/main">
            <a:off x="704850" y="452437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FFFFFF"/>
                </a:solidFill>
                <a:latin typeface="Helvetica Neue"/>
                <a:ea typeface="Helvetica Neue"/>
                <a:cs typeface="Helvetica Neue"/>
              </a:defRPr>
            </a:defPPr>
            <a:lvl1pPr>
              <a:buNone/>
              <a:defRPr sz="2175" b="0">
                <a:solidFill>
                  <a:srgbClr val="B9D0DE"/>
                </a:solidFill>
                <a:latin typeface="Helvetica Neue"/>
                <a:ea typeface="Helvetica Neue"/>
                <a:cs typeface="Helvetica Neue"/>
              </a:defRPr>
            </a:lvl1pPr>
            <a:lvl2pPr>
              <a:buNone/>
              <a:defRPr sz="2175" b="0">
                <a:solidFill>
                  <a:srgbClr val="B9D0DE"/>
                </a:solidFill>
                <a:latin typeface="Helvetica Neue"/>
                <a:ea typeface="Helvetica Neue"/>
                <a:cs typeface="Helvetica Neue"/>
              </a:defRPr>
            </a:lvl2pPr>
            <a:lvl3pPr>
              <a:buNone/>
              <a:defRPr sz="2175" b="0">
                <a:solidFill>
                  <a:srgbClr val="B9D0DE"/>
                </a:solidFill>
                <a:latin typeface="Helvetica Neue"/>
                <a:ea typeface="Helvetica Neue"/>
                <a:cs typeface="Helvetica Neue"/>
              </a:defRPr>
            </a:lvl3pPr>
            <a:lvl4pPr>
              <a:buNone/>
              <a:defRPr sz="2175" b="0">
                <a:solidFill>
                  <a:srgbClr val="B9D0DE"/>
                </a:solidFill>
                <a:latin typeface="Helvetica Neue"/>
                <a:ea typeface="Helvetica Neue"/>
                <a:cs typeface="Helvetica Neue"/>
              </a:defRPr>
            </a:lvl4pPr>
            <a:lvl5pPr>
              <a:buNone/>
              <a:defRPr sz="2175" b="0">
                <a:solidFill>
                  <a:srgbClr val="B9D0DE"/>
                </a:solidFill>
                <a:latin typeface="Helvetica Neue"/>
                <a:ea typeface="Helvetica Neue"/>
                <a:cs typeface="Helvetica Neue"/>
              </a:defRPr>
            </a:lvl5pPr>
            <a:lvl6pPr>
              <a:buNone/>
              <a:defRPr sz="2175" b="0">
                <a:solidFill>
                  <a:srgbClr val="B9D0DE"/>
                </a:solidFill>
                <a:latin typeface="Helvetica Neue"/>
                <a:ea typeface="Helvetica Neue"/>
                <a:cs typeface="Helvetica Neue"/>
              </a:defRPr>
            </a:lvl6pPr>
            <a:lvl7pPr>
              <a:buNone/>
              <a:defRPr sz="2175" b="0">
                <a:solidFill>
                  <a:srgbClr val="B9D0DE"/>
                </a:solidFill>
                <a:latin typeface="Helvetica Neue"/>
                <a:ea typeface="Helvetica Neue"/>
                <a:cs typeface="Helvetica Neue"/>
              </a:defRPr>
            </a:lvl7pPr>
            <a:lvl8pPr>
              <a:buNone/>
              <a:defRPr sz="2175" b="0">
                <a:solidFill>
                  <a:srgbClr val="B9D0DE"/>
                </a:solidFill>
                <a:latin typeface="Helvetica Neue"/>
                <a:ea typeface="Helvetica Neue"/>
                <a:cs typeface="Helvetica Neue"/>
              </a:defRPr>
            </a:lvl8pPr>
            <a:lvl9pPr>
              <a:buNone/>
              <a:defRPr sz="2175" b="0">
                <a:solidFill>
                  <a:srgbClr val="B9D0DE"/>
                </a:solidFill>
                <a:latin typeface="Helvetica Neue"/>
                <a:ea typeface="Helvetica Neue"/>
                <a:cs typeface="Helvetica Neue"/>
              </a:defRPr>
            </a:lvl9pPr>
          </a:lstStyle>
          <a:p xmlns:a="http://schemas.openxmlformats.org/drawingml/2006/main">
            <a:pPr>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Planner → code gate → trace</a:t>
            </a:r>
          </a:p>
        </p:txBody>
      </p:sp>
      <p:sp>
        <p:nvSpPr>
          <p:cNvPr id="8" name="">
            <a:extLst xmlns:a="http://schemas.openxmlformats.org/drawingml/2006/main">
              <a:ext uri="{FF2B5EF4-FFF2-40B4-BE49-F238E27FC236}">
                <a16:creationId xmlns:a16="http://schemas.microsoft.com/office/drawing/2014/main" id="{4F956464-2D27-4259-8BEB-68761BCBE7D6}"/>
              </a:ext>
            </a:extLst>
          </p:cNvPr>
          <p:cNvSpPr>
            <a:spLocks xmlns:a="http://schemas.openxmlformats.org/drawingml/2006/main" noGrp="1"/>
          </p:cNvSpPr>
          <p:nvPr/>
        </p:nvSpPr>
        <p:spPr>
          <a:xfrm xmlns:a="http://schemas.openxmlformats.org/drawingml/2006/main">
            <a:off x="704850" y="4924425"/>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D0DE"/>
                </a:solidFill>
                <a:latin typeface="Helvetica Neue"/>
                <a:ea typeface="Helvetica Neue"/>
                <a:cs typeface="Helvetica Neue"/>
              </a:defRPr>
            </a:defPPr>
            <a:lvl1pPr>
              <a:buNone/>
              <a:defRPr sz="2100" b="0">
                <a:solidFill>
                  <a:srgbClr val="FFFFFF"/>
                </a:solidFill>
                <a:latin typeface="Helvetica Neue"/>
                <a:ea typeface="Helvetica Neue"/>
                <a:cs typeface="Helvetica Neue"/>
              </a:defRPr>
            </a:lvl1pPr>
            <a:lvl2pPr>
              <a:buNone/>
              <a:defRPr sz="2100" b="0">
                <a:solidFill>
                  <a:srgbClr val="FFFFFF"/>
                </a:solidFill>
                <a:latin typeface="Helvetica Neue"/>
                <a:ea typeface="Helvetica Neue"/>
                <a:cs typeface="Helvetica Neue"/>
              </a:defRPr>
            </a:lvl2pPr>
            <a:lvl3pPr>
              <a:buNone/>
              <a:defRPr sz="2100" b="0">
                <a:solidFill>
                  <a:srgbClr val="FFFFFF"/>
                </a:solidFill>
                <a:latin typeface="Helvetica Neue"/>
                <a:ea typeface="Helvetica Neue"/>
                <a:cs typeface="Helvetica Neue"/>
              </a:defRPr>
            </a:lvl3pPr>
            <a:lvl4pPr>
              <a:buNone/>
              <a:defRPr sz="2100" b="0">
                <a:solidFill>
                  <a:srgbClr val="FFFFFF"/>
                </a:solidFill>
                <a:latin typeface="Helvetica Neue"/>
                <a:ea typeface="Helvetica Neue"/>
                <a:cs typeface="Helvetica Neue"/>
              </a:defRPr>
            </a:lvl4pPr>
            <a:lvl5pPr>
              <a:buNone/>
              <a:defRPr sz="2100" b="0">
                <a:solidFill>
                  <a:srgbClr val="FFFFFF"/>
                </a:solidFill>
                <a:latin typeface="Helvetica Neue"/>
                <a:ea typeface="Helvetica Neue"/>
                <a:cs typeface="Helvetica Neue"/>
              </a:defRPr>
            </a:lvl5pPr>
            <a:lvl6pPr>
              <a:buNone/>
              <a:defRPr sz="2100" b="0">
                <a:solidFill>
                  <a:srgbClr val="FFFFFF"/>
                </a:solidFill>
                <a:latin typeface="Helvetica Neue"/>
                <a:ea typeface="Helvetica Neue"/>
                <a:cs typeface="Helvetica Neue"/>
              </a:defRPr>
            </a:lvl6pPr>
            <a:lvl7pPr>
              <a:buNone/>
              <a:defRPr sz="2100" b="0">
                <a:solidFill>
                  <a:srgbClr val="FFFFFF"/>
                </a:solidFill>
                <a:latin typeface="Helvetica Neue"/>
                <a:ea typeface="Helvetica Neue"/>
                <a:cs typeface="Helvetica Neue"/>
              </a:defRPr>
            </a:lvl7pPr>
            <a:lvl8pPr>
              <a:buNone/>
              <a:defRPr sz="2100" b="0">
                <a:solidFill>
                  <a:srgbClr val="FFFFFF"/>
                </a:solidFill>
                <a:latin typeface="Helvetica Neue"/>
                <a:ea typeface="Helvetica Neue"/>
                <a:cs typeface="Helvetica Neue"/>
              </a:defRPr>
            </a:lvl8pPr>
            <a:lvl9pPr>
              <a:buNone/>
              <a:defRPr sz="2100" b="0">
                <a:solidFill>
                  <a:srgbClr val="FFFFFF"/>
                </a:solidFill>
                <a:latin typeface="Helvetica Neue"/>
                <a:ea typeface="Helvetica Neue"/>
                <a:cs typeface="Helvetica Neue"/>
              </a:defRPr>
            </a:lvl9pPr>
          </a:lstStyle>
          <a:p xmlns:a="http://schemas.openxmlformats.org/drawingml/2006/main">
            <a:pPr>
              <a:buNone/>
              <a:defRPr sz="1725" b="0">
                <a:solidFill>
                  <a:srgbClr val="B9D0DE"/>
                </a:solidFill>
                <a:latin typeface="Helvetica Neue"/>
                <a:ea typeface="Helvetica Neue"/>
                <a:cs typeface="Helvetica Neue"/>
              </a:defRPr>
            </a:pPr>
            <a:r>
              <a:rPr sz="1725" b="0">
                <a:solidFill>
                  <a:srgbClr val="B9D0DE"/>
                </a:solidFill>
                <a:latin typeface="Helvetica Neue"/>
                <a:ea typeface="Helvetica Neue"/>
                <a:cs typeface="Helvetica Neue"/>
              </a:rPr>
              <a:t>Planner receives ranked candidates, tool results and critic summary. Code can override an unsafe question.</a:t>
            </a:r>
          </a:p>
        </p:txBody>
      </p:sp>
      <p:sp>
        <p:nvSpPr>
          <p:cNvPr id="9" name="">
            <a:extLst xmlns:a="http://schemas.openxmlformats.org/drawingml/2006/main">
              <a:ext uri="{FF2B5EF4-FFF2-40B4-BE49-F238E27FC236}">
                <a16:creationId xmlns:a16="http://schemas.microsoft.com/office/drawing/2014/main" id="{7FB03845-909B-490E-A3E7-35BC138F8611}"/>
              </a:ext>
            </a:extLst>
          </p:cNvPr>
          <p:cNvSpPr>
            <a:spLocks xmlns:a="http://schemas.openxmlformats.org/drawingml/2006/main" noGrp="1"/>
          </p:cNvSpPr>
          <p:nvPr/>
        </p:nvSpPr>
        <p:spPr>
          <a:xfrm xmlns:a="http://schemas.openxmlformats.org/drawingml/2006/main">
            <a:off x="6343650" y="14001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A9D6"/>
                </a:solidFill>
                <a:latin typeface="Helvetica Neue"/>
                <a:ea typeface="Helvetica Neue"/>
                <a:cs typeface="Helvetica Neue"/>
              </a:defRPr>
            </a:defPPr>
            <a:lvl1pPr>
              <a:buNone/>
              <a:defRPr sz="1950" b="1">
                <a:solidFill>
                  <a:srgbClr val="00A9D6"/>
                </a:solidFill>
                <a:latin typeface="Helvetica Neue"/>
                <a:ea typeface="Helvetica Neue"/>
                <a:cs typeface="Helvetica Neue"/>
              </a:defRPr>
            </a:lvl1pPr>
            <a:lvl2pPr>
              <a:buNone/>
              <a:defRPr sz="1950" b="1">
                <a:solidFill>
                  <a:srgbClr val="00A9D6"/>
                </a:solidFill>
                <a:latin typeface="Helvetica Neue"/>
                <a:ea typeface="Helvetica Neue"/>
                <a:cs typeface="Helvetica Neue"/>
              </a:defRPr>
            </a:lvl2pPr>
            <a:lvl3pPr>
              <a:buNone/>
              <a:defRPr sz="1950" b="1">
                <a:solidFill>
                  <a:srgbClr val="00A9D6"/>
                </a:solidFill>
                <a:latin typeface="Helvetica Neue"/>
                <a:ea typeface="Helvetica Neue"/>
                <a:cs typeface="Helvetica Neue"/>
              </a:defRPr>
            </a:lvl3pPr>
            <a:lvl4pPr>
              <a:buNone/>
              <a:defRPr sz="1950" b="1">
                <a:solidFill>
                  <a:srgbClr val="00A9D6"/>
                </a:solidFill>
                <a:latin typeface="Helvetica Neue"/>
                <a:ea typeface="Helvetica Neue"/>
                <a:cs typeface="Helvetica Neue"/>
              </a:defRPr>
            </a:lvl4pPr>
            <a:lvl5pPr>
              <a:buNone/>
              <a:defRPr sz="1950" b="1">
                <a:solidFill>
                  <a:srgbClr val="00A9D6"/>
                </a:solidFill>
                <a:latin typeface="Helvetica Neue"/>
                <a:ea typeface="Helvetica Neue"/>
                <a:cs typeface="Helvetica Neue"/>
              </a:defRPr>
            </a:lvl5pPr>
            <a:lvl6pPr>
              <a:buNone/>
              <a:defRPr sz="1950" b="1">
                <a:solidFill>
                  <a:srgbClr val="00A9D6"/>
                </a:solidFill>
                <a:latin typeface="Helvetica Neue"/>
                <a:ea typeface="Helvetica Neue"/>
                <a:cs typeface="Helvetica Neue"/>
              </a:defRPr>
            </a:lvl6pPr>
            <a:lvl7pPr>
              <a:buNone/>
              <a:defRPr sz="1950" b="1">
                <a:solidFill>
                  <a:srgbClr val="00A9D6"/>
                </a:solidFill>
                <a:latin typeface="Helvetica Neue"/>
                <a:ea typeface="Helvetica Neue"/>
                <a:cs typeface="Helvetica Neue"/>
              </a:defRPr>
            </a:lvl7pPr>
            <a:lvl8pPr>
              <a:buNone/>
              <a:defRPr sz="1950" b="1">
                <a:solidFill>
                  <a:srgbClr val="00A9D6"/>
                </a:solidFill>
                <a:latin typeface="Helvetica Neue"/>
                <a:ea typeface="Helvetica Neue"/>
                <a:cs typeface="Helvetica Neue"/>
              </a:defRPr>
            </a:lvl8pPr>
            <a:lvl9pPr>
              <a:buNone/>
              <a:defRPr sz="1950" b="1">
                <a:solidFill>
                  <a:srgbClr val="00A9D6"/>
                </a:solidFill>
                <a:latin typeface="Helvetica Neue"/>
                <a:ea typeface="Helvetica Neue"/>
                <a:cs typeface="Helvetica Neue"/>
              </a:defRPr>
            </a:lvl9pPr>
          </a:lstStyle>
          <a:p xmlns:a="http://schemas.openxmlformats.org/drawingml/2006/main">
            <a:pPr>
              <a:buNone/>
              <a:defRPr sz="2175" b="1">
                <a:solidFill>
                  <a:srgbClr val="00A9D6"/>
                </a:solidFill>
                <a:latin typeface="Helvetica Neue"/>
                <a:ea typeface="Helvetica Neue"/>
                <a:cs typeface="Helvetica Neue"/>
              </a:defRPr>
            </a:pPr>
            <a:r>
              <a:rPr sz="2175" b="1">
                <a:solidFill>
                  <a:srgbClr val="00A9D6"/>
                </a:solidFill>
                <a:latin typeface="Helvetica Neue"/>
                <a:ea typeface="Helvetica Neue"/>
                <a:cs typeface="Helvetica Neue"/>
              </a:rPr>
              <a:t>What code enforces</a:t>
            </a:r>
          </a:p>
        </p:txBody>
      </p:sp>
      <p:sp>
        <p:nvSpPr>
          <p:cNvPr id="10" name="">
            <a:extLst xmlns:a="http://schemas.openxmlformats.org/drawingml/2006/main">
              <a:ext uri="{FF2B5EF4-FFF2-40B4-BE49-F238E27FC236}">
                <a16:creationId xmlns:a16="http://schemas.microsoft.com/office/drawing/2014/main" id="{62C161FC-0292-43F6-8297-23D1171AEB8C}"/>
              </a:ext>
            </a:extLst>
          </p:cNvPr>
          <p:cNvSpPr>
            <a:spLocks xmlns:a="http://schemas.openxmlformats.org/drawingml/2006/main" noGrp="1"/>
          </p:cNvSpPr>
          <p:nvPr/>
        </p:nvSpPr>
        <p:spPr>
          <a:xfrm xmlns:a="http://schemas.openxmlformats.org/drawingml/2006/main">
            <a:off x="6343650" y="197167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FFFFFF"/>
                </a:solidFill>
                <a:latin typeface="Helvetica Neue"/>
                <a:ea typeface="Helvetica Neue"/>
                <a:cs typeface="Helvetica Neue"/>
              </a:defRPr>
            </a:defPPr>
            <a:lvl1pPr>
              <a:buNone/>
              <a:defRPr sz="1950" b="1">
                <a:solidFill>
                  <a:srgbClr val="00A9D6"/>
                </a:solidFill>
                <a:latin typeface="Helvetica Neue"/>
                <a:ea typeface="Helvetica Neue"/>
                <a:cs typeface="Helvetica Neue"/>
              </a:defRPr>
            </a:lvl1pPr>
            <a:lvl2pPr>
              <a:buNone/>
              <a:defRPr sz="1950" b="1">
                <a:solidFill>
                  <a:srgbClr val="00A9D6"/>
                </a:solidFill>
                <a:latin typeface="Helvetica Neue"/>
                <a:ea typeface="Helvetica Neue"/>
                <a:cs typeface="Helvetica Neue"/>
              </a:defRPr>
            </a:lvl2pPr>
            <a:lvl3pPr>
              <a:buNone/>
              <a:defRPr sz="1950" b="1">
                <a:solidFill>
                  <a:srgbClr val="00A9D6"/>
                </a:solidFill>
                <a:latin typeface="Helvetica Neue"/>
                <a:ea typeface="Helvetica Neue"/>
                <a:cs typeface="Helvetica Neue"/>
              </a:defRPr>
            </a:lvl3pPr>
            <a:lvl4pPr>
              <a:buNone/>
              <a:defRPr sz="1950" b="1">
                <a:solidFill>
                  <a:srgbClr val="00A9D6"/>
                </a:solidFill>
                <a:latin typeface="Helvetica Neue"/>
                <a:ea typeface="Helvetica Neue"/>
                <a:cs typeface="Helvetica Neue"/>
              </a:defRPr>
            </a:lvl4pPr>
            <a:lvl5pPr>
              <a:buNone/>
              <a:defRPr sz="1950" b="1">
                <a:solidFill>
                  <a:srgbClr val="00A9D6"/>
                </a:solidFill>
                <a:latin typeface="Helvetica Neue"/>
                <a:ea typeface="Helvetica Neue"/>
                <a:cs typeface="Helvetica Neue"/>
              </a:defRPr>
            </a:lvl5pPr>
            <a:lvl6pPr>
              <a:buNone/>
              <a:defRPr sz="1950" b="1">
                <a:solidFill>
                  <a:srgbClr val="00A9D6"/>
                </a:solidFill>
                <a:latin typeface="Helvetica Neue"/>
                <a:ea typeface="Helvetica Neue"/>
                <a:cs typeface="Helvetica Neue"/>
              </a:defRPr>
            </a:lvl6pPr>
            <a:lvl7pPr>
              <a:buNone/>
              <a:defRPr sz="1950" b="1">
                <a:solidFill>
                  <a:srgbClr val="00A9D6"/>
                </a:solidFill>
                <a:latin typeface="Helvetica Neue"/>
                <a:ea typeface="Helvetica Neue"/>
                <a:cs typeface="Helvetica Neue"/>
              </a:defRPr>
            </a:lvl7pPr>
            <a:lvl8pPr>
              <a:buNone/>
              <a:defRPr sz="1950" b="1">
                <a:solidFill>
                  <a:srgbClr val="00A9D6"/>
                </a:solidFill>
                <a:latin typeface="Helvetica Neue"/>
                <a:ea typeface="Helvetica Neue"/>
                <a:cs typeface="Helvetica Neue"/>
              </a:defRPr>
            </a:lvl8pPr>
            <a:lvl9pPr>
              <a:buNone/>
              <a:defRPr sz="1950" b="1">
                <a:solidFill>
                  <a:srgbClr val="00A9D6"/>
                </a:solidFill>
                <a:latin typeface="Helvetica Neue"/>
                <a:ea typeface="Helvetica Neue"/>
                <a:cs typeface="Helvetica Neue"/>
              </a:defRPr>
            </a:lvl9pPr>
          </a:lstStyle>
          <a:p xmlns:a="http://schemas.openxmlformats.org/drawingml/2006/main">
            <a:pPr>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Bounded execution</a:t>
            </a:r>
          </a:p>
        </p:txBody>
      </p:sp>
      <p:sp>
        <p:nvSpPr>
          <p:cNvPr id="11" name="">
            <a:extLst xmlns:a="http://schemas.openxmlformats.org/drawingml/2006/main">
              <a:ext uri="{FF2B5EF4-FFF2-40B4-BE49-F238E27FC236}">
                <a16:creationId xmlns:a16="http://schemas.microsoft.com/office/drawing/2014/main" id="{AFDA5CCD-84D0-4A77-894B-EE4ACB816B50}"/>
              </a:ext>
            </a:extLst>
          </p:cNvPr>
          <p:cNvSpPr>
            <a:spLocks xmlns:a="http://schemas.openxmlformats.org/drawingml/2006/main" noGrp="1"/>
          </p:cNvSpPr>
          <p:nvPr/>
        </p:nvSpPr>
        <p:spPr>
          <a:xfrm xmlns:a="http://schemas.openxmlformats.org/drawingml/2006/main">
            <a:off x="6343650" y="2371725"/>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D0DE"/>
                </a:solidFill>
                <a:latin typeface="Helvetica Neue"/>
                <a:ea typeface="Helvetica Neue"/>
                <a:cs typeface="Helvetica Neue"/>
              </a:defRPr>
            </a:defPPr>
            <a:lvl1pPr>
              <a:buNone/>
              <a:defRPr sz="1275" b="0">
                <a:solidFill>
                  <a:srgbClr val="B9D0DE"/>
                </a:solidFill>
                <a:latin typeface="Helvetica Neue"/>
                <a:ea typeface="Helvetica Neue"/>
                <a:cs typeface="Helvetica Neue"/>
              </a:defRPr>
            </a:lvl1pPr>
            <a:lvl2pPr>
              <a:buNone/>
              <a:defRPr sz="1275" b="0">
                <a:solidFill>
                  <a:srgbClr val="B9D0DE"/>
                </a:solidFill>
                <a:latin typeface="Helvetica Neue"/>
                <a:ea typeface="Helvetica Neue"/>
                <a:cs typeface="Helvetica Neue"/>
              </a:defRPr>
            </a:lvl2pPr>
            <a:lvl3pPr>
              <a:buNone/>
              <a:defRPr sz="1275" b="0">
                <a:solidFill>
                  <a:srgbClr val="B9D0DE"/>
                </a:solidFill>
                <a:latin typeface="Helvetica Neue"/>
                <a:ea typeface="Helvetica Neue"/>
                <a:cs typeface="Helvetica Neue"/>
              </a:defRPr>
            </a:lvl3pPr>
            <a:lvl4pPr>
              <a:buNone/>
              <a:defRPr sz="1275" b="0">
                <a:solidFill>
                  <a:srgbClr val="B9D0DE"/>
                </a:solidFill>
                <a:latin typeface="Helvetica Neue"/>
                <a:ea typeface="Helvetica Neue"/>
                <a:cs typeface="Helvetica Neue"/>
              </a:defRPr>
            </a:lvl4pPr>
            <a:lvl5pPr>
              <a:buNone/>
              <a:defRPr sz="1275" b="0">
                <a:solidFill>
                  <a:srgbClr val="B9D0DE"/>
                </a:solidFill>
                <a:latin typeface="Helvetica Neue"/>
                <a:ea typeface="Helvetica Neue"/>
                <a:cs typeface="Helvetica Neue"/>
              </a:defRPr>
            </a:lvl5pPr>
            <a:lvl6pPr>
              <a:buNone/>
              <a:defRPr sz="1275" b="0">
                <a:solidFill>
                  <a:srgbClr val="B9D0DE"/>
                </a:solidFill>
                <a:latin typeface="Helvetica Neue"/>
                <a:ea typeface="Helvetica Neue"/>
                <a:cs typeface="Helvetica Neue"/>
              </a:defRPr>
            </a:lvl6pPr>
            <a:lvl7pPr>
              <a:buNone/>
              <a:defRPr sz="1275" b="0">
                <a:solidFill>
                  <a:srgbClr val="B9D0DE"/>
                </a:solidFill>
                <a:latin typeface="Helvetica Neue"/>
                <a:ea typeface="Helvetica Neue"/>
                <a:cs typeface="Helvetica Neue"/>
              </a:defRPr>
            </a:lvl7pPr>
            <a:lvl8pPr>
              <a:buNone/>
              <a:defRPr sz="1275" b="0">
                <a:solidFill>
                  <a:srgbClr val="B9D0DE"/>
                </a:solidFill>
                <a:latin typeface="Helvetica Neue"/>
                <a:ea typeface="Helvetica Neue"/>
                <a:cs typeface="Helvetica Neue"/>
              </a:defRPr>
            </a:lvl8pPr>
            <a:lvl9pPr>
              <a:buNone/>
              <a:defRPr sz="1275" b="0">
                <a:solidFill>
                  <a:srgbClr val="B9D0DE"/>
                </a:solidFill>
                <a:latin typeface="Helvetica Neue"/>
                <a:ea typeface="Helvetica Neue"/>
                <a:cs typeface="Helvetica Neue"/>
              </a:defRPr>
            </a:lvl9pPr>
          </a:lstStyle>
          <a:p xmlns:a="http://schemas.openxmlformats.org/drawingml/2006/main">
            <a:pPr>
              <a:buNone/>
              <a:defRPr sz="1725" b="0">
                <a:solidFill>
                  <a:srgbClr val="B9D0DE"/>
                </a:solidFill>
                <a:latin typeface="Helvetica Neue"/>
                <a:ea typeface="Helvetica Neue"/>
                <a:cs typeface="Helvetica Neue"/>
              </a:defRPr>
            </a:pPr>
            <a:r>
              <a:rPr sz="1725" b="0">
                <a:solidFill>
                  <a:srgbClr val="B9D0DE"/>
                </a:solidFill>
                <a:latin typeface="Helvetica Neue"/>
                <a:ea typeface="Helvetica Neue"/>
                <a:cs typeface="Helvetica Neue"/>
              </a:rPr>
              <a:t>Per turn: ≤4 model calls, ≤3 tools, one shared repair; 55 s deadline. Interview: ≤14 merchant turns.</a:t>
            </a:r>
          </a:p>
        </p:txBody>
      </p:sp>
      <p:sp>
        <p:nvSpPr>
          <p:cNvPr id="12" name="">
            <a:extLst xmlns:a="http://schemas.openxmlformats.org/drawingml/2006/main">
              <a:ext uri="{FF2B5EF4-FFF2-40B4-BE49-F238E27FC236}">
                <a16:creationId xmlns:a16="http://schemas.microsoft.com/office/drawing/2014/main" id="{1E0D5428-D6EE-4F43-A10F-A481245F0E0E}"/>
              </a:ext>
            </a:extLst>
          </p:cNvPr>
          <p:cNvSpPr>
            <a:spLocks xmlns:a="http://schemas.openxmlformats.org/drawingml/2006/main" noGrp="1"/>
          </p:cNvSpPr>
          <p:nvPr/>
        </p:nvSpPr>
        <p:spPr>
          <a:xfrm xmlns:a="http://schemas.openxmlformats.org/drawingml/2006/main">
            <a:off x="6343650" y="3248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FFFFFF"/>
                </a:solidFill>
                <a:latin typeface="Helvetica Neue"/>
                <a:ea typeface="Helvetica Neue"/>
                <a:cs typeface="Helvetica Neue"/>
              </a:defRPr>
            </a:defPPr>
            <a:lvl1pPr>
              <a:buNone/>
              <a:defRPr sz="1275" b="0">
                <a:solidFill>
                  <a:srgbClr val="B9D0DE"/>
                </a:solidFill>
                <a:latin typeface="Helvetica Neue"/>
                <a:ea typeface="Helvetica Neue"/>
                <a:cs typeface="Helvetica Neue"/>
              </a:defRPr>
            </a:lvl1pPr>
            <a:lvl2pPr>
              <a:buNone/>
              <a:defRPr sz="1275" b="0">
                <a:solidFill>
                  <a:srgbClr val="B9D0DE"/>
                </a:solidFill>
                <a:latin typeface="Helvetica Neue"/>
                <a:ea typeface="Helvetica Neue"/>
                <a:cs typeface="Helvetica Neue"/>
              </a:defRPr>
            </a:lvl2pPr>
            <a:lvl3pPr>
              <a:buNone/>
              <a:defRPr sz="1275" b="0">
                <a:solidFill>
                  <a:srgbClr val="B9D0DE"/>
                </a:solidFill>
                <a:latin typeface="Helvetica Neue"/>
                <a:ea typeface="Helvetica Neue"/>
                <a:cs typeface="Helvetica Neue"/>
              </a:defRPr>
            </a:lvl3pPr>
            <a:lvl4pPr>
              <a:buNone/>
              <a:defRPr sz="1275" b="0">
                <a:solidFill>
                  <a:srgbClr val="B9D0DE"/>
                </a:solidFill>
                <a:latin typeface="Helvetica Neue"/>
                <a:ea typeface="Helvetica Neue"/>
                <a:cs typeface="Helvetica Neue"/>
              </a:defRPr>
            </a:lvl4pPr>
            <a:lvl5pPr>
              <a:buNone/>
              <a:defRPr sz="1275" b="0">
                <a:solidFill>
                  <a:srgbClr val="B9D0DE"/>
                </a:solidFill>
                <a:latin typeface="Helvetica Neue"/>
                <a:ea typeface="Helvetica Neue"/>
                <a:cs typeface="Helvetica Neue"/>
              </a:defRPr>
            </a:lvl5pPr>
            <a:lvl6pPr>
              <a:buNone/>
              <a:defRPr sz="1275" b="0">
                <a:solidFill>
                  <a:srgbClr val="B9D0DE"/>
                </a:solidFill>
                <a:latin typeface="Helvetica Neue"/>
                <a:ea typeface="Helvetica Neue"/>
                <a:cs typeface="Helvetica Neue"/>
              </a:defRPr>
            </a:lvl6pPr>
            <a:lvl7pPr>
              <a:buNone/>
              <a:defRPr sz="1275" b="0">
                <a:solidFill>
                  <a:srgbClr val="B9D0DE"/>
                </a:solidFill>
                <a:latin typeface="Helvetica Neue"/>
                <a:ea typeface="Helvetica Neue"/>
                <a:cs typeface="Helvetica Neue"/>
              </a:defRPr>
            </a:lvl7pPr>
            <a:lvl8pPr>
              <a:buNone/>
              <a:defRPr sz="1275" b="0">
                <a:solidFill>
                  <a:srgbClr val="B9D0DE"/>
                </a:solidFill>
                <a:latin typeface="Helvetica Neue"/>
                <a:ea typeface="Helvetica Neue"/>
                <a:cs typeface="Helvetica Neue"/>
              </a:defRPr>
            </a:lvl8pPr>
            <a:lvl9pPr>
              <a:buNone/>
              <a:defRPr sz="1275" b="0">
                <a:solidFill>
                  <a:srgbClr val="B9D0DE"/>
                </a:solidFill>
                <a:latin typeface="Helvetica Neue"/>
                <a:ea typeface="Helvetica Neue"/>
                <a:cs typeface="Helvetica Neue"/>
              </a:defRPr>
            </a:lvl9pPr>
          </a:lstStyle>
          <a:p xmlns:a="http://schemas.openxmlformats.org/drawingml/2006/main">
            <a:pPr>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Authority, privacy and review</a:t>
            </a:r>
          </a:p>
        </p:txBody>
      </p:sp>
      <p:sp>
        <p:nvSpPr>
          <p:cNvPr id="14" name="">
            <a:extLst xmlns:a="http://schemas.openxmlformats.org/drawingml/2006/main">
              <a:ext uri="{FF2B5EF4-FFF2-40B4-BE49-F238E27FC236}">
                <a16:creationId xmlns:a16="http://schemas.microsoft.com/office/drawing/2014/main" id="{343EE19A-B18A-4282-90D8-1C6004384926}"/>
              </a:ext>
            </a:extLst>
          </p:cNvPr>
          <p:cNvSpPr>
            <a:spLocks xmlns:a="http://schemas.openxmlformats.org/drawingml/2006/main" noGrp="1"/>
          </p:cNvSpPr>
          <p:nvPr/>
        </p:nvSpPr>
        <p:spPr>
          <a:xfrm xmlns:a="http://schemas.openxmlformats.org/drawingml/2006/main">
            <a:off x="6343650" y="36480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D0DE"/>
                </a:solidFill>
                <a:latin typeface="Helvetica Neue"/>
                <a:ea typeface="Helvetica Neue"/>
                <a:cs typeface="Helvetica Neue"/>
              </a:defRPr>
            </a:defPPr>
            <a:lvl1pPr>
              <a:buNone/>
              <a:defRPr sz="1425" b="0">
                <a:solidFill>
                  <a:srgbClr val="B9D0DE"/>
                </a:solidFill>
                <a:latin typeface="Helvetica Neue"/>
                <a:ea typeface="Helvetica Neue"/>
                <a:cs typeface="Helvetica Neue"/>
              </a:defRPr>
            </a:lvl1pPr>
            <a:lvl2pPr>
              <a:buNone/>
              <a:defRPr sz="1425" b="0">
                <a:solidFill>
                  <a:srgbClr val="B9D0DE"/>
                </a:solidFill>
                <a:latin typeface="Helvetica Neue"/>
                <a:ea typeface="Helvetica Neue"/>
                <a:cs typeface="Helvetica Neue"/>
              </a:defRPr>
            </a:lvl2pPr>
            <a:lvl3pPr>
              <a:buNone/>
              <a:defRPr sz="1425" b="0">
                <a:solidFill>
                  <a:srgbClr val="B9D0DE"/>
                </a:solidFill>
                <a:latin typeface="Helvetica Neue"/>
                <a:ea typeface="Helvetica Neue"/>
                <a:cs typeface="Helvetica Neue"/>
              </a:defRPr>
            </a:lvl3pPr>
            <a:lvl4pPr>
              <a:buNone/>
              <a:defRPr sz="1425" b="0">
                <a:solidFill>
                  <a:srgbClr val="B9D0DE"/>
                </a:solidFill>
                <a:latin typeface="Helvetica Neue"/>
                <a:ea typeface="Helvetica Neue"/>
                <a:cs typeface="Helvetica Neue"/>
              </a:defRPr>
            </a:lvl4pPr>
            <a:lvl5pPr>
              <a:buNone/>
              <a:defRPr sz="1425" b="0">
                <a:solidFill>
                  <a:srgbClr val="B9D0DE"/>
                </a:solidFill>
                <a:latin typeface="Helvetica Neue"/>
                <a:ea typeface="Helvetica Neue"/>
                <a:cs typeface="Helvetica Neue"/>
              </a:defRPr>
            </a:lvl5pPr>
            <a:lvl6pPr>
              <a:buNone/>
              <a:defRPr sz="1425" b="0">
                <a:solidFill>
                  <a:srgbClr val="B9D0DE"/>
                </a:solidFill>
                <a:latin typeface="Helvetica Neue"/>
                <a:ea typeface="Helvetica Neue"/>
                <a:cs typeface="Helvetica Neue"/>
              </a:defRPr>
            </a:lvl6pPr>
            <a:lvl7pPr>
              <a:buNone/>
              <a:defRPr sz="1425" b="0">
                <a:solidFill>
                  <a:srgbClr val="B9D0DE"/>
                </a:solidFill>
                <a:latin typeface="Helvetica Neue"/>
                <a:ea typeface="Helvetica Neue"/>
                <a:cs typeface="Helvetica Neue"/>
              </a:defRPr>
            </a:lvl7pPr>
            <a:lvl8pPr>
              <a:buNone/>
              <a:defRPr sz="1425" b="0">
                <a:solidFill>
                  <a:srgbClr val="B9D0DE"/>
                </a:solidFill>
                <a:latin typeface="Helvetica Neue"/>
                <a:ea typeface="Helvetica Neue"/>
                <a:cs typeface="Helvetica Neue"/>
              </a:defRPr>
            </a:lvl8pPr>
            <a:lvl9pPr>
              <a:buNone/>
              <a:defRPr sz="1425" b="0">
                <a:solidFill>
                  <a:srgbClr val="B9D0DE"/>
                </a:solidFill>
                <a:latin typeface="Helvetica Neue"/>
                <a:ea typeface="Helvetica Neue"/>
                <a:cs typeface="Helvetica Neue"/>
              </a:defRPr>
            </a:lvl9pPr>
          </a:lstStyle>
          <a:p xmlns:a="http://schemas.openxmlformats.org/drawingml/2006/main">
            <a:pPr>
              <a:buNone/>
              <a:defRPr sz="1725" b="0">
                <a:solidFill>
                  <a:srgbClr val="B9D0DE"/>
                </a:solidFill>
                <a:latin typeface="Helvetica Neue"/>
                <a:ea typeface="Helvetica Neue"/>
                <a:cs typeface="Helvetica Neue"/>
              </a:defRPr>
            </a:pPr>
            <a:r>
              <a:rPr sz="1725" b="0">
                <a:solidFill>
                  <a:srgbClr val="B9D0DE"/>
                </a:solidFill>
                <a:latin typeface="Helvetica Neue"/>
                <a:ea typeface="Helvetica Neue"/>
                <a:cs typeface="Helvetica Neue"/>
              </a:rPr>
              <a:t>No model-granted approval or financial actions. Edits reset approval; internal and anonymized history are separated.</a:t>
            </a:r>
          </a:p>
        </p:txBody>
      </p:sp>
      <p:sp>
        <p:nvSpPr>
          <p:cNvPr id="15" name="">
            <a:extLst xmlns:a="http://schemas.openxmlformats.org/drawingml/2006/main">
              <a:ext uri="{FF2B5EF4-FFF2-40B4-BE49-F238E27FC236}">
                <a16:creationId xmlns:a16="http://schemas.microsoft.com/office/drawing/2014/main" id="{E70F335E-076A-4D56-A688-7B351C472849}"/>
              </a:ext>
            </a:extLst>
          </p:cNvPr>
          <p:cNvSpPr>
            <a:spLocks xmlns:a="http://schemas.openxmlformats.org/drawingml/2006/main" noGrp="1"/>
          </p:cNvSpPr>
          <p:nvPr/>
        </p:nvSpPr>
        <p:spPr>
          <a:xfrm xmlns:a="http://schemas.openxmlformats.org/drawingml/2006/main">
            <a:off x="6343650" y="452437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FFFFFF"/>
                </a:solidFill>
                <a:latin typeface="Helvetica Neue"/>
                <a:ea typeface="Helvetica Neue"/>
                <a:cs typeface="Helvetica Neue"/>
              </a:defRPr>
            </a:defPPr>
            <a:lvl1pPr>
              <a:buNone/>
              <a:defRPr sz="1950" b="1">
                <a:solidFill>
                  <a:srgbClr val="FFFFFF"/>
                </a:solidFill>
                <a:latin typeface="Helvetica Neue"/>
                <a:ea typeface="Helvetica Neue"/>
                <a:cs typeface="Helvetica Neue"/>
              </a:defRPr>
            </a:lvl1pPr>
            <a:lvl2pPr>
              <a:buNone/>
              <a:defRPr sz="1950" b="1">
                <a:solidFill>
                  <a:srgbClr val="FFFFFF"/>
                </a:solidFill>
                <a:latin typeface="Helvetica Neue"/>
                <a:ea typeface="Helvetica Neue"/>
                <a:cs typeface="Helvetica Neue"/>
              </a:defRPr>
            </a:lvl2pPr>
            <a:lvl3pPr>
              <a:buNone/>
              <a:defRPr sz="1950" b="1">
                <a:solidFill>
                  <a:srgbClr val="FFFFFF"/>
                </a:solidFill>
                <a:latin typeface="Helvetica Neue"/>
                <a:ea typeface="Helvetica Neue"/>
                <a:cs typeface="Helvetica Neue"/>
              </a:defRPr>
            </a:lvl3pPr>
            <a:lvl4pPr>
              <a:buNone/>
              <a:defRPr sz="1950" b="1">
                <a:solidFill>
                  <a:srgbClr val="FFFFFF"/>
                </a:solidFill>
                <a:latin typeface="Helvetica Neue"/>
                <a:ea typeface="Helvetica Neue"/>
                <a:cs typeface="Helvetica Neue"/>
              </a:defRPr>
            </a:lvl4pPr>
            <a:lvl5pPr>
              <a:buNone/>
              <a:defRPr sz="1950" b="1">
                <a:solidFill>
                  <a:srgbClr val="FFFFFF"/>
                </a:solidFill>
                <a:latin typeface="Helvetica Neue"/>
                <a:ea typeface="Helvetica Neue"/>
                <a:cs typeface="Helvetica Neue"/>
              </a:defRPr>
            </a:lvl5pPr>
            <a:lvl6pPr>
              <a:buNone/>
              <a:defRPr sz="1950" b="1">
                <a:solidFill>
                  <a:srgbClr val="FFFFFF"/>
                </a:solidFill>
                <a:latin typeface="Helvetica Neue"/>
                <a:ea typeface="Helvetica Neue"/>
                <a:cs typeface="Helvetica Neue"/>
              </a:defRPr>
            </a:lvl6pPr>
            <a:lvl7pPr>
              <a:buNone/>
              <a:defRPr sz="1950" b="1">
                <a:solidFill>
                  <a:srgbClr val="FFFFFF"/>
                </a:solidFill>
                <a:latin typeface="Helvetica Neue"/>
                <a:ea typeface="Helvetica Neue"/>
                <a:cs typeface="Helvetica Neue"/>
              </a:defRPr>
            </a:lvl7pPr>
            <a:lvl8pPr>
              <a:buNone/>
              <a:defRPr sz="1950" b="1">
                <a:solidFill>
                  <a:srgbClr val="FFFFFF"/>
                </a:solidFill>
                <a:latin typeface="Helvetica Neue"/>
                <a:ea typeface="Helvetica Neue"/>
                <a:cs typeface="Helvetica Neue"/>
              </a:defRPr>
            </a:lvl8pPr>
            <a:lvl9pPr>
              <a:buNone/>
              <a:defRPr sz="1950" b="1">
                <a:solidFill>
                  <a:srgbClr val="FFFFFF"/>
                </a:solidFill>
                <a:latin typeface="Helvetica Neue"/>
                <a:ea typeface="Helvetica Neue"/>
                <a:cs typeface="Helvetica Neue"/>
              </a:defRPr>
            </a:lvl9pPr>
          </a:lstStyle>
          <a:p xmlns:a="http://schemas.openxmlformats.org/drawingml/2006/main">
            <a:pPr>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Exit and failure behavior</a:t>
            </a:r>
          </a:p>
        </p:txBody>
      </p:sp>
      <p:sp>
        <p:nvSpPr>
          <p:cNvPr id="16" name="">
            <a:extLst xmlns:a="http://schemas.openxmlformats.org/drawingml/2006/main">
              <a:ext uri="{FF2B5EF4-FFF2-40B4-BE49-F238E27FC236}">
                <a16:creationId xmlns:a16="http://schemas.microsoft.com/office/drawing/2014/main" id="{7DB3521A-F3D7-4468-81A0-E1F0CB8F4D24}"/>
              </a:ext>
            </a:extLst>
          </p:cNvPr>
          <p:cNvSpPr>
            <a:spLocks xmlns:a="http://schemas.openxmlformats.org/drawingml/2006/main" noGrp="1"/>
          </p:cNvSpPr>
          <p:nvPr/>
        </p:nvSpPr>
        <p:spPr>
          <a:xfrm xmlns:a="http://schemas.openxmlformats.org/drawingml/2006/main">
            <a:off x="6343650" y="4924425"/>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D0DE"/>
                </a:solidFill>
                <a:latin typeface="Helvetica Neue"/>
                <a:ea typeface="Helvetica Neue"/>
                <a:cs typeface="Helvetica Neue"/>
              </a:defRPr>
            </a:defPPr>
            <a:lvl1pPr>
              <a:buNone/>
              <a:defRPr sz="1725" b="0">
                <a:solidFill>
                  <a:srgbClr val="B9D0DE"/>
                </a:solidFill>
                <a:latin typeface="Helvetica Neue"/>
                <a:ea typeface="Helvetica Neue"/>
                <a:cs typeface="Helvetica Neue"/>
              </a:defRPr>
            </a:lvl1pPr>
            <a:lvl2pPr>
              <a:buNone/>
              <a:defRPr sz="1725" b="0">
                <a:solidFill>
                  <a:srgbClr val="B9D0DE"/>
                </a:solidFill>
                <a:latin typeface="Helvetica Neue"/>
                <a:ea typeface="Helvetica Neue"/>
                <a:cs typeface="Helvetica Neue"/>
              </a:defRPr>
            </a:lvl2pPr>
            <a:lvl3pPr>
              <a:buNone/>
              <a:defRPr sz="1725" b="0">
                <a:solidFill>
                  <a:srgbClr val="B9D0DE"/>
                </a:solidFill>
                <a:latin typeface="Helvetica Neue"/>
                <a:ea typeface="Helvetica Neue"/>
                <a:cs typeface="Helvetica Neue"/>
              </a:defRPr>
            </a:lvl3pPr>
            <a:lvl4pPr>
              <a:buNone/>
              <a:defRPr sz="1725" b="0">
                <a:solidFill>
                  <a:srgbClr val="B9D0DE"/>
                </a:solidFill>
                <a:latin typeface="Helvetica Neue"/>
                <a:ea typeface="Helvetica Neue"/>
                <a:cs typeface="Helvetica Neue"/>
              </a:defRPr>
            </a:lvl4pPr>
            <a:lvl5pPr>
              <a:buNone/>
              <a:defRPr sz="1725" b="0">
                <a:solidFill>
                  <a:srgbClr val="B9D0DE"/>
                </a:solidFill>
                <a:latin typeface="Helvetica Neue"/>
                <a:ea typeface="Helvetica Neue"/>
                <a:cs typeface="Helvetica Neue"/>
              </a:defRPr>
            </a:lvl5pPr>
            <a:lvl6pPr>
              <a:buNone/>
              <a:defRPr sz="1725" b="0">
                <a:solidFill>
                  <a:srgbClr val="B9D0DE"/>
                </a:solidFill>
                <a:latin typeface="Helvetica Neue"/>
                <a:ea typeface="Helvetica Neue"/>
                <a:cs typeface="Helvetica Neue"/>
              </a:defRPr>
            </a:lvl6pPr>
            <a:lvl7pPr>
              <a:buNone/>
              <a:defRPr sz="1725" b="0">
                <a:solidFill>
                  <a:srgbClr val="B9D0DE"/>
                </a:solidFill>
                <a:latin typeface="Helvetica Neue"/>
                <a:ea typeface="Helvetica Neue"/>
                <a:cs typeface="Helvetica Neue"/>
              </a:defRPr>
            </a:lvl7pPr>
            <a:lvl8pPr>
              <a:buNone/>
              <a:defRPr sz="1725" b="0">
                <a:solidFill>
                  <a:srgbClr val="B9D0DE"/>
                </a:solidFill>
                <a:latin typeface="Helvetica Neue"/>
                <a:ea typeface="Helvetica Neue"/>
                <a:cs typeface="Helvetica Neue"/>
              </a:defRPr>
            </a:lvl8pPr>
            <a:lvl9pPr>
              <a:buNone/>
              <a:defRPr sz="1725" b="0">
                <a:solidFill>
                  <a:srgbClr val="B9D0DE"/>
                </a:solidFill>
                <a:latin typeface="Helvetica Neue"/>
                <a:ea typeface="Helvetica Neue"/>
                <a:cs typeface="Helvetica Neue"/>
              </a:defRPr>
            </a:lvl9pPr>
          </a:lstStyle>
          <a:p xmlns:a="http://schemas.openxmlformats.org/drawingml/2006/main">
            <a:pPr>
              <a:buNone/>
              <a:defRPr sz="1725" b="0">
                <a:solidFill>
                  <a:srgbClr val="B9D0DE"/>
                </a:solidFill>
                <a:latin typeface="Helvetica Neue"/>
                <a:ea typeface="Helvetica Neue"/>
                <a:cs typeface="Helvetica Neue"/>
              </a:defRPr>
            </a:pPr>
            <a:r>
              <a:rPr sz="1725" b="0">
                <a:solidFill>
                  <a:srgbClr val="B9D0DE"/>
                </a:solidFill>
                <a:latin typeface="Helvetica Neue"/>
                <a:ea typeface="Helvetica Neue"/>
                <a:cs typeface="Helvetica Neue"/>
              </a:rPr>
              <a:t>Stop on request, coverage or turn cap; preserve unknowns. Failure retains the pending answer and committed state.</a:t>
            </a:r>
          </a:p>
        </p:txBody>
      </p:sp>
      <p:sp>
        <p:nvSpPr>
          <p:cNvPr id="17" name="">
            <a:extLst xmlns:a="http://schemas.openxmlformats.org/drawingml/2006/main">
              <a:ext uri="{FF2B5EF4-FFF2-40B4-BE49-F238E27FC236}">
                <a16:creationId xmlns:a16="http://schemas.microsoft.com/office/drawing/2014/main" id="{4B31C2C3-A851-45F0-93D7-1C20957D7E40}"/>
              </a:ext>
            </a:extLst>
          </p:cNvPr>
          <p:cNvSpPr>
            <a:spLocks xmlns:a="http://schemas.openxmlformats.org/drawingml/2006/main" noGrp="1"/>
          </p:cNvSpPr>
          <p:nvPr/>
        </p:nvSpPr>
        <p:spPr>
          <a:xfrm xmlns:a="http://schemas.openxmlformats.org/drawingml/2006/main">
            <a:off x="704850" y="58483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A9D6"/>
                </a:solidFill>
                <a:latin typeface="Helvetica Neue"/>
                <a:ea typeface="Helvetica Neue"/>
                <a:cs typeface="Helvetica Neue"/>
              </a:defRPr>
            </a:defPPr>
            <a:lvl1pPr>
              <a:buNone/>
              <a:defRPr sz="1875" b="1">
                <a:solidFill>
                  <a:srgbClr val="00A9D6"/>
                </a:solidFill>
                <a:latin typeface="Helvetica Neue"/>
                <a:ea typeface="Helvetica Neue"/>
                <a:cs typeface="Helvetica Neue"/>
              </a:defRPr>
            </a:lvl1pPr>
            <a:lvl2pPr>
              <a:buNone/>
              <a:defRPr sz="1875" b="1">
                <a:solidFill>
                  <a:srgbClr val="00A9D6"/>
                </a:solidFill>
                <a:latin typeface="Helvetica Neue"/>
                <a:ea typeface="Helvetica Neue"/>
                <a:cs typeface="Helvetica Neue"/>
              </a:defRPr>
            </a:lvl2pPr>
            <a:lvl3pPr>
              <a:buNone/>
              <a:defRPr sz="1875" b="1">
                <a:solidFill>
                  <a:srgbClr val="00A9D6"/>
                </a:solidFill>
                <a:latin typeface="Helvetica Neue"/>
                <a:ea typeface="Helvetica Neue"/>
                <a:cs typeface="Helvetica Neue"/>
              </a:defRPr>
            </a:lvl3pPr>
            <a:lvl4pPr>
              <a:buNone/>
              <a:defRPr sz="1875" b="1">
                <a:solidFill>
                  <a:srgbClr val="00A9D6"/>
                </a:solidFill>
                <a:latin typeface="Helvetica Neue"/>
                <a:ea typeface="Helvetica Neue"/>
                <a:cs typeface="Helvetica Neue"/>
              </a:defRPr>
            </a:lvl4pPr>
            <a:lvl5pPr>
              <a:buNone/>
              <a:defRPr sz="1875" b="1">
                <a:solidFill>
                  <a:srgbClr val="00A9D6"/>
                </a:solidFill>
                <a:latin typeface="Helvetica Neue"/>
                <a:ea typeface="Helvetica Neue"/>
                <a:cs typeface="Helvetica Neue"/>
              </a:defRPr>
            </a:lvl5pPr>
            <a:lvl6pPr>
              <a:buNone/>
              <a:defRPr sz="1875" b="1">
                <a:solidFill>
                  <a:srgbClr val="00A9D6"/>
                </a:solidFill>
                <a:latin typeface="Helvetica Neue"/>
                <a:ea typeface="Helvetica Neue"/>
                <a:cs typeface="Helvetica Neue"/>
              </a:defRPr>
            </a:lvl6pPr>
            <a:lvl7pPr>
              <a:buNone/>
              <a:defRPr sz="1875" b="1">
                <a:solidFill>
                  <a:srgbClr val="00A9D6"/>
                </a:solidFill>
                <a:latin typeface="Helvetica Neue"/>
                <a:ea typeface="Helvetica Neue"/>
                <a:cs typeface="Helvetica Neue"/>
              </a:defRPr>
            </a:lvl7pPr>
            <a:lvl8pPr>
              <a:buNone/>
              <a:defRPr sz="1875" b="1">
                <a:solidFill>
                  <a:srgbClr val="00A9D6"/>
                </a:solidFill>
                <a:latin typeface="Helvetica Neue"/>
                <a:ea typeface="Helvetica Neue"/>
                <a:cs typeface="Helvetica Neue"/>
              </a:defRPr>
            </a:lvl8pPr>
            <a:lvl9pPr>
              <a:buNone/>
              <a:defRPr sz="1875" b="1">
                <a:solidFill>
                  <a:srgbClr val="00A9D6"/>
                </a:solidFill>
                <a:latin typeface="Helvetica Neue"/>
                <a:ea typeface="Helvetica Neue"/>
                <a:cs typeface="Helvetica Neue"/>
              </a:defRPr>
            </a:lvl9pPr>
          </a:lstStyle>
          <a:p xmlns:a="http://schemas.openxmlformats.org/drawingml/2006/main">
            <a:pPr>
              <a:buNone/>
              <a:defRPr sz="1875" b="1">
                <a:solidFill>
                  <a:srgbClr val="00A9D6"/>
                </a:solidFill>
                <a:latin typeface="Helvetica Neue"/>
                <a:ea typeface="Helvetica Neue"/>
                <a:cs typeface="Helvetica Neue"/>
              </a:defRPr>
            </a:pPr>
            <a:r>
              <a:rPr sz="1875" b="1">
                <a:solidFill>
                  <a:srgbClr val="00A9D6"/>
                </a:solidFill>
                <a:latin typeface="Helvetica Neue"/>
                <a:ea typeface="Helvetica Neue"/>
                <a:cs typeface="Helvetica Neue"/>
              </a:rPr>
              <a:t>61 passing tests + 7 guided probes; inspect calls, tools, tokens, timings and source links</a:t>
            </a:r>
          </a:p>
        </p:txBody>
      </p:sp>
      <p:sp>
        <p:nvSpPr>
          <p:cNvPr id="18" name="">
            <a:extLst xmlns:a="http://schemas.openxmlformats.org/drawingml/2006/main">
              <a:ext uri="{FF2B5EF4-FFF2-40B4-BE49-F238E27FC236}">
                <a16:creationId xmlns:a16="http://schemas.microsoft.com/office/drawing/2014/main" id="{C87496BD-1E84-4D68-AC0F-68A48BECEFF8}"/>
              </a:ext>
            </a:extLst>
          </p:cNvPr>
          <p:cNvSpPr>
            <a:spLocks xmlns:a="http://schemas.openxmlformats.org/drawingml/2006/main" noGrp="1"/>
          </p:cNvSpPr>
          <p:nvPr/>
        </p:nvSpPr>
        <p:spPr>
          <a:xfrm xmlns:a="http://schemas.openxmlformats.org/drawingml/2006/main">
            <a:off x="704850" y="6238875"/>
            <a:ext cx="1080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9D0DE"/>
                </a:solidFill>
                <a:latin typeface="Helvetica Neue"/>
                <a:ea typeface="Helvetica Neue"/>
                <a:cs typeface="Helvetica Neue"/>
              </a:defRPr>
            </a:defPPr>
            <a:lvl1pPr>
              <a:buNone/>
              <a:defRPr sz="1425" b="0">
                <a:solidFill>
                  <a:srgbClr val="B9D0DE"/>
                </a:solidFill>
                <a:latin typeface="Helvetica Neue"/>
                <a:ea typeface="Helvetica Neue"/>
                <a:cs typeface="Helvetica Neue"/>
              </a:defRPr>
            </a:lvl1pPr>
            <a:lvl2pPr>
              <a:buNone/>
              <a:defRPr sz="1425" b="0">
                <a:solidFill>
                  <a:srgbClr val="B9D0DE"/>
                </a:solidFill>
                <a:latin typeface="Helvetica Neue"/>
                <a:ea typeface="Helvetica Neue"/>
                <a:cs typeface="Helvetica Neue"/>
              </a:defRPr>
            </a:lvl2pPr>
            <a:lvl3pPr>
              <a:buNone/>
              <a:defRPr sz="1425" b="0">
                <a:solidFill>
                  <a:srgbClr val="B9D0DE"/>
                </a:solidFill>
                <a:latin typeface="Helvetica Neue"/>
                <a:ea typeface="Helvetica Neue"/>
                <a:cs typeface="Helvetica Neue"/>
              </a:defRPr>
            </a:lvl3pPr>
            <a:lvl4pPr>
              <a:buNone/>
              <a:defRPr sz="1425" b="0">
                <a:solidFill>
                  <a:srgbClr val="B9D0DE"/>
                </a:solidFill>
                <a:latin typeface="Helvetica Neue"/>
                <a:ea typeface="Helvetica Neue"/>
                <a:cs typeface="Helvetica Neue"/>
              </a:defRPr>
            </a:lvl4pPr>
            <a:lvl5pPr>
              <a:buNone/>
              <a:defRPr sz="1425" b="0">
                <a:solidFill>
                  <a:srgbClr val="B9D0DE"/>
                </a:solidFill>
                <a:latin typeface="Helvetica Neue"/>
                <a:ea typeface="Helvetica Neue"/>
                <a:cs typeface="Helvetica Neue"/>
              </a:defRPr>
            </a:lvl5pPr>
            <a:lvl6pPr>
              <a:buNone/>
              <a:defRPr sz="1425" b="0">
                <a:solidFill>
                  <a:srgbClr val="B9D0DE"/>
                </a:solidFill>
                <a:latin typeface="Helvetica Neue"/>
                <a:ea typeface="Helvetica Neue"/>
                <a:cs typeface="Helvetica Neue"/>
              </a:defRPr>
            </a:lvl6pPr>
            <a:lvl7pPr>
              <a:buNone/>
              <a:defRPr sz="1425" b="0">
                <a:solidFill>
                  <a:srgbClr val="B9D0DE"/>
                </a:solidFill>
                <a:latin typeface="Helvetica Neue"/>
                <a:ea typeface="Helvetica Neue"/>
                <a:cs typeface="Helvetica Neue"/>
              </a:defRPr>
            </a:lvl7pPr>
            <a:lvl8pPr>
              <a:buNone/>
              <a:defRPr sz="1425" b="0">
                <a:solidFill>
                  <a:srgbClr val="B9D0DE"/>
                </a:solidFill>
                <a:latin typeface="Helvetica Neue"/>
                <a:ea typeface="Helvetica Neue"/>
                <a:cs typeface="Helvetica Neue"/>
              </a:defRPr>
            </a:lvl8pPr>
            <a:lvl9pPr>
              <a:buNone/>
              <a:defRPr sz="1425" b="0">
                <a:solidFill>
                  <a:srgbClr val="B9D0DE"/>
                </a:solidFill>
                <a:latin typeface="Helvetica Neue"/>
                <a:ea typeface="Helvetica Neue"/>
                <a:cs typeface="Helvetica Neue"/>
              </a:defRPr>
            </a:lvl9pPr>
          </a:lstStyle>
          <a:p xmlns:a="http://schemas.openxmlformats.org/drawingml/2006/main">
            <a:pPr>
              <a:buNone/>
              <a:defRPr sz="1425" b="0">
                <a:solidFill>
                  <a:srgbClr val="B9D0DE"/>
                </a:solidFill>
                <a:latin typeface="Helvetica Neue"/>
                <a:ea typeface="Helvetica Neue"/>
                <a:cs typeface="Helvetica Neue"/>
              </a:defRPr>
            </a:pPr>
            <a:r>
              <a:rPr sz="1425" b="0">
                <a:solidFill>
                  <a:srgbClr val="B9D0DE"/>
                </a:solidFill>
                <a:latin typeface="Helvetica Neue"/>
                <a:ea typeface="Helvetica Neue"/>
                <a:cs typeface="Helvetica Neue"/>
              </a:rPr>
              <a:t>Regression checks and voice smoke tests; live-model accuracy and noisy-shop reliability remain unmeasured</a:t>
            </a:r>
          </a:p>
        </p:txBody>
      </p:sp>
      <p:sp>
        <p:nvSpPr>
          <p:cNvPr id="19" name="">
            <a:extLst xmlns:a="http://schemas.openxmlformats.org/drawingml/2006/main">
              <a:ext uri="{FF2B5EF4-FFF2-40B4-BE49-F238E27FC236}">
                <a16:creationId xmlns:a16="http://schemas.microsoft.com/office/drawing/2014/main" id="{2453FB69-A089-4FD0-A795-45D8A1C5B59C}"/>
              </a:ext>
            </a:extLst>
          </p:cNvPr>
          <p:cNvSpPr>
            <a:spLocks xmlns:a="http://schemas.openxmlformats.org/drawingml/2006/main" noGrp="1"/>
          </p:cNvSpPr>
          <p:nvPr/>
        </p:nvSpPr>
        <p:spPr>
          <a:xfrm xmlns:a="http://schemas.openxmlformats.org/drawingml/2006/main">
            <a:off x="704850" y="6553200"/>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9D0DE"/>
                </a:solidFill>
                <a:latin typeface="Helvetica Neue"/>
                <a:ea typeface="Helvetica Neue"/>
                <a:cs typeface="Helvetica Neue"/>
              </a:defRPr>
            </a:defPPr>
            <a:lvl1pPr>
              <a:buNone/>
              <a:defRPr sz="1125" b="0">
                <a:solidFill>
                  <a:srgbClr val="B9D0DE"/>
                </a:solidFill>
                <a:latin typeface="Helvetica Neue"/>
                <a:ea typeface="Helvetica Neue"/>
                <a:cs typeface="Helvetica Neue"/>
              </a:defRPr>
            </a:lvl1pPr>
            <a:lvl2pPr>
              <a:buNone/>
              <a:defRPr sz="1125" b="0">
                <a:solidFill>
                  <a:srgbClr val="B9D0DE"/>
                </a:solidFill>
                <a:latin typeface="Helvetica Neue"/>
                <a:ea typeface="Helvetica Neue"/>
                <a:cs typeface="Helvetica Neue"/>
              </a:defRPr>
            </a:lvl2pPr>
            <a:lvl3pPr>
              <a:buNone/>
              <a:defRPr sz="1125" b="0">
                <a:solidFill>
                  <a:srgbClr val="B9D0DE"/>
                </a:solidFill>
                <a:latin typeface="Helvetica Neue"/>
                <a:ea typeface="Helvetica Neue"/>
                <a:cs typeface="Helvetica Neue"/>
              </a:defRPr>
            </a:lvl3pPr>
            <a:lvl4pPr>
              <a:buNone/>
              <a:defRPr sz="1125" b="0">
                <a:solidFill>
                  <a:srgbClr val="B9D0DE"/>
                </a:solidFill>
                <a:latin typeface="Helvetica Neue"/>
                <a:ea typeface="Helvetica Neue"/>
                <a:cs typeface="Helvetica Neue"/>
              </a:defRPr>
            </a:lvl4pPr>
            <a:lvl5pPr>
              <a:buNone/>
              <a:defRPr sz="1125" b="0">
                <a:solidFill>
                  <a:srgbClr val="B9D0DE"/>
                </a:solidFill>
                <a:latin typeface="Helvetica Neue"/>
                <a:ea typeface="Helvetica Neue"/>
                <a:cs typeface="Helvetica Neue"/>
              </a:defRPr>
            </a:lvl5pPr>
            <a:lvl6pPr>
              <a:buNone/>
              <a:defRPr sz="1125" b="0">
                <a:solidFill>
                  <a:srgbClr val="B9D0DE"/>
                </a:solidFill>
                <a:latin typeface="Helvetica Neue"/>
                <a:ea typeface="Helvetica Neue"/>
                <a:cs typeface="Helvetica Neue"/>
              </a:defRPr>
            </a:lvl6pPr>
            <a:lvl7pPr>
              <a:buNone/>
              <a:defRPr sz="1125" b="0">
                <a:solidFill>
                  <a:srgbClr val="B9D0DE"/>
                </a:solidFill>
                <a:latin typeface="Helvetica Neue"/>
                <a:ea typeface="Helvetica Neue"/>
                <a:cs typeface="Helvetica Neue"/>
              </a:defRPr>
            </a:lvl7pPr>
            <a:lvl8pPr>
              <a:buNone/>
              <a:defRPr sz="1125" b="0">
                <a:solidFill>
                  <a:srgbClr val="B9D0DE"/>
                </a:solidFill>
                <a:latin typeface="Helvetica Neue"/>
                <a:ea typeface="Helvetica Neue"/>
                <a:cs typeface="Helvetica Neue"/>
              </a:defRPr>
            </a:lvl8pPr>
            <a:lvl9pPr>
              <a:buNone/>
              <a:defRPr sz="1125" b="0">
                <a:solidFill>
                  <a:srgbClr val="B9D0DE"/>
                </a:solidFill>
                <a:latin typeface="Helvetica Neue"/>
                <a:ea typeface="Helvetica Neue"/>
                <a:cs typeface="Helvetica Neue"/>
              </a:defRPr>
            </a:lvl9pPr>
          </a:lstStyle>
          <a:p xmlns:a="http://schemas.openxmlformats.org/drawingml/2006/main">
            <a:pPr>
              <a:buNone/>
              <a:defRPr sz="1125" b="0">
                <a:solidFill>
                  <a:srgbClr val="B9D0DE"/>
                </a:solidFill>
                <a:latin typeface="Helvetica Neue"/>
                <a:ea typeface="Helvetica Neue"/>
                <a:cs typeface="Helvetica Neue"/>
              </a:defRPr>
            </a:pPr>
            <a:r>
              <a:rPr sz="1125" b="0">
                <a:solidFill>
                  <a:srgbClr val="B9D0DE"/>
                </a:solidFill>
                <a:latin typeface="Helvetica Neue"/>
                <a:ea typeface="Helvetica Neue"/>
                <a:cs typeface="Helvetica Neue"/>
              </a:rPr>
              <a:t>One orchestrator · JSON between roles · same Gemini backend · no A2A protocol</a:t>
            </a:r>
          </a:p>
        </p:txBody>
      </p:sp>
      <p:sp>
        <p:nvSpPr>
          <p:cNvPr id="20" name="">
            <a:extLst xmlns:a="http://schemas.openxmlformats.org/drawingml/2006/main">
              <a:ext uri="{FF2B5EF4-FFF2-40B4-BE49-F238E27FC236}">
                <a16:creationId xmlns:a16="http://schemas.microsoft.com/office/drawing/2014/main" id="{39CBD579-1DDA-439C-9984-5DE3C7D0906A}"/>
              </a:ext>
            </a:extLst>
          </p:cNvPr>
          <p:cNvSpPr>
            <a:spLocks xmlns:a="http://schemas.openxmlformats.org/drawingml/2006/main" noGrp="1"/>
          </p:cNvSpPr>
          <p:nvPr/>
        </p:nvSpPr>
        <p:spPr>
          <a:xfrm xmlns:a="http://schemas.openxmlformats.org/drawingml/2006/main">
            <a:off x="10839450" y="655320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9D0DE"/>
                </a:solidFill>
                <a:latin typeface="Helvetica Neue"/>
                <a:ea typeface="Helvetica Neue"/>
                <a:cs typeface="Helvetica Neue"/>
              </a:defRPr>
            </a:defPPr>
            <a:lvl1pPr>
              <a:buNone/>
              <a:defRPr sz="1125" b="0">
                <a:solidFill>
                  <a:srgbClr val="B9D0DE"/>
                </a:solidFill>
                <a:latin typeface="Helvetica Neue"/>
                <a:ea typeface="Helvetica Neue"/>
                <a:cs typeface="Helvetica Neue"/>
              </a:defRPr>
            </a:lvl1pPr>
            <a:lvl2pPr>
              <a:buNone/>
              <a:defRPr sz="1125" b="0">
                <a:solidFill>
                  <a:srgbClr val="B9D0DE"/>
                </a:solidFill>
                <a:latin typeface="Helvetica Neue"/>
                <a:ea typeface="Helvetica Neue"/>
                <a:cs typeface="Helvetica Neue"/>
              </a:defRPr>
            </a:lvl2pPr>
            <a:lvl3pPr>
              <a:buNone/>
              <a:defRPr sz="1125" b="0">
                <a:solidFill>
                  <a:srgbClr val="B9D0DE"/>
                </a:solidFill>
                <a:latin typeface="Helvetica Neue"/>
                <a:ea typeface="Helvetica Neue"/>
                <a:cs typeface="Helvetica Neue"/>
              </a:defRPr>
            </a:lvl3pPr>
            <a:lvl4pPr>
              <a:buNone/>
              <a:defRPr sz="1125" b="0">
                <a:solidFill>
                  <a:srgbClr val="B9D0DE"/>
                </a:solidFill>
                <a:latin typeface="Helvetica Neue"/>
                <a:ea typeface="Helvetica Neue"/>
                <a:cs typeface="Helvetica Neue"/>
              </a:defRPr>
            </a:lvl4pPr>
            <a:lvl5pPr>
              <a:buNone/>
              <a:defRPr sz="1125" b="0">
                <a:solidFill>
                  <a:srgbClr val="B9D0DE"/>
                </a:solidFill>
                <a:latin typeface="Helvetica Neue"/>
                <a:ea typeface="Helvetica Neue"/>
                <a:cs typeface="Helvetica Neue"/>
              </a:defRPr>
            </a:lvl5pPr>
            <a:lvl6pPr>
              <a:buNone/>
              <a:defRPr sz="1125" b="0">
                <a:solidFill>
                  <a:srgbClr val="B9D0DE"/>
                </a:solidFill>
                <a:latin typeface="Helvetica Neue"/>
                <a:ea typeface="Helvetica Neue"/>
                <a:cs typeface="Helvetica Neue"/>
              </a:defRPr>
            </a:lvl6pPr>
            <a:lvl7pPr>
              <a:buNone/>
              <a:defRPr sz="1125" b="0">
                <a:solidFill>
                  <a:srgbClr val="B9D0DE"/>
                </a:solidFill>
                <a:latin typeface="Helvetica Neue"/>
                <a:ea typeface="Helvetica Neue"/>
                <a:cs typeface="Helvetica Neue"/>
              </a:defRPr>
            </a:lvl7pPr>
            <a:lvl8pPr>
              <a:buNone/>
              <a:defRPr sz="1125" b="0">
                <a:solidFill>
                  <a:srgbClr val="B9D0DE"/>
                </a:solidFill>
                <a:latin typeface="Helvetica Neue"/>
                <a:ea typeface="Helvetica Neue"/>
                <a:cs typeface="Helvetica Neue"/>
              </a:defRPr>
            </a:lvl8pPr>
            <a:lvl9pPr>
              <a:buNone/>
              <a:defRPr sz="1125" b="0">
                <a:solidFill>
                  <a:srgbClr val="B9D0DE"/>
                </a:solidFill>
                <a:latin typeface="Helvetica Neue"/>
                <a:ea typeface="Helvetica Neue"/>
                <a:cs typeface="Helvetica Neue"/>
              </a:defRPr>
            </a:lvl9pPr>
          </a:lstStyle>
          <a:p xmlns:a="http://schemas.openxmlformats.org/drawingml/2006/main">
            <a:pPr>
              <a:buNone/>
              <a:defRPr sz="1125" b="0">
                <a:solidFill>
                  <a:srgbClr val="B9D0DE"/>
                </a:solidFill>
                <a:latin typeface="Helvetica Neue"/>
                <a:ea typeface="Helvetica Neue"/>
                <a:cs typeface="Helvetica Neue"/>
              </a:defRPr>
            </a:pPr>
            <a:r>
              <a:rPr sz="1125" b="0">
                <a:solidFill>
                  <a:srgbClr val="B9D0DE"/>
                </a:solidFill>
                <a:latin typeface="Helvetica Neue"/>
                <a:ea typeface="Helvetica Neue"/>
                <a:cs typeface="Helvetica Neue"/>
              </a:rPr>
              <a:t>4 / 5</a:t>
            </a:r>
          </a:p>
        </p:txBody>
      </p:sp>
    </p:spTree>
    <p:extLst>
      <p:ext uri="{BB962C8B-B14F-4D97-AF65-F5344CB8AC3E}">
        <p14:creationId xmlns:p14="http://schemas.microsoft.com/office/powerpoint/2010/main" val="1045329647"/>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B5331A-3001-46FC-89C9-F19D1A6E57AC}"/>
              </a:ext>
            </a:extLst>
          </p:cNvPr>
          <p:cNvSpPr>
            <a:spLocks xmlns:a="http://schemas.openxmlformats.org/drawingml/2006/main" noGrp="1"/>
          </p:cNvSpPr>
          <p:nvPr/>
        </p:nvSpPr>
        <p:spPr>
          <a:xfrm xmlns:a="http://schemas.openxmlformats.org/drawingml/2006/main">
            <a:off x="685800" y="5334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02F43"/>
                </a:solidFill>
                <a:latin typeface="Helvetica Neue"/>
                <a:ea typeface="Helvetica Neue"/>
                <a:cs typeface="Helvetica Neue"/>
              </a:defRPr>
            </a:defPPr>
            <a:lvl1pPr>
              <a:buNone/>
              <a:defRPr sz="3450" b="1">
                <a:solidFill>
                  <a:srgbClr val="102F43"/>
                </a:solidFill>
                <a:latin typeface="Helvetica Neue"/>
                <a:ea typeface="Helvetica Neue"/>
                <a:cs typeface="Helvetica Neue"/>
              </a:defRPr>
            </a:lvl1pPr>
            <a:lvl2pPr>
              <a:buNone/>
              <a:defRPr sz="3450" b="1">
                <a:solidFill>
                  <a:srgbClr val="102F43"/>
                </a:solidFill>
                <a:latin typeface="Helvetica Neue"/>
                <a:ea typeface="Helvetica Neue"/>
                <a:cs typeface="Helvetica Neue"/>
              </a:defRPr>
            </a:lvl2pPr>
            <a:lvl3pPr>
              <a:buNone/>
              <a:defRPr sz="3450" b="1">
                <a:solidFill>
                  <a:srgbClr val="102F43"/>
                </a:solidFill>
                <a:latin typeface="Helvetica Neue"/>
                <a:ea typeface="Helvetica Neue"/>
                <a:cs typeface="Helvetica Neue"/>
              </a:defRPr>
            </a:lvl3pPr>
            <a:lvl4pPr>
              <a:buNone/>
              <a:defRPr sz="3450" b="1">
                <a:solidFill>
                  <a:srgbClr val="102F43"/>
                </a:solidFill>
                <a:latin typeface="Helvetica Neue"/>
                <a:ea typeface="Helvetica Neue"/>
                <a:cs typeface="Helvetica Neue"/>
              </a:defRPr>
            </a:lvl4pPr>
            <a:lvl5pPr>
              <a:buNone/>
              <a:defRPr sz="3450" b="1">
                <a:solidFill>
                  <a:srgbClr val="102F43"/>
                </a:solidFill>
                <a:latin typeface="Helvetica Neue"/>
                <a:ea typeface="Helvetica Neue"/>
                <a:cs typeface="Helvetica Neue"/>
              </a:defRPr>
            </a:lvl5pPr>
            <a:lvl6pPr>
              <a:buNone/>
              <a:defRPr sz="3450" b="1">
                <a:solidFill>
                  <a:srgbClr val="102F43"/>
                </a:solidFill>
                <a:latin typeface="Helvetica Neue"/>
                <a:ea typeface="Helvetica Neue"/>
                <a:cs typeface="Helvetica Neue"/>
              </a:defRPr>
            </a:lvl6pPr>
            <a:lvl7pPr>
              <a:buNone/>
              <a:defRPr sz="3450" b="1">
                <a:solidFill>
                  <a:srgbClr val="102F43"/>
                </a:solidFill>
                <a:latin typeface="Helvetica Neue"/>
                <a:ea typeface="Helvetica Neue"/>
                <a:cs typeface="Helvetica Neue"/>
              </a:defRPr>
            </a:lvl7pPr>
            <a:lvl8pPr>
              <a:buNone/>
              <a:defRPr sz="3450" b="1">
                <a:solidFill>
                  <a:srgbClr val="102F43"/>
                </a:solidFill>
                <a:latin typeface="Helvetica Neue"/>
                <a:ea typeface="Helvetica Neue"/>
                <a:cs typeface="Helvetica Neue"/>
              </a:defRPr>
            </a:lvl8pPr>
            <a:lvl9pPr>
              <a:buNone/>
              <a:defRPr sz="3450" b="1">
                <a:solidFill>
                  <a:srgbClr val="102F43"/>
                </a:solidFill>
                <a:latin typeface="Helvetica Neue"/>
                <a:ea typeface="Helvetica Neue"/>
                <a:cs typeface="Helvetica Neue"/>
              </a:defRPr>
            </a:lvl9pPr>
          </a:lstStyle>
          <a:p xmlns:a="http://schemas.openxmlformats.org/drawingml/2006/main">
            <a:pPr>
              <a:buNone/>
              <a:defRPr sz="3300" b="1">
                <a:solidFill>
                  <a:srgbClr val="102F43"/>
                </a:solidFill>
                <a:latin typeface="Helvetica Neue"/>
                <a:ea typeface="Helvetica Neue"/>
                <a:cs typeface="Helvetica Neue"/>
              </a:defRPr>
            </a:pPr>
            <a:r>
              <a:rPr sz="3300" b="1">
                <a:solidFill>
                  <a:srgbClr val="102F43"/>
                </a:solidFill>
                <a:latin typeface="Helvetica Neue"/>
                <a:ea typeface="Helvetica Neue"/>
                <a:cs typeface="Helvetica Neue"/>
              </a:rPr>
              <a:t>Five-layer continuity and Paytm pilot</a:t>
            </a:r>
          </a:p>
        </p:txBody>
      </p:sp>
      <p:sp>
        <p:nvSpPr>
          <p:cNvPr id="2" name="">
            <a:extLst xmlns:a="http://schemas.openxmlformats.org/drawingml/2006/main">
              <a:ext uri="{FF2B5EF4-FFF2-40B4-BE49-F238E27FC236}">
                <a16:creationId xmlns:a16="http://schemas.microsoft.com/office/drawing/2014/main" id="{D412D0A9-CC9D-4133-9626-E72CC9B11BEB}"/>
              </a:ext>
            </a:extLst>
          </p:cNvPr>
          <p:cNvSpPr>
            <a:spLocks xmlns:a="http://schemas.openxmlformats.org/drawingml/2006/main" noGrp="1"/>
          </p:cNvSpPr>
          <p:nvPr/>
        </p:nvSpPr>
        <p:spPr>
          <a:xfrm xmlns:a="http://schemas.openxmlformats.org/drawingml/2006/main">
            <a:off x="704850" y="14001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A9D6"/>
                </a:solidFill>
                <a:latin typeface="Helvetica Neue"/>
                <a:ea typeface="Helvetica Neue"/>
                <a:cs typeface="Helvetica Neue"/>
              </a:defRPr>
            </a:defPPr>
            <a:lvl1pPr>
              <a:buNone/>
              <a:defRPr sz="3900" b="1">
                <a:solidFill>
                  <a:srgbClr val="102F43"/>
                </a:solidFill>
                <a:latin typeface="Helvetica Neue"/>
                <a:ea typeface="Helvetica Neue"/>
                <a:cs typeface="Helvetica Neue"/>
              </a:defRPr>
            </a:lvl1pPr>
            <a:lvl2pPr>
              <a:buNone/>
              <a:defRPr sz="3900" b="1">
                <a:solidFill>
                  <a:srgbClr val="102F43"/>
                </a:solidFill>
                <a:latin typeface="Helvetica Neue"/>
                <a:ea typeface="Helvetica Neue"/>
                <a:cs typeface="Helvetica Neue"/>
              </a:defRPr>
            </a:lvl2pPr>
            <a:lvl3pPr>
              <a:buNone/>
              <a:defRPr sz="3900" b="1">
                <a:solidFill>
                  <a:srgbClr val="102F43"/>
                </a:solidFill>
                <a:latin typeface="Helvetica Neue"/>
                <a:ea typeface="Helvetica Neue"/>
                <a:cs typeface="Helvetica Neue"/>
              </a:defRPr>
            </a:lvl3pPr>
            <a:lvl4pPr>
              <a:buNone/>
              <a:defRPr sz="3900" b="1">
                <a:solidFill>
                  <a:srgbClr val="102F43"/>
                </a:solidFill>
                <a:latin typeface="Helvetica Neue"/>
                <a:ea typeface="Helvetica Neue"/>
                <a:cs typeface="Helvetica Neue"/>
              </a:defRPr>
            </a:lvl4pPr>
            <a:lvl5pPr>
              <a:buNone/>
              <a:defRPr sz="3900" b="1">
                <a:solidFill>
                  <a:srgbClr val="102F43"/>
                </a:solidFill>
                <a:latin typeface="Helvetica Neue"/>
                <a:ea typeface="Helvetica Neue"/>
                <a:cs typeface="Helvetica Neue"/>
              </a:defRPr>
            </a:lvl5pPr>
            <a:lvl6pPr>
              <a:buNone/>
              <a:defRPr sz="3900" b="1">
                <a:solidFill>
                  <a:srgbClr val="102F43"/>
                </a:solidFill>
                <a:latin typeface="Helvetica Neue"/>
                <a:ea typeface="Helvetica Neue"/>
                <a:cs typeface="Helvetica Neue"/>
              </a:defRPr>
            </a:lvl6pPr>
            <a:lvl7pPr>
              <a:buNone/>
              <a:defRPr sz="3900" b="1">
                <a:solidFill>
                  <a:srgbClr val="102F43"/>
                </a:solidFill>
                <a:latin typeface="Helvetica Neue"/>
                <a:ea typeface="Helvetica Neue"/>
                <a:cs typeface="Helvetica Neue"/>
              </a:defRPr>
            </a:lvl7pPr>
            <a:lvl8pPr>
              <a:buNone/>
              <a:defRPr sz="3900" b="1">
                <a:solidFill>
                  <a:srgbClr val="102F43"/>
                </a:solidFill>
                <a:latin typeface="Helvetica Neue"/>
                <a:ea typeface="Helvetica Neue"/>
                <a:cs typeface="Helvetica Neue"/>
              </a:defRPr>
            </a:lvl8pPr>
            <a:lvl9pPr>
              <a:buNone/>
              <a:defRPr sz="3900" b="1">
                <a:solidFill>
                  <a:srgbClr val="102F43"/>
                </a:solidFill>
                <a:latin typeface="Helvetica Neue"/>
                <a:ea typeface="Helvetica Neue"/>
                <a:cs typeface="Helvetica Neue"/>
              </a:defRPr>
            </a:lvl9pPr>
          </a:lstStyle>
          <a:p xmlns:a="http://schemas.openxmlformats.org/drawingml/2006/main">
            <a:pPr>
              <a:buNone/>
              <a:defRPr sz="2100" b="1">
                <a:solidFill>
                  <a:srgbClr val="00A9D6"/>
                </a:solidFill>
                <a:latin typeface="Helvetica Neue"/>
                <a:ea typeface="Helvetica Neue"/>
                <a:cs typeface="Helvetica Neue"/>
              </a:defRPr>
            </a:pPr>
            <a:r>
              <a:rPr sz="2100" b="1">
                <a:solidFill>
                  <a:srgbClr val="00A9D6"/>
                </a:solidFill>
                <a:latin typeface="Helvetica Neue"/>
                <a:ea typeface="Helvetica Neue"/>
                <a:cs typeface="Helvetica Neue"/>
              </a:rPr>
              <a:t>What the extension does</a:t>
            </a:r>
          </a:p>
        </p:txBody>
      </p:sp>
      <p:sp>
        <p:nvSpPr>
          <p:cNvPr id="3" name="">
            <a:extLst xmlns:a="http://schemas.openxmlformats.org/drawingml/2006/main">
              <a:ext uri="{FF2B5EF4-FFF2-40B4-BE49-F238E27FC236}">
                <a16:creationId xmlns:a16="http://schemas.microsoft.com/office/drawing/2014/main" id="{29EDF56B-AC65-4472-8D66-FAEC305302C0}"/>
              </a:ext>
            </a:extLst>
          </p:cNvPr>
          <p:cNvSpPr>
            <a:spLocks xmlns:a="http://schemas.openxmlformats.org/drawingml/2006/main" noGrp="1"/>
          </p:cNvSpPr>
          <p:nvPr/>
        </p:nvSpPr>
        <p:spPr>
          <a:xfrm xmlns:a="http://schemas.openxmlformats.org/drawingml/2006/main">
            <a:off x="704850" y="2000250"/>
            <a:ext cx="5191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02F43"/>
                </a:solidFill>
                <a:latin typeface="Helvetica Neue"/>
                <a:ea typeface="Helvetica Neue"/>
                <a:cs typeface="Helvetica Neue"/>
              </a:defRPr>
            </a:defPPr>
            <a:lvl1pPr>
              <a:buNone/>
              <a:defRPr sz="2175" b="0">
                <a:solidFill>
                  <a:srgbClr val="526B7C"/>
                </a:solidFill>
                <a:latin typeface="Helvetica Neue"/>
                <a:ea typeface="Helvetica Neue"/>
                <a:cs typeface="Helvetica Neue"/>
              </a:defRPr>
            </a:lvl1pPr>
            <a:lvl2pPr>
              <a:buNone/>
              <a:defRPr sz="2175" b="0">
                <a:solidFill>
                  <a:srgbClr val="526B7C"/>
                </a:solidFill>
                <a:latin typeface="Helvetica Neue"/>
                <a:ea typeface="Helvetica Neue"/>
                <a:cs typeface="Helvetica Neue"/>
              </a:defRPr>
            </a:lvl2pPr>
            <a:lvl3pPr>
              <a:buNone/>
              <a:defRPr sz="2175" b="0">
                <a:solidFill>
                  <a:srgbClr val="526B7C"/>
                </a:solidFill>
                <a:latin typeface="Helvetica Neue"/>
                <a:ea typeface="Helvetica Neue"/>
                <a:cs typeface="Helvetica Neue"/>
              </a:defRPr>
            </a:lvl3pPr>
            <a:lvl4pPr>
              <a:buNone/>
              <a:defRPr sz="2175" b="0">
                <a:solidFill>
                  <a:srgbClr val="526B7C"/>
                </a:solidFill>
                <a:latin typeface="Helvetica Neue"/>
                <a:ea typeface="Helvetica Neue"/>
                <a:cs typeface="Helvetica Neue"/>
              </a:defRPr>
            </a:lvl4pPr>
            <a:lvl5pPr>
              <a:buNone/>
              <a:defRPr sz="2175" b="0">
                <a:solidFill>
                  <a:srgbClr val="526B7C"/>
                </a:solidFill>
                <a:latin typeface="Helvetica Neue"/>
                <a:ea typeface="Helvetica Neue"/>
                <a:cs typeface="Helvetica Neue"/>
              </a:defRPr>
            </a:lvl5pPr>
            <a:lvl6pPr>
              <a:buNone/>
              <a:defRPr sz="2175" b="0">
                <a:solidFill>
                  <a:srgbClr val="526B7C"/>
                </a:solidFill>
                <a:latin typeface="Helvetica Neue"/>
                <a:ea typeface="Helvetica Neue"/>
                <a:cs typeface="Helvetica Neue"/>
              </a:defRPr>
            </a:lvl6pPr>
            <a:lvl7pPr>
              <a:buNone/>
              <a:defRPr sz="2175" b="0">
                <a:solidFill>
                  <a:srgbClr val="526B7C"/>
                </a:solidFill>
                <a:latin typeface="Helvetica Neue"/>
                <a:ea typeface="Helvetica Neue"/>
                <a:cs typeface="Helvetica Neue"/>
              </a:defRPr>
            </a:lvl7pPr>
            <a:lvl8pPr>
              <a:buNone/>
              <a:defRPr sz="2175" b="0">
                <a:solidFill>
                  <a:srgbClr val="526B7C"/>
                </a:solidFill>
                <a:latin typeface="Helvetica Neue"/>
                <a:ea typeface="Helvetica Neue"/>
                <a:cs typeface="Helvetica Neue"/>
              </a:defRPr>
            </a:lvl8pPr>
            <a:lvl9pPr>
              <a:buNone/>
              <a:defRPr sz="2175" b="0">
                <a:solidFill>
                  <a:srgbClr val="526B7C"/>
                </a:solidFill>
                <a:latin typeface="Helvetica Neue"/>
                <a:ea typeface="Helvetica Neue"/>
                <a:cs typeface="Helvetica Neue"/>
              </a:defRPr>
            </a:lvl9pPr>
          </a:lstStyle>
          <a:p xmlns:a="http://schemas.openxmlformats.org/drawingml/2006/main">
            <a:pPr>
              <a:buNone/>
              <a:defRPr sz="2100" b="1">
                <a:solidFill>
                  <a:srgbClr val="102F43"/>
                </a:solidFill>
                <a:latin typeface="Helvetica Neue"/>
                <a:ea typeface="Helvetica Neue"/>
                <a:cs typeface="Helvetica Neue"/>
              </a:defRPr>
            </a:pPr>
            <a:r>
              <a:rPr sz="2100" b="1">
                <a:solidFill>
                  <a:srgbClr val="102F43"/>
                </a:solidFill>
                <a:latin typeface="Helvetica Neue"/>
                <a:ea typeface="Helvetica Neue"/>
                <a:cs typeface="Helvetica Neue"/>
              </a:rPr>
              <a:t>Preserve prior attempts and open questions</a:t>
            </a:r>
          </a:p>
        </p:txBody>
      </p:sp>
      <p:sp>
        <p:nvSpPr>
          <p:cNvPr id="4" name="">
            <a:extLst xmlns:a="http://schemas.openxmlformats.org/drawingml/2006/main">
              <a:ext uri="{FF2B5EF4-FFF2-40B4-BE49-F238E27FC236}">
                <a16:creationId xmlns:a16="http://schemas.microsoft.com/office/drawing/2014/main" id="{3F89108C-E419-4D75-8429-A25016BBC916}"/>
              </a:ext>
            </a:extLst>
          </p:cNvPr>
          <p:cNvSpPr>
            <a:spLocks xmlns:a="http://schemas.openxmlformats.org/drawingml/2006/main" noGrp="1"/>
          </p:cNvSpPr>
          <p:nvPr/>
        </p:nvSpPr>
        <p:spPr>
          <a:xfrm xmlns:a="http://schemas.openxmlformats.org/drawingml/2006/main">
            <a:off x="704850" y="2733675"/>
            <a:ext cx="5162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B7C"/>
                </a:solidFill>
                <a:latin typeface="Helvetica Neue"/>
                <a:ea typeface="Helvetica Neue"/>
                <a:cs typeface="Helvetica Neue"/>
              </a:defRPr>
            </a:defPPr>
            <a:lvl1pPr>
              <a:buNone/>
              <a:defRPr sz="2175" b="1">
                <a:solidFill>
                  <a:srgbClr val="00A9D6"/>
                </a:solidFill>
                <a:latin typeface="Helvetica Neue"/>
                <a:ea typeface="Helvetica Neue"/>
                <a:cs typeface="Helvetica Neue"/>
              </a:defRPr>
            </a:lvl1pPr>
            <a:lvl2pPr>
              <a:buNone/>
              <a:defRPr sz="2175" b="1">
                <a:solidFill>
                  <a:srgbClr val="00A9D6"/>
                </a:solidFill>
                <a:latin typeface="Helvetica Neue"/>
                <a:ea typeface="Helvetica Neue"/>
                <a:cs typeface="Helvetica Neue"/>
              </a:defRPr>
            </a:lvl2pPr>
            <a:lvl3pPr>
              <a:buNone/>
              <a:defRPr sz="2175" b="1">
                <a:solidFill>
                  <a:srgbClr val="00A9D6"/>
                </a:solidFill>
                <a:latin typeface="Helvetica Neue"/>
                <a:ea typeface="Helvetica Neue"/>
                <a:cs typeface="Helvetica Neue"/>
              </a:defRPr>
            </a:lvl3pPr>
            <a:lvl4pPr>
              <a:buNone/>
              <a:defRPr sz="2175" b="1">
                <a:solidFill>
                  <a:srgbClr val="00A9D6"/>
                </a:solidFill>
                <a:latin typeface="Helvetica Neue"/>
                <a:ea typeface="Helvetica Neue"/>
                <a:cs typeface="Helvetica Neue"/>
              </a:defRPr>
            </a:lvl4pPr>
            <a:lvl5pPr>
              <a:buNone/>
              <a:defRPr sz="2175" b="1">
                <a:solidFill>
                  <a:srgbClr val="00A9D6"/>
                </a:solidFill>
                <a:latin typeface="Helvetica Neue"/>
                <a:ea typeface="Helvetica Neue"/>
                <a:cs typeface="Helvetica Neue"/>
              </a:defRPr>
            </a:lvl5pPr>
            <a:lvl6pPr>
              <a:buNone/>
              <a:defRPr sz="2175" b="1">
                <a:solidFill>
                  <a:srgbClr val="00A9D6"/>
                </a:solidFill>
                <a:latin typeface="Helvetica Neue"/>
                <a:ea typeface="Helvetica Neue"/>
                <a:cs typeface="Helvetica Neue"/>
              </a:defRPr>
            </a:lvl6pPr>
            <a:lvl7pPr>
              <a:buNone/>
              <a:defRPr sz="2175" b="1">
                <a:solidFill>
                  <a:srgbClr val="00A9D6"/>
                </a:solidFill>
                <a:latin typeface="Helvetica Neue"/>
                <a:ea typeface="Helvetica Neue"/>
                <a:cs typeface="Helvetica Neue"/>
              </a:defRPr>
            </a:lvl7pPr>
            <a:lvl8pPr>
              <a:buNone/>
              <a:defRPr sz="2175" b="1">
                <a:solidFill>
                  <a:srgbClr val="00A9D6"/>
                </a:solidFill>
                <a:latin typeface="Helvetica Neue"/>
                <a:ea typeface="Helvetica Neue"/>
                <a:cs typeface="Helvetica Neue"/>
              </a:defRPr>
            </a:lvl8pPr>
            <a:lvl9pPr>
              <a:buNone/>
              <a:defRPr sz="2175" b="1">
                <a:solidFill>
                  <a:srgbClr val="00A9D6"/>
                </a:solidFill>
                <a:latin typeface="Helvetica Neue"/>
                <a:ea typeface="Helvetica Neue"/>
                <a:cs typeface="Helvetica Neue"/>
              </a:defRPr>
            </a:lvl9pPr>
          </a:lstStyle>
          <a:p xmlns:a="http://schemas.openxmlformats.org/drawingml/2006/main">
            <a:pPr>
              <a:buNone/>
              <a:defRPr sz="1800" b="0">
                <a:solidFill>
                  <a:srgbClr val="526B7C"/>
                </a:solidFill>
                <a:latin typeface="Helvetica Neue"/>
                <a:ea typeface="Helvetica Neue"/>
                <a:cs typeface="Helvetica Neue"/>
              </a:defRPr>
            </a:pPr>
            <a:r>
              <a:rPr sz="1800" b="0">
                <a:solidFill>
                  <a:srgbClr val="526B7C"/>
                </a:solidFill>
                <a:latin typeface="Helvetica Neue"/>
                <a:ea typeface="Helvetica Neue"/>
                <a:cs typeface="Helvetica Neue"/>
              </a:rPr>
              <a:t>Illustrative stages: clarify → review records → capture checks → prior contact → human handoff.</a:t>
            </a:r>
          </a:p>
        </p:txBody>
      </p:sp>
      <p:sp>
        <p:nvSpPr>
          <p:cNvPr id="5" name="">
            <a:extLst xmlns:a="http://schemas.openxmlformats.org/drawingml/2006/main">
              <a:ext uri="{FF2B5EF4-FFF2-40B4-BE49-F238E27FC236}">
                <a16:creationId xmlns:a16="http://schemas.microsoft.com/office/drawing/2014/main" id="{1B04CC03-03E3-466E-838D-BF026E9BB494}"/>
              </a:ext>
            </a:extLst>
          </p:cNvPr>
          <p:cNvSpPr>
            <a:spLocks xmlns:a="http://schemas.openxmlformats.org/drawingml/2006/main" noGrp="1"/>
          </p:cNvSpPr>
          <p:nvPr/>
        </p:nvSpPr>
        <p:spPr>
          <a:xfrm xmlns:a="http://schemas.openxmlformats.org/drawingml/2006/main">
            <a:off x="704850" y="3838575"/>
            <a:ext cx="51625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02F43"/>
                </a:solidFill>
                <a:latin typeface="Helvetica Neue"/>
                <a:ea typeface="Helvetica Neue"/>
                <a:cs typeface="Helvetica Neue"/>
              </a:defRPr>
            </a:defPPr>
            <a:lvl1pPr>
              <a:buNone/>
              <a:defRPr sz="2100" b="0">
                <a:solidFill>
                  <a:srgbClr val="102F43"/>
                </a:solidFill>
                <a:latin typeface="Helvetica Neue"/>
                <a:ea typeface="Helvetica Neue"/>
                <a:cs typeface="Helvetica Neue"/>
              </a:defRPr>
            </a:lvl1pPr>
            <a:lvl2pPr>
              <a:buNone/>
              <a:defRPr sz="2100" b="0">
                <a:solidFill>
                  <a:srgbClr val="102F43"/>
                </a:solidFill>
                <a:latin typeface="Helvetica Neue"/>
                <a:ea typeface="Helvetica Neue"/>
                <a:cs typeface="Helvetica Neue"/>
              </a:defRPr>
            </a:lvl2pPr>
            <a:lvl3pPr>
              <a:buNone/>
              <a:defRPr sz="2100" b="0">
                <a:solidFill>
                  <a:srgbClr val="102F43"/>
                </a:solidFill>
                <a:latin typeface="Helvetica Neue"/>
                <a:ea typeface="Helvetica Neue"/>
                <a:cs typeface="Helvetica Neue"/>
              </a:defRPr>
            </a:lvl3pPr>
            <a:lvl4pPr>
              <a:buNone/>
              <a:defRPr sz="2100" b="0">
                <a:solidFill>
                  <a:srgbClr val="102F43"/>
                </a:solidFill>
                <a:latin typeface="Helvetica Neue"/>
                <a:ea typeface="Helvetica Neue"/>
                <a:cs typeface="Helvetica Neue"/>
              </a:defRPr>
            </a:lvl4pPr>
            <a:lvl5pPr>
              <a:buNone/>
              <a:defRPr sz="2100" b="0">
                <a:solidFill>
                  <a:srgbClr val="102F43"/>
                </a:solidFill>
                <a:latin typeface="Helvetica Neue"/>
                <a:ea typeface="Helvetica Neue"/>
                <a:cs typeface="Helvetica Neue"/>
              </a:defRPr>
            </a:lvl5pPr>
            <a:lvl6pPr>
              <a:buNone/>
              <a:defRPr sz="2100" b="0">
                <a:solidFill>
                  <a:srgbClr val="102F43"/>
                </a:solidFill>
                <a:latin typeface="Helvetica Neue"/>
                <a:ea typeface="Helvetica Neue"/>
                <a:cs typeface="Helvetica Neue"/>
              </a:defRPr>
            </a:lvl6pPr>
            <a:lvl7pPr>
              <a:buNone/>
              <a:defRPr sz="2100" b="0">
                <a:solidFill>
                  <a:srgbClr val="102F43"/>
                </a:solidFill>
                <a:latin typeface="Helvetica Neue"/>
                <a:ea typeface="Helvetica Neue"/>
                <a:cs typeface="Helvetica Neue"/>
              </a:defRPr>
            </a:lvl7pPr>
            <a:lvl8pPr>
              <a:buNone/>
              <a:defRPr sz="2100" b="0">
                <a:solidFill>
                  <a:srgbClr val="102F43"/>
                </a:solidFill>
                <a:latin typeface="Helvetica Neue"/>
                <a:ea typeface="Helvetica Neue"/>
                <a:cs typeface="Helvetica Neue"/>
              </a:defRPr>
            </a:lvl8pPr>
            <a:lvl9pPr>
              <a:buNone/>
              <a:defRPr sz="2100" b="0">
                <a:solidFill>
                  <a:srgbClr val="102F43"/>
                </a:solidFill>
                <a:latin typeface="Helvetica Neue"/>
                <a:ea typeface="Helvetica Neue"/>
                <a:cs typeface="Helvetica Neue"/>
              </a:defRPr>
            </a:lvl9pPr>
          </a:lstStyle>
          <a:p xmlns:a="http://schemas.openxmlformats.org/drawingml/2006/main">
            <a:pPr>
              <a:buNone/>
              <a:defRPr sz="1800" b="0">
                <a:solidFill>
                  <a:srgbClr val="102F43"/>
                </a:solidFill>
                <a:latin typeface="Helvetica Neue"/>
                <a:ea typeface="Helvetica Neue"/>
                <a:cs typeface="Helvetica Neue"/>
              </a:defRPr>
            </a:pPr>
            <a:r>
              <a:rPr sz="1800" b="0">
                <a:solidFill>
                  <a:srgbClr val="102F43"/>
                </a:solidFill>
                <a:latin typeface="Helvetica Neue"/>
                <a:ea typeface="Helvetica Neue"/>
                <a:cs typeface="Helvetica Neue"/>
              </a:rPr>
              <a:t>Record source-linked history. Two unresolved entries recommend human review; a direct human request can skip all stages.</a:t>
            </a:r>
          </a:p>
        </p:txBody>
      </p:sp>
      <p:sp>
        <p:nvSpPr>
          <p:cNvPr id="6" name="">
            <a:extLst xmlns:a="http://schemas.openxmlformats.org/drawingml/2006/main">
              <a:ext uri="{FF2B5EF4-FFF2-40B4-BE49-F238E27FC236}">
                <a16:creationId xmlns:a16="http://schemas.microsoft.com/office/drawing/2014/main" id="{59D9145F-BFCC-40CD-B709-B303C47CB94F}"/>
              </a:ext>
            </a:extLst>
          </p:cNvPr>
          <p:cNvSpPr>
            <a:spLocks xmlns:a="http://schemas.openxmlformats.org/drawingml/2006/main" noGrp="1"/>
          </p:cNvSpPr>
          <p:nvPr/>
        </p:nvSpPr>
        <p:spPr>
          <a:xfrm xmlns:a="http://schemas.openxmlformats.org/drawingml/2006/main">
            <a:off x="723900" y="55435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A9D6"/>
                </a:solidFill>
                <a:latin typeface="Helvetica Neue"/>
                <a:ea typeface="Helvetica Neue"/>
                <a:cs typeface="Helvetica Neue"/>
              </a:defRPr>
            </a:defPPr>
            <a:lvl1pPr>
              <a:buNone/>
              <a:defRPr sz="2025" b="1">
                <a:solidFill>
                  <a:srgbClr val="00A9D6"/>
                </a:solidFill>
                <a:latin typeface="Helvetica Neue"/>
                <a:ea typeface="Helvetica Neue"/>
                <a:cs typeface="Helvetica Neue"/>
              </a:defRPr>
            </a:lvl1pPr>
            <a:lvl2pPr>
              <a:buNone/>
              <a:defRPr sz="2025" b="1">
                <a:solidFill>
                  <a:srgbClr val="00A9D6"/>
                </a:solidFill>
                <a:latin typeface="Helvetica Neue"/>
                <a:ea typeface="Helvetica Neue"/>
                <a:cs typeface="Helvetica Neue"/>
              </a:defRPr>
            </a:lvl2pPr>
            <a:lvl3pPr>
              <a:buNone/>
              <a:defRPr sz="2025" b="1">
                <a:solidFill>
                  <a:srgbClr val="00A9D6"/>
                </a:solidFill>
                <a:latin typeface="Helvetica Neue"/>
                <a:ea typeface="Helvetica Neue"/>
                <a:cs typeface="Helvetica Neue"/>
              </a:defRPr>
            </a:lvl3pPr>
            <a:lvl4pPr>
              <a:buNone/>
              <a:defRPr sz="2025" b="1">
                <a:solidFill>
                  <a:srgbClr val="00A9D6"/>
                </a:solidFill>
                <a:latin typeface="Helvetica Neue"/>
                <a:ea typeface="Helvetica Neue"/>
                <a:cs typeface="Helvetica Neue"/>
              </a:defRPr>
            </a:lvl4pPr>
            <a:lvl5pPr>
              <a:buNone/>
              <a:defRPr sz="2025" b="1">
                <a:solidFill>
                  <a:srgbClr val="00A9D6"/>
                </a:solidFill>
                <a:latin typeface="Helvetica Neue"/>
                <a:ea typeface="Helvetica Neue"/>
                <a:cs typeface="Helvetica Neue"/>
              </a:defRPr>
            </a:lvl5pPr>
            <a:lvl6pPr>
              <a:buNone/>
              <a:defRPr sz="2025" b="1">
                <a:solidFill>
                  <a:srgbClr val="00A9D6"/>
                </a:solidFill>
                <a:latin typeface="Helvetica Neue"/>
                <a:ea typeface="Helvetica Neue"/>
                <a:cs typeface="Helvetica Neue"/>
              </a:defRPr>
            </a:lvl6pPr>
            <a:lvl7pPr>
              <a:buNone/>
              <a:defRPr sz="2025" b="1">
                <a:solidFill>
                  <a:srgbClr val="00A9D6"/>
                </a:solidFill>
                <a:latin typeface="Helvetica Neue"/>
                <a:ea typeface="Helvetica Neue"/>
                <a:cs typeface="Helvetica Neue"/>
              </a:defRPr>
            </a:lvl7pPr>
            <a:lvl8pPr>
              <a:buNone/>
              <a:defRPr sz="2025" b="1">
                <a:solidFill>
                  <a:srgbClr val="00A9D6"/>
                </a:solidFill>
                <a:latin typeface="Helvetica Neue"/>
                <a:ea typeface="Helvetica Neue"/>
                <a:cs typeface="Helvetica Neue"/>
              </a:defRPr>
            </a:lvl8pPr>
            <a:lvl9pPr>
              <a:buNone/>
              <a:defRPr sz="2025" b="1">
                <a:solidFill>
                  <a:srgbClr val="00A9D6"/>
                </a:solidFill>
                <a:latin typeface="Helvetica Neue"/>
                <a:ea typeface="Helvetica Neue"/>
                <a:cs typeface="Helvetica Neue"/>
              </a:defRPr>
            </a:lvl9pPr>
          </a:lstStyle>
          <a:p xmlns:a="http://schemas.openxmlformats.org/drawingml/2006/main">
            <a:pPr>
              <a:buNone/>
              <a:defRPr sz="2025" b="1">
                <a:solidFill>
                  <a:srgbClr val="00A9D6"/>
                </a:solidFill>
                <a:latin typeface="Helvetica Neue"/>
                <a:ea typeface="Helvetica Neue"/>
                <a:cs typeface="Helvetica Neue"/>
              </a:defRPr>
            </a:pPr>
            <a:r>
              <a:rPr u="sng">
                <a:solidFill>
                  <a:srgbClr val="00A9D6"/>
                </a:solidFill>
                <a:latin typeface="Helvetica Neue"/>
                <a:ea typeface="Helvetica Neue"/>
                <a:cs typeface="Helvetica Neue"/>
                <a:hlinkClick xmlns:r="http://schemas.openxmlformats.org/officeDocument/2006/relationships" r:id="Rf1e52d33198e43bc"/>
              </a:rPr>
              <a:t/>
            </a:r>
          </a:p>
        </p:txBody>
      </p:sp>
      <p:sp>
        <p:nvSpPr>
          <p:cNvPr id="7" name="">
            <a:extLst xmlns:a="http://schemas.openxmlformats.org/drawingml/2006/main">
              <a:ext uri="{FF2B5EF4-FFF2-40B4-BE49-F238E27FC236}">
                <a16:creationId xmlns:a16="http://schemas.microsoft.com/office/drawing/2014/main" id="{4F9CF6D8-749F-4271-928C-D54881D1244A}"/>
              </a:ext>
            </a:extLst>
          </p:cNvPr>
          <p:cNvSpPr>
            <a:spLocks xmlns:a="http://schemas.openxmlformats.org/drawingml/2006/main" noGrp="1"/>
          </p:cNvSpPr>
          <p:nvPr/>
        </p:nvSpPr>
        <p:spPr>
          <a:xfrm xmlns:a="http://schemas.openxmlformats.org/drawingml/2006/main">
            <a:off x="6381750" y="55435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A9D6"/>
                </a:solidFill>
                <a:latin typeface="Helvetica Neue"/>
                <a:ea typeface="Helvetica Neue"/>
                <a:cs typeface="Helvetica Neue"/>
              </a:defRPr>
            </a:defPPr>
            <a:lvl1pPr>
              <a:buNone/>
              <a:defRPr sz="2025" b="1">
                <a:solidFill>
                  <a:srgbClr val="00A9D6"/>
                </a:solidFill>
                <a:latin typeface="Helvetica Neue"/>
                <a:ea typeface="Helvetica Neue"/>
                <a:cs typeface="Helvetica Neue"/>
              </a:defRPr>
            </a:lvl1pPr>
            <a:lvl2pPr>
              <a:buNone/>
              <a:defRPr sz="2025" b="1">
                <a:solidFill>
                  <a:srgbClr val="00A9D6"/>
                </a:solidFill>
                <a:latin typeface="Helvetica Neue"/>
                <a:ea typeface="Helvetica Neue"/>
                <a:cs typeface="Helvetica Neue"/>
              </a:defRPr>
            </a:lvl2pPr>
            <a:lvl3pPr>
              <a:buNone/>
              <a:defRPr sz="2025" b="1">
                <a:solidFill>
                  <a:srgbClr val="00A9D6"/>
                </a:solidFill>
                <a:latin typeface="Helvetica Neue"/>
                <a:ea typeface="Helvetica Neue"/>
                <a:cs typeface="Helvetica Neue"/>
              </a:defRPr>
            </a:lvl3pPr>
            <a:lvl4pPr>
              <a:buNone/>
              <a:defRPr sz="2025" b="1">
                <a:solidFill>
                  <a:srgbClr val="00A9D6"/>
                </a:solidFill>
                <a:latin typeface="Helvetica Neue"/>
                <a:ea typeface="Helvetica Neue"/>
                <a:cs typeface="Helvetica Neue"/>
              </a:defRPr>
            </a:lvl4pPr>
            <a:lvl5pPr>
              <a:buNone/>
              <a:defRPr sz="2025" b="1">
                <a:solidFill>
                  <a:srgbClr val="00A9D6"/>
                </a:solidFill>
                <a:latin typeface="Helvetica Neue"/>
                <a:ea typeface="Helvetica Neue"/>
                <a:cs typeface="Helvetica Neue"/>
              </a:defRPr>
            </a:lvl5pPr>
            <a:lvl6pPr>
              <a:buNone/>
              <a:defRPr sz="2025" b="1">
                <a:solidFill>
                  <a:srgbClr val="00A9D6"/>
                </a:solidFill>
                <a:latin typeface="Helvetica Neue"/>
                <a:ea typeface="Helvetica Neue"/>
                <a:cs typeface="Helvetica Neue"/>
              </a:defRPr>
            </a:lvl6pPr>
            <a:lvl7pPr>
              <a:buNone/>
              <a:defRPr sz="2025" b="1">
                <a:solidFill>
                  <a:srgbClr val="00A9D6"/>
                </a:solidFill>
                <a:latin typeface="Helvetica Neue"/>
                <a:ea typeface="Helvetica Neue"/>
                <a:cs typeface="Helvetica Neue"/>
              </a:defRPr>
            </a:lvl7pPr>
            <a:lvl8pPr>
              <a:buNone/>
              <a:defRPr sz="2025" b="1">
                <a:solidFill>
                  <a:srgbClr val="00A9D6"/>
                </a:solidFill>
                <a:latin typeface="Helvetica Neue"/>
                <a:ea typeface="Helvetica Neue"/>
                <a:cs typeface="Helvetica Neue"/>
              </a:defRPr>
            </a:lvl8pPr>
            <a:lvl9pPr>
              <a:buNone/>
              <a:defRPr sz="2025" b="1">
                <a:solidFill>
                  <a:srgbClr val="00A9D6"/>
                </a:solidFill>
                <a:latin typeface="Helvetica Neue"/>
                <a:ea typeface="Helvetica Neue"/>
                <a:cs typeface="Helvetica Neue"/>
              </a:defRPr>
            </a:lvl9pPr>
          </a:lstStyle>
          <a:p xmlns:a="http://schemas.openxmlformats.org/drawingml/2006/main">
            <a:pPr>
              <a:buNone/>
              <a:defRPr sz="2025" b="1">
                <a:solidFill>
                  <a:srgbClr val="00A9D6"/>
                </a:solidFill>
                <a:latin typeface="Helvetica Neue"/>
                <a:ea typeface="Helvetica Neue"/>
                <a:cs typeface="Helvetica Neue"/>
              </a:defRPr>
            </a:pPr>
            <a:r>
              <a:rPr u="sng">
                <a:solidFill>
                  <a:srgbClr val="00A9D6"/>
                </a:solidFill>
                <a:latin typeface="Helvetica Neue"/>
                <a:ea typeface="Helvetica Neue"/>
                <a:cs typeface="Helvetica Neue"/>
                <a:hlinkClick xmlns:r="http://schemas.openxmlformats.org/officeDocument/2006/relationships" r:id="Rb9c24d9f00de465c"/>
              </a:rPr>
              <a:t/>
            </a:r>
          </a:p>
        </p:txBody>
      </p:sp>
      <p:sp>
        <p:nvSpPr>
          <p:cNvPr id="8" name="">
            <a:extLst xmlns:a="http://schemas.openxmlformats.org/drawingml/2006/main">
              <a:ext uri="{FF2B5EF4-FFF2-40B4-BE49-F238E27FC236}">
                <a16:creationId xmlns:a16="http://schemas.microsoft.com/office/drawing/2014/main" id="{9508F6BB-84AD-4DDE-9CA6-A9EE32885462}"/>
              </a:ext>
            </a:extLst>
          </p:cNvPr>
          <p:cNvSpPr>
            <a:spLocks xmlns:a="http://schemas.openxmlformats.org/drawingml/2006/main" noGrp="1"/>
          </p:cNvSpPr>
          <p:nvPr/>
        </p:nvSpPr>
        <p:spPr>
          <a:xfrm xmlns:a="http://schemas.openxmlformats.org/drawingml/2006/main">
            <a:off x="704850" y="5048250"/>
            <a:ext cx="5162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02F43"/>
                </a:solidFill>
                <a:latin typeface="Helvetica Neue"/>
                <a:ea typeface="Helvetica Neue"/>
                <a:cs typeface="Helvetica Neue"/>
              </a:defRPr>
            </a:defPPr>
            <a:lvl1pPr>
              <a:buNone/>
              <a:defRPr sz="1350" b="0">
                <a:solidFill>
                  <a:srgbClr val="526B7C"/>
                </a:solidFill>
                <a:latin typeface="Helvetica Neue"/>
                <a:ea typeface="Helvetica Neue"/>
                <a:cs typeface="Helvetica Neue"/>
              </a:defRPr>
            </a:lvl1pPr>
            <a:lvl2pPr>
              <a:buNone/>
              <a:defRPr sz="1350" b="0">
                <a:solidFill>
                  <a:srgbClr val="526B7C"/>
                </a:solidFill>
                <a:latin typeface="Helvetica Neue"/>
                <a:ea typeface="Helvetica Neue"/>
                <a:cs typeface="Helvetica Neue"/>
              </a:defRPr>
            </a:lvl2pPr>
            <a:lvl3pPr>
              <a:buNone/>
              <a:defRPr sz="1350" b="0">
                <a:solidFill>
                  <a:srgbClr val="526B7C"/>
                </a:solidFill>
                <a:latin typeface="Helvetica Neue"/>
                <a:ea typeface="Helvetica Neue"/>
                <a:cs typeface="Helvetica Neue"/>
              </a:defRPr>
            </a:lvl3pPr>
            <a:lvl4pPr>
              <a:buNone/>
              <a:defRPr sz="1350" b="0">
                <a:solidFill>
                  <a:srgbClr val="526B7C"/>
                </a:solidFill>
                <a:latin typeface="Helvetica Neue"/>
                <a:ea typeface="Helvetica Neue"/>
                <a:cs typeface="Helvetica Neue"/>
              </a:defRPr>
            </a:lvl4pPr>
            <a:lvl5pPr>
              <a:buNone/>
              <a:defRPr sz="1350" b="0">
                <a:solidFill>
                  <a:srgbClr val="526B7C"/>
                </a:solidFill>
                <a:latin typeface="Helvetica Neue"/>
                <a:ea typeface="Helvetica Neue"/>
                <a:cs typeface="Helvetica Neue"/>
              </a:defRPr>
            </a:lvl5pPr>
            <a:lvl6pPr>
              <a:buNone/>
              <a:defRPr sz="1350" b="0">
                <a:solidFill>
                  <a:srgbClr val="526B7C"/>
                </a:solidFill>
                <a:latin typeface="Helvetica Neue"/>
                <a:ea typeface="Helvetica Neue"/>
                <a:cs typeface="Helvetica Neue"/>
              </a:defRPr>
            </a:lvl6pPr>
            <a:lvl7pPr>
              <a:buNone/>
              <a:defRPr sz="1350" b="0">
                <a:solidFill>
                  <a:srgbClr val="526B7C"/>
                </a:solidFill>
                <a:latin typeface="Helvetica Neue"/>
                <a:ea typeface="Helvetica Neue"/>
                <a:cs typeface="Helvetica Neue"/>
              </a:defRPr>
            </a:lvl7pPr>
            <a:lvl8pPr>
              <a:buNone/>
              <a:defRPr sz="1350" b="0">
                <a:solidFill>
                  <a:srgbClr val="526B7C"/>
                </a:solidFill>
                <a:latin typeface="Helvetica Neue"/>
                <a:ea typeface="Helvetica Neue"/>
                <a:cs typeface="Helvetica Neue"/>
              </a:defRPr>
            </a:lvl8pPr>
            <a:lvl9pPr>
              <a:buNone/>
              <a:defRPr sz="1350" b="0">
                <a:solidFill>
                  <a:srgbClr val="526B7C"/>
                </a:solidFill>
                <a:latin typeface="Helvetica Neue"/>
                <a:ea typeface="Helvetica Neue"/>
                <a:cs typeface="Helvetica Neue"/>
              </a:defRPr>
            </a:lvl9pPr>
          </a:lstStyle>
          <a:p xmlns:a="http://schemas.openxmlformats.org/drawingml/2006/main">
            <a:pPr>
              <a:buNone/>
              <a:defRPr sz="1875" b="1">
                <a:solidFill>
                  <a:srgbClr val="102F43"/>
                </a:solidFill>
                <a:latin typeface="Helvetica Neue"/>
                <a:ea typeface="Helvetica Neue"/>
                <a:cs typeface="Helvetica Neue"/>
              </a:defRPr>
            </a:pPr>
            <a:r>
              <a:rPr sz="1725" b="1">
                <a:solidFill>
                  <a:srgbClr val="102F43"/>
                </a:solidFill>
                <a:latin typeface="Helvetica Neue"/>
                <a:ea typeface="Helvetica Neue"/>
                <a:cs typeface="Helvetica Neue"/>
              </a:rPr>
              <a:t>Net value = cases × minutes saved × staff cost/min − AI, review and operating costs.</a:t>
            </a:r>
          </a:p>
        </p:txBody>
      </p:sp>
      <p:sp>
        <p:nvSpPr>
          <p:cNvPr id="9" name="">
            <a:extLst xmlns:a="http://schemas.openxmlformats.org/drawingml/2006/main">
              <a:ext uri="{FF2B5EF4-FFF2-40B4-BE49-F238E27FC236}">
                <a16:creationId xmlns:a16="http://schemas.microsoft.com/office/drawing/2014/main" id="{248D8905-AD2E-400D-87D2-E7366E2613A4}"/>
              </a:ext>
            </a:extLst>
          </p:cNvPr>
          <p:cNvSpPr>
            <a:spLocks xmlns:a="http://schemas.openxmlformats.org/drawingml/2006/main" noGrp="1"/>
          </p:cNvSpPr>
          <p:nvPr/>
        </p:nvSpPr>
        <p:spPr>
          <a:xfrm xmlns:a="http://schemas.openxmlformats.org/drawingml/2006/main">
            <a:off x="6343650" y="14001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A9D6"/>
                </a:solidFill>
                <a:latin typeface="Helvetica Neue"/>
                <a:ea typeface="Helvetica Neue"/>
                <a:cs typeface="Helvetica Neue"/>
              </a:defRPr>
            </a:defPPr>
            <a:lvl1pPr>
              <a:buNone/>
              <a:defRPr sz="1275" b="0">
                <a:solidFill>
                  <a:srgbClr val="526B7C"/>
                </a:solidFill>
                <a:latin typeface="Helvetica Neue"/>
                <a:ea typeface="Helvetica Neue"/>
                <a:cs typeface="Helvetica Neue"/>
              </a:defRPr>
            </a:lvl1pPr>
            <a:lvl2pPr>
              <a:buNone/>
              <a:defRPr sz="1275" b="0">
                <a:solidFill>
                  <a:srgbClr val="526B7C"/>
                </a:solidFill>
                <a:latin typeface="Helvetica Neue"/>
                <a:ea typeface="Helvetica Neue"/>
                <a:cs typeface="Helvetica Neue"/>
              </a:defRPr>
            </a:lvl2pPr>
            <a:lvl3pPr>
              <a:buNone/>
              <a:defRPr sz="1275" b="0">
                <a:solidFill>
                  <a:srgbClr val="526B7C"/>
                </a:solidFill>
                <a:latin typeface="Helvetica Neue"/>
                <a:ea typeface="Helvetica Neue"/>
                <a:cs typeface="Helvetica Neue"/>
              </a:defRPr>
            </a:lvl3pPr>
            <a:lvl4pPr>
              <a:buNone/>
              <a:defRPr sz="1275" b="0">
                <a:solidFill>
                  <a:srgbClr val="526B7C"/>
                </a:solidFill>
                <a:latin typeface="Helvetica Neue"/>
                <a:ea typeface="Helvetica Neue"/>
                <a:cs typeface="Helvetica Neue"/>
              </a:defRPr>
            </a:lvl4pPr>
            <a:lvl5pPr>
              <a:buNone/>
              <a:defRPr sz="1275" b="0">
                <a:solidFill>
                  <a:srgbClr val="526B7C"/>
                </a:solidFill>
                <a:latin typeface="Helvetica Neue"/>
                <a:ea typeface="Helvetica Neue"/>
                <a:cs typeface="Helvetica Neue"/>
              </a:defRPr>
            </a:lvl5pPr>
            <a:lvl6pPr>
              <a:buNone/>
              <a:defRPr sz="1275" b="0">
                <a:solidFill>
                  <a:srgbClr val="526B7C"/>
                </a:solidFill>
                <a:latin typeface="Helvetica Neue"/>
                <a:ea typeface="Helvetica Neue"/>
                <a:cs typeface="Helvetica Neue"/>
              </a:defRPr>
            </a:lvl6pPr>
            <a:lvl7pPr>
              <a:buNone/>
              <a:defRPr sz="1275" b="0">
                <a:solidFill>
                  <a:srgbClr val="526B7C"/>
                </a:solidFill>
                <a:latin typeface="Helvetica Neue"/>
                <a:ea typeface="Helvetica Neue"/>
                <a:cs typeface="Helvetica Neue"/>
              </a:defRPr>
            </a:lvl7pPr>
            <a:lvl8pPr>
              <a:buNone/>
              <a:defRPr sz="1275" b="0">
                <a:solidFill>
                  <a:srgbClr val="526B7C"/>
                </a:solidFill>
                <a:latin typeface="Helvetica Neue"/>
                <a:ea typeface="Helvetica Neue"/>
                <a:cs typeface="Helvetica Neue"/>
              </a:defRPr>
            </a:lvl8pPr>
            <a:lvl9pPr>
              <a:buNone/>
              <a:defRPr sz="1275" b="0">
                <a:solidFill>
                  <a:srgbClr val="526B7C"/>
                </a:solidFill>
                <a:latin typeface="Helvetica Neue"/>
                <a:ea typeface="Helvetica Neue"/>
                <a:cs typeface="Helvetica Neue"/>
              </a:defRPr>
            </a:lvl9pPr>
          </a:lstStyle>
          <a:p xmlns:a="http://schemas.openxmlformats.org/drawingml/2006/main">
            <a:pPr>
              <a:buNone/>
              <a:defRPr sz="2100" b="1">
                <a:solidFill>
                  <a:srgbClr val="00A9D6"/>
                </a:solidFill>
                <a:latin typeface="Helvetica Neue"/>
                <a:ea typeface="Helvetica Neue"/>
                <a:cs typeface="Helvetica Neue"/>
              </a:defRPr>
            </a:pPr>
            <a:r>
              <a:rPr sz="2100" b="1">
                <a:solidFill>
                  <a:srgbClr val="00A9D6"/>
                </a:solidFill>
                <a:latin typeface="Helvetica Neue"/>
                <a:ea typeface="Helvetica Neue"/>
                <a:cs typeface="Helvetica Neue"/>
              </a:rPr>
              <a:t>Pilot and production gap</a:t>
            </a:r>
          </a:p>
        </p:txBody>
      </p:sp>
      <p:sp>
        <p:nvSpPr>
          <p:cNvPr id="10" name="">
            <a:extLst xmlns:a="http://schemas.openxmlformats.org/drawingml/2006/main">
              <a:ext uri="{FF2B5EF4-FFF2-40B4-BE49-F238E27FC236}">
                <a16:creationId xmlns:a16="http://schemas.microsoft.com/office/drawing/2014/main" id="{C34BC204-D8A3-4087-B787-90303B726515}"/>
              </a:ext>
            </a:extLst>
          </p:cNvPr>
          <p:cNvSpPr>
            <a:spLocks xmlns:a="http://schemas.openxmlformats.org/drawingml/2006/main" noGrp="1"/>
          </p:cNvSpPr>
          <p:nvPr/>
        </p:nvSpPr>
        <p:spPr>
          <a:xfrm xmlns:a="http://schemas.openxmlformats.org/drawingml/2006/main">
            <a:off x="6343650" y="2000250"/>
            <a:ext cx="5143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02F43"/>
                </a:solidFill>
                <a:latin typeface="Helvetica Neue"/>
                <a:ea typeface="Helvetica Neue"/>
                <a:cs typeface="Helvetica Neue"/>
              </a:defRPr>
            </a:defPPr>
            <a:lvl1pPr>
              <a:buNone/>
              <a:defRPr sz="1275" b="0">
                <a:solidFill>
                  <a:srgbClr val="526B7C"/>
                </a:solidFill>
                <a:latin typeface="Helvetica Neue"/>
                <a:ea typeface="Helvetica Neue"/>
                <a:cs typeface="Helvetica Neue"/>
              </a:defRPr>
            </a:lvl1pPr>
            <a:lvl2pPr>
              <a:buNone/>
              <a:defRPr sz="1275" b="0">
                <a:solidFill>
                  <a:srgbClr val="526B7C"/>
                </a:solidFill>
                <a:latin typeface="Helvetica Neue"/>
                <a:ea typeface="Helvetica Neue"/>
                <a:cs typeface="Helvetica Neue"/>
              </a:defRPr>
            </a:lvl2pPr>
            <a:lvl3pPr>
              <a:buNone/>
              <a:defRPr sz="1275" b="0">
                <a:solidFill>
                  <a:srgbClr val="526B7C"/>
                </a:solidFill>
                <a:latin typeface="Helvetica Neue"/>
                <a:ea typeface="Helvetica Neue"/>
                <a:cs typeface="Helvetica Neue"/>
              </a:defRPr>
            </a:lvl3pPr>
            <a:lvl4pPr>
              <a:buNone/>
              <a:defRPr sz="1275" b="0">
                <a:solidFill>
                  <a:srgbClr val="526B7C"/>
                </a:solidFill>
                <a:latin typeface="Helvetica Neue"/>
                <a:ea typeface="Helvetica Neue"/>
                <a:cs typeface="Helvetica Neue"/>
              </a:defRPr>
            </a:lvl4pPr>
            <a:lvl5pPr>
              <a:buNone/>
              <a:defRPr sz="1275" b="0">
                <a:solidFill>
                  <a:srgbClr val="526B7C"/>
                </a:solidFill>
                <a:latin typeface="Helvetica Neue"/>
                <a:ea typeface="Helvetica Neue"/>
                <a:cs typeface="Helvetica Neue"/>
              </a:defRPr>
            </a:lvl5pPr>
            <a:lvl6pPr>
              <a:buNone/>
              <a:defRPr sz="1275" b="0">
                <a:solidFill>
                  <a:srgbClr val="526B7C"/>
                </a:solidFill>
                <a:latin typeface="Helvetica Neue"/>
                <a:ea typeface="Helvetica Neue"/>
                <a:cs typeface="Helvetica Neue"/>
              </a:defRPr>
            </a:lvl6pPr>
            <a:lvl7pPr>
              <a:buNone/>
              <a:defRPr sz="1275" b="0">
                <a:solidFill>
                  <a:srgbClr val="526B7C"/>
                </a:solidFill>
                <a:latin typeface="Helvetica Neue"/>
                <a:ea typeface="Helvetica Neue"/>
                <a:cs typeface="Helvetica Neue"/>
              </a:defRPr>
            </a:lvl7pPr>
            <a:lvl8pPr>
              <a:buNone/>
              <a:defRPr sz="1275" b="0">
                <a:solidFill>
                  <a:srgbClr val="526B7C"/>
                </a:solidFill>
                <a:latin typeface="Helvetica Neue"/>
                <a:ea typeface="Helvetica Neue"/>
                <a:cs typeface="Helvetica Neue"/>
              </a:defRPr>
            </a:lvl8pPr>
            <a:lvl9pPr>
              <a:buNone/>
              <a:defRPr sz="1275" b="0">
                <a:solidFill>
                  <a:srgbClr val="526B7C"/>
                </a:solidFill>
                <a:latin typeface="Helvetica Neue"/>
                <a:ea typeface="Helvetica Neue"/>
                <a:cs typeface="Helvetica Neue"/>
              </a:defRPr>
            </a:lvl9pPr>
          </a:lstStyle>
          <a:p xmlns:a="http://schemas.openxmlformats.org/drawingml/2006/main">
            <a:pPr>
              <a:buNone/>
              <a:defRPr sz="1800"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Pilot: 10 consenting merchants; compare baseline</a:t>
            </a:r>
          </a:p>
          <a:p xmlns:a="http://schemas.openxmlformats.org/drawingml/2006/main">
            <a:pPr>
              <a:buNone/>
              <a:defRPr sz="1800"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Measure minutes, recontacts and reviewer usefulness</a:t>
            </a:r>
          </a:p>
          <a:p xmlns:a="http://schemas.openxmlformats.org/drawingml/2006/main">
            <a:pPr>
              <a:buNone/>
              <a:defRPr sz="1800"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Track corrections, voice failures and cost per case</a:t>
            </a:r>
          </a:p>
          <a:p xmlns:a="http://schemas.openxmlformats.org/drawingml/2006/main">
            <a:pPr>
              <a:buNone/>
              <a:defRPr sz="1800"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Next: authorized history/payment/device adapters</a:t>
            </a:r>
          </a:p>
          <a:p xmlns:a="http://schemas.openxmlformats.org/drawingml/2006/main">
            <a:pPr>
              <a:buNone/>
              <a:defRPr sz="1800" b="0">
                <a:solidFill>
                  <a:srgbClr val="102F43"/>
                </a:solidFill>
                <a:latin typeface="Helvetica Neue"/>
                <a:ea typeface="Helvetica Neue"/>
                <a:cs typeface="Helvetica Neue"/>
              </a:defRPr>
            </a:pPr>
            <a:r>
              <a:rPr sz="1725" b="0">
                <a:solidFill>
                  <a:srgbClr val="102F43"/>
                </a:solidFill>
                <a:latin typeface="Helvetica Neue"/>
                <a:ea typeface="Helvetica Neue"/>
                <a:cs typeface="Helvetica Neue"/>
              </a:rPr>
              <a:t>Then: reviewed, idempotent ticket submission</a:t>
            </a:r>
          </a:p>
        </p:txBody>
      </p:sp>
      <p:sp>
        <p:nvSpPr>
          <p:cNvPr id="12" name="">
            <a:extLst xmlns:a="http://schemas.openxmlformats.org/drawingml/2006/main">
              <a:ext uri="{FF2B5EF4-FFF2-40B4-BE49-F238E27FC236}">
                <a16:creationId xmlns:a16="http://schemas.microsoft.com/office/drawing/2014/main" id="{E46035DC-84BE-4AE5-89DA-2699767F4E71}"/>
              </a:ext>
            </a:extLst>
          </p:cNvPr>
          <p:cNvSpPr>
            <a:spLocks xmlns:a="http://schemas.openxmlformats.org/drawingml/2006/main" noGrp="1"/>
          </p:cNvSpPr>
          <p:nvPr/>
        </p:nvSpPr>
        <p:spPr>
          <a:xfrm xmlns:a="http://schemas.openxmlformats.org/drawingml/2006/main">
            <a:off x="6343650" y="41052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A9D6"/>
                </a:solidFill>
                <a:latin typeface="Helvetica Neue"/>
                <a:ea typeface="Helvetica Neue"/>
                <a:cs typeface="Helvetica Neue"/>
              </a:defRPr>
            </a:defPPr>
            <a:lvl1pPr>
              <a:buNone/>
              <a:defRPr sz="1875" b="1">
                <a:solidFill>
                  <a:srgbClr val="102F43"/>
                </a:solidFill>
                <a:latin typeface="Helvetica Neue"/>
                <a:ea typeface="Helvetica Neue"/>
                <a:cs typeface="Helvetica Neue"/>
              </a:defRPr>
            </a:lvl1pPr>
            <a:lvl2pPr>
              <a:buNone/>
              <a:defRPr sz="1875" b="1">
                <a:solidFill>
                  <a:srgbClr val="102F43"/>
                </a:solidFill>
                <a:latin typeface="Helvetica Neue"/>
                <a:ea typeface="Helvetica Neue"/>
                <a:cs typeface="Helvetica Neue"/>
              </a:defRPr>
            </a:lvl2pPr>
            <a:lvl3pPr>
              <a:buNone/>
              <a:defRPr sz="1875" b="1">
                <a:solidFill>
                  <a:srgbClr val="102F43"/>
                </a:solidFill>
                <a:latin typeface="Helvetica Neue"/>
                <a:ea typeface="Helvetica Neue"/>
                <a:cs typeface="Helvetica Neue"/>
              </a:defRPr>
            </a:lvl3pPr>
            <a:lvl4pPr>
              <a:buNone/>
              <a:defRPr sz="1875" b="1">
                <a:solidFill>
                  <a:srgbClr val="102F43"/>
                </a:solidFill>
                <a:latin typeface="Helvetica Neue"/>
                <a:ea typeface="Helvetica Neue"/>
                <a:cs typeface="Helvetica Neue"/>
              </a:defRPr>
            </a:lvl4pPr>
            <a:lvl5pPr>
              <a:buNone/>
              <a:defRPr sz="1875" b="1">
                <a:solidFill>
                  <a:srgbClr val="102F43"/>
                </a:solidFill>
                <a:latin typeface="Helvetica Neue"/>
                <a:ea typeface="Helvetica Neue"/>
                <a:cs typeface="Helvetica Neue"/>
              </a:defRPr>
            </a:lvl5pPr>
            <a:lvl6pPr>
              <a:buNone/>
              <a:defRPr sz="1875" b="1">
                <a:solidFill>
                  <a:srgbClr val="102F43"/>
                </a:solidFill>
                <a:latin typeface="Helvetica Neue"/>
                <a:ea typeface="Helvetica Neue"/>
                <a:cs typeface="Helvetica Neue"/>
              </a:defRPr>
            </a:lvl6pPr>
            <a:lvl7pPr>
              <a:buNone/>
              <a:defRPr sz="1875" b="1">
                <a:solidFill>
                  <a:srgbClr val="102F43"/>
                </a:solidFill>
                <a:latin typeface="Helvetica Neue"/>
                <a:ea typeface="Helvetica Neue"/>
                <a:cs typeface="Helvetica Neue"/>
              </a:defRPr>
            </a:lvl7pPr>
            <a:lvl8pPr>
              <a:buNone/>
              <a:defRPr sz="1875" b="1">
                <a:solidFill>
                  <a:srgbClr val="102F43"/>
                </a:solidFill>
                <a:latin typeface="Helvetica Neue"/>
                <a:ea typeface="Helvetica Neue"/>
                <a:cs typeface="Helvetica Neue"/>
              </a:defRPr>
            </a:lvl8pPr>
            <a:lvl9pPr>
              <a:buNone/>
              <a:defRPr sz="1875" b="1">
                <a:solidFill>
                  <a:srgbClr val="102F43"/>
                </a:solidFill>
                <a:latin typeface="Helvetica Neue"/>
                <a:ea typeface="Helvetica Neue"/>
                <a:cs typeface="Helvetica Neue"/>
              </a:defRPr>
            </a:lvl9pPr>
          </a:lstStyle>
          <a:p xmlns:a="http://schemas.openxmlformats.org/drawingml/2006/main">
            <a:pPr>
              <a:buNone/>
              <a:defRPr sz="2100" b="1">
                <a:solidFill>
                  <a:srgbClr val="00A9D6"/>
                </a:solidFill>
                <a:latin typeface="Helvetica Neue"/>
                <a:ea typeface="Helvetica Neue"/>
                <a:cs typeface="Helvetica Neue"/>
              </a:defRPr>
            </a:pPr>
            <a:r>
              <a:rPr sz="2100" b="1">
                <a:solidFill>
                  <a:srgbClr val="00A9D6"/>
                </a:solidFill>
                <a:latin typeface="Helvetica Neue"/>
                <a:ea typeface="Helvetica Neue"/>
                <a:cs typeface="Helvetica Neue"/>
              </a:rPr>
              <a:t>Proposed release gates</a:t>
            </a:r>
          </a:p>
        </p:txBody>
      </p:sp>
      <p:sp>
        <p:nvSpPr>
          <p:cNvPr id="13" name="">
            <a:extLst xmlns:a="http://schemas.openxmlformats.org/drawingml/2006/main">
              <a:ext uri="{FF2B5EF4-FFF2-40B4-BE49-F238E27FC236}">
                <a16:creationId xmlns:a16="http://schemas.microsoft.com/office/drawing/2014/main" id="{1DAFF140-A81D-47A8-BAA1-FD00E22828D8}"/>
              </a:ext>
            </a:extLst>
          </p:cNvPr>
          <p:cNvSpPr>
            <a:spLocks xmlns:a="http://schemas.openxmlformats.org/drawingml/2006/main" noGrp="1"/>
          </p:cNvSpPr>
          <p:nvPr/>
        </p:nvSpPr>
        <p:spPr>
          <a:xfrm xmlns:a="http://schemas.openxmlformats.org/drawingml/2006/main">
            <a:off x="6343650" y="4572000"/>
            <a:ext cx="5143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02F43"/>
                </a:solidFill>
                <a:latin typeface="Helvetica Neue"/>
                <a:ea typeface="Helvetica Neue"/>
                <a:cs typeface="Helvetica Neue"/>
              </a:defRPr>
            </a:defPPr>
            <a:lvl1pPr>
              <a:buNone/>
              <a:defRPr sz="1725" b="0">
                <a:solidFill>
                  <a:srgbClr val="526B7C"/>
                </a:solidFill>
                <a:latin typeface="Helvetica Neue"/>
                <a:ea typeface="Helvetica Neue"/>
                <a:cs typeface="Helvetica Neue"/>
              </a:defRPr>
            </a:lvl1pPr>
            <a:lvl2pPr>
              <a:buNone/>
              <a:defRPr sz="1725" b="0">
                <a:solidFill>
                  <a:srgbClr val="526B7C"/>
                </a:solidFill>
                <a:latin typeface="Helvetica Neue"/>
                <a:ea typeface="Helvetica Neue"/>
                <a:cs typeface="Helvetica Neue"/>
              </a:defRPr>
            </a:lvl2pPr>
            <a:lvl3pPr>
              <a:buNone/>
              <a:defRPr sz="1725" b="0">
                <a:solidFill>
                  <a:srgbClr val="526B7C"/>
                </a:solidFill>
                <a:latin typeface="Helvetica Neue"/>
                <a:ea typeface="Helvetica Neue"/>
                <a:cs typeface="Helvetica Neue"/>
              </a:defRPr>
            </a:lvl3pPr>
            <a:lvl4pPr>
              <a:buNone/>
              <a:defRPr sz="1725" b="0">
                <a:solidFill>
                  <a:srgbClr val="526B7C"/>
                </a:solidFill>
                <a:latin typeface="Helvetica Neue"/>
                <a:ea typeface="Helvetica Neue"/>
                <a:cs typeface="Helvetica Neue"/>
              </a:defRPr>
            </a:lvl4pPr>
            <a:lvl5pPr>
              <a:buNone/>
              <a:defRPr sz="1725" b="0">
                <a:solidFill>
                  <a:srgbClr val="526B7C"/>
                </a:solidFill>
                <a:latin typeface="Helvetica Neue"/>
                <a:ea typeface="Helvetica Neue"/>
                <a:cs typeface="Helvetica Neue"/>
              </a:defRPr>
            </a:lvl5pPr>
            <a:lvl6pPr>
              <a:buNone/>
              <a:defRPr sz="1725" b="0">
                <a:solidFill>
                  <a:srgbClr val="526B7C"/>
                </a:solidFill>
                <a:latin typeface="Helvetica Neue"/>
                <a:ea typeface="Helvetica Neue"/>
                <a:cs typeface="Helvetica Neue"/>
              </a:defRPr>
            </a:lvl6pPr>
            <a:lvl7pPr>
              <a:buNone/>
              <a:defRPr sz="1725" b="0">
                <a:solidFill>
                  <a:srgbClr val="526B7C"/>
                </a:solidFill>
                <a:latin typeface="Helvetica Neue"/>
                <a:ea typeface="Helvetica Neue"/>
                <a:cs typeface="Helvetica Neue"/>
              </a:defRPr>
            </a:lvl7pPr>
            <a:lvl8pPr>
              <a:buNone/>
              <a:defRPr sz="1725" b="0">
                <a:solidFill>
                  <a:srgbClr val="526B7C"/>
                </a:solidFill>
                <a:latin typeface="Helvetica Neue"/>
                <a:ea typeface="Helvetica Neue"/>
                <a:cs typeface="Helvetica Neue"/>
              </a:defRPr>
            </a:lvl8pPr>
            <a:lvl9pPr>
              <a:buNone/>
              <a:defRPr sz="1725" b="0">
                <a:solidFill>
                  <a:srgbClr val="526B7C"/>
                </a:solidFill>
                <a:latin typeface="Helvetica Neue"/>
                <a:ea typeface="Helvetica Neue"/>
                <a:cs typeface="Helvetica Neue"/>
              </a:defRPr>
            </a:lvl9pPr>
          </a:lstStyle>
          <a:p xmlns:a="http://schemas.openxmlformats.org/drawingml/2006/main">
            <a:pPr>
              <a:buNone/>
              <a:defRPr sz="1800" b="0">
                <a:solidFill>
                  <a:srgbClr val="102F43"/>
                </a:solidFill>
                <a:latin typeface="Helvetica Neue"/>
                <a:ea typeface="Helvetica Neue"/>
                <a:cs typeface="Helvetica Neue"/>
              </a:defRPr>
            </a:pPr>
            <a:r>
              <a:rPr sz="1800" b="0">
                <a:solidFill>
                  <a:srgbClr val="102F43"/>
                </a:solidFill>
                <a:latin typeface="Helvetica Neue"/>
                <a:ea typeface="Helvetica Neue"/>
                <a:cs typeface="Helvetica Neue"/>
              </a:rPr>
              <a:t>Require source-valid claims, fresh approval, no unauthorized actions and agreed quality/cost/latency targets. Paytm’s true layers and APIs still need confirmation.</a:t>
            </a:r>
          </a:p>
        </p:txBody>
      </p:sp>
      <p:sp>
        <p:nvSpPr>
          <p:cNvPr id="14" name="">
            <a:extLst xmlns:a="http://schemas.openxmlformats.org/drawingml/2006/main">
              <a:ext uri="{FF2B5EF4-FFF2-40B4-BE49-F238E27FC236}">
                <a16:creationId xmlns:a16="http://schemas.microsoft.com/office/drawing/2014/main" id="{274B8B34-8D74-45CD-9952-E99AD8A788EF}"/>
              </a:ext>
            </a:extLst>
          </p:cNvPr>
          <p:cNvSpPr>
            <a:spLocks xmlns:a="http://schemas.openxmlformats.org/drawingml/2006/main" noGrp="1"/>
          </p:cNvSpPr>
          <p:nvPr/>
        </p:nvSpPr>
        <p:spPr>
          <a:xfrm xmlns:a="http://schemas.openxmlformats.org/drawingml/2006/main">
            <a:off x="704850" y="5991225"/>
            <a:ext cx="10801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B7C"/>
                </a:solidFill>
                <a:latin typeface="Helvetica Neue"/>
                <a:ea typeface="Helvetica Neue"/>
                <a:cs typeface="Helvetica Neue"/>
              </a:defRPr>
            </a:defPPr>
            <a:lvl1pPr>
              <a:buNone/>
              <a:defRPr sz="1500" b="0">
                <a:solidFill>
                  <a:srgbClr val="526B7C"/>
                </a:solidFill>
                <a:latin typeface="Helvetica Neue"/>
                <a:ea typeface="Helvetica Neue"/>
                <a:cs typeface="Helvetica Neue"/>
              </a:defRPr>
            </a:lvl1pPr>
            <a:lvl2pPr>
              <a:buNone/>
              <a:defRPr sz="1500" b="0">
                <a:solidFill>
                  <a:srgbClr val="526B7C"/>
                </a:solidFill>
                <a:latin typeface="Helvetica Neue"/>
                <a:ea typeface="Helvetica Neue"/>
                <a:cs typeface="Helvetica Neue"/>
              </a:defRPr>
            </a:lvl2pPr>
            <a:lvl3pPr>
              <a:buNone/>
              <a:defRPr sz="1500" b="0">
                <a:solidFill>
                  <a:srgbClr val="526B7C"/>
                </a:solidFill>
                <a:latin typeface="Helvetica Neue"/>
                <a:ea typeface="Helvetica Neue"/>
                <a:cs typeface="Helvetica Neue"/>
              </a:defRPr>
            </a:lvl3pPr>
            <a:lvl4pPr>
              <a:buNone/>
              <a:defRPr sz="1500" b="0">
                <a:solidFill>
                  <a:srgbClr val="526B7C"/>
                </a:solidFill>
                <a:latin typeface="Helvetica Neue"/>
                <a:ea typeface="Helvetica Neue"/>
                <a:cs typeface="Helvetica Neue"/>
              </a:defRPr>
            </a:lvl4pPr>
            <a:lvl5pPr>
              <a:buNone/>
              <a:defRPr sz="1500" b="0">
                <a:solidFill>
                  <a:srgbClr val="526B7C"/>
                </a:solidFill>
                <a:latin typeface="Helvetica Neue"/>
                <a:ea typeface="Helvetica Neue"/>
                <a:cs typeface="Helvetica Neue"/>
              </a:defRPr>
            </a:lvl5pPr>
            <a:lvl6pPr>
              <a:buNone/>
              <a:defRPr sz="1500" b="0">
                <a:solidFill>
                  <a:srgbClr val="526B7C"/>
                </a:solidFill>
                <a:latin typeface="Helvetica Neue"/>
                <a:ea typeface="Helvetica Neue"/>
                <a:cs typeface="Helvetica Neue"/>
              </a:defRPr>
            </a:lvl6pPr>
            <a:lvl7pPr>
              <a:buNone/>
              <a:defRPr sz="1500" b="0">
                <a:solidFill>
                  <a:srgbClr val="526B7C"/>
                </a:solidFill>
                <a:latin typeface="Helvetica Neue"/>
                <a:ea typeface="Helvetica Neue"/>
                <a:cs typeface="Helvetica Neue"/>
              </a:defRPr>
            </a:lvl7pPr>
            <a:lvl8pPr>
              <a:buNone/>
              <a:defRPr sz="1500" b="0">
                <a:solidFill>
                  <a:srgbClr val="526B7C"/>
                </a:solidFill>
                <a:latin typeface="Helvetica Neue"/>
                <a:ea typeface="Helvetica Neue"/>
                <a:cs typeface="Helvetica Neue"/>
              </a:defRPr>
            </a:lvl8pPr>
            <a:lvl9pPr>
              <a:buNone/>
              <a:defRPr sz="1500" b="0">
                <a:solidFill>
                  <a:srgbClr val="526B7C"/>
                </a:solidFill>
                <a:latin typeface="Helvetica Neue"/>
                <a:ea typeface="Helvetica Neue"/>
                <a:cs typeface="Helvetica Neue"/>
              </a:defRPr>
            </a:lvl9pPr>
          </a:lstStyle>
          <a:p xmlns:a="http://schemas.openxmlformats.org/drawingml/2006/main">
            <a:pPr>
              <a:buNone/>
              <a:defRPr sz="1500" b="0">
                <a:solidFill>
                  <a:srgbClr val="526B7C"/>
                </a:solidFill>
                <a:latin typeface="Helvetica Neue"/>
                <a:ea typeface="Helvetica Neue"/>
                <a:cs typeface="Helvetica Neue"/>
              </a:defRPr>
            </a:pPr>
            <a:r>
              <a:rPr sz="1500" b="0">
                <a:solidFill>
                  <a:srgbClr val="526B7C"/>
                </a:solidFill>
                <a:latin typeface="Helvetica Neue"/>
                <a:ea typeface="Helvetica Neue"/>
                <a:cs typeface="Helvetica Neue"/>
              </a:rPr>
              <a:t>Manual history entry; no ticket sent. Savings and live-model accuracy remain unmeasured.</a:t>
            </a:r>
          </a:p>
        </p:txBody>
      </p:sp>
      <p:sp>
        <p:nvSpPr>
          <p:cNvPr id="15" name="">
            <a:extLst xmlns:a="http://schemas.openxmlformats.org/drawingml/2006/main">
              <a:ext uri="{FF2B5EF4-FFF2-40B4-BE49-F238E27FC236}">
                <a16:creationId xmlns:a16="http://schemas.microsoft.com/office/drawing/2014/main" id="{DE4CFBE0-ACF5-4C7D-B317-EC0FE793BD1D}"/>
              </a:ext>
            </a:extLst>
          </p:cNvPr>
          <p:cNvSpPr>
            <a:spLocks xmlns:a="http://schemas.openxmlformats.org/drawingml/2006/main" noGrp="1"/>
          </p:cNvSpPr>
          <p:nvPr/>
        </p:nvSpPr>
        <p:spPr>
          <a:xfrm xmlns:a="http://schemas.openxmlformats.org/drawingml/2006/main">
            <a:off x="10839450" y="646747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B7C"/>
                </a:solidFill>
                <a:latin typeface="Helvetica Neue"/>
                <a:ea typeface="Helvetica Neue"/>
                <a:cs typeface="Helvetica Neue"/>
              </a:defRPr>
            </a:defPPr>
            <a:lvl1pPr>
              <a:buNone/>
              <a:defRPr sz="1200" b="0">
                <a:solidFill>
                  <a:srgbClr val="526B7C"/>
                </a:solidFill>
                <a:latin typeface="Helvetica Neue"/>
                <a:ea typeface="Helvetica Neue"/>
                <a:cs typeface="Helvetica Neue"/>
              </a:defRPr>
            </a:lvl1pPr>
            <a:lvl2pPr>
              <a:buNone/>
              <a:defRPr sz="1200" b="0">
                <a:solidFill>
                  <a:srgbClr val="526B7C"/>
                </a:solidFill>
                <a:latin typeface="Helvetica Neue"/>
                <a:ea typeface="Helvetica Neue"/>
                <a:cs typeface="Helvetica Neue"/>
              </a:defRPr>
            </a:lvl2pPr>
            <a:lvl3pPr>
              <a:buNone/>
              <a:defRPr sz="1200" b="0">
                <a:solidFill>
                  <a:srgbClr val="526B7C"/>
                </a:solidFill>
                <a:latin typeface="Helvetica Neue"/>
                <a:ea typeface="Helvetica Neue"/>
                <a:cs typeface="Helvetica Neue"/>
              </a:defRPr>
            </a:lvl3pPr>
            <a:lvl4pPr>
              <a:buNone/>
              <a:defRPr sz="1200" b="0">
                <a:solidFill>
                  <a:srgbClr val="526B7C"/>
                </a:solidFill>
                <a:latin typeface="Helvetica Neue"/>
                <a:ea typeface="Helvetica Neue"/>
                <a:cs typeface="Helvetica Neue"/>
              </a:defRPr>
            </a:lvl4pPr>
            <a:lvl5pPr>
              <a:buNone/>
              <a:defRPr sz="1200" b="0">
                <a:solidFill>
                  <a:srgbClr val="526B7C"/>
                </a:solidFill>
                <a:latin typeface="Helvetica Neue"/>
                <a:ea typeface="Helvetica Neue"/>
                <a:cs typeface="Helvetica Neue"/>
              </a:defRPr>
            </a:lvl5pPr>
            <a:lvl6pPr>
              <a:buNone/>
              <a:defRPr sz="1200" b="0">
                <a:solidFill>
                  <a:srgbClr val="526B7C"/>
                </a:solidFill>
                <a:latin typeface="Helvetica Neue"/>
                <a:ea typeface="Helvetica Neue"/>
                <a:cs typeface="Helvetica Neue"/>
              </a:defRPr>
            </a:lvl6pPr>
            <a:lvl7pPr>
              <a:buNone/>
              <a:defRPr sz="1200" b="0">
                <a:solidFill>
                  <a:srgbClr val="526B7C"/>
                </a:solidFill>
                <a:latin typeface="Helvetica Neue"/>
                <a:ea typeface="Helvetica Neue"/>
                <a:cs typeface="Helvetica Neue"/>
              </a:defRPr>
            </a:lvl7pPr>
            <a:lvl8pPr>
              <a:buNone/>
              <a:defRPr sz="1200" b="0">
                <a:solidFill>
                  <a:srgbClr val="526B7C"/>
                </a:solidFill>
                <a:latin typeface="Helvetica Neue"/>
                <a:ea typeface="Helvetica Neue"/>
                <a:cs typeface="Helvetica Neue"/>
              </a:defRPr>
            </a:lvl8pPr>
            <a:lvl9pPr>
              <a:buNone/>
              <a:defRPr sz="1200" b="0">
                <a:solidFill>
                  <a:srgbClr val="526B7C"/>
                </a:solidFill>
                <a:latin typeface="Helvetica Neue"/>
                <a:ea typeface="Helvetica Neue"/>
                <a:cs typeface="Helvetica Neue"/>
              </a:defRPr>
            </a:lvl9pPr>
          </a:lstStyle>
          <a:p xmlns:a="http://schemas.openxmlformats.org/drawingml/2006/main">
            <a:pPr>
              <a:buNone/>
              <a:defRPr sz="1200" b="0">
                <a:solidFill>
                  <a:srgbClr val="526B7C"/>
                </a:solidFill>
                <a:latin typeface="Helvetica Neue"/>
                <a:ea typeface="Helvetica Neue"/>
                <a:cs typeface="Helvetica Neue"/>
              </a:defRPr>
            </a:pPr>
            <a:r>
              <a:rPr sz="1200" b="0">
                <a:solidFill>
                  <a:srgbClr val="526B7C"/>
                </a:solidFill>
                <a:latin typeface="Helvetica Neue"/>
                <a:ea typeface="Helvetica Neue"/>
                <a:cs typeface="Helvetica Neue"/>
              </a:rPr>
              <a:t>5 / 5</a:t>
            </a:r>
          </a:p>
        </p:txBody>
      </p:sp>
      <p:sp>
        <p:nvSpPr>
          <p:cNvPr id="16" name="">
            <a:extLst xmlns:a="http://schemas.openxmlformats.org/drawingml/2006/main">
              <a:ext uri="{FF2B5EF4-FFF2-40B4-BE49-F238E27FC236}">
                <a16:creationId xmlns:a16="http://schemas.microsoft.com/office/drawing/2014/main" id="{ED3064F4-EA15-4EB4-B0F3-2E337BAB5B6E}"/>
              </a:ext>
            </a:extLst>
          </p:cNvPr>
          <p:cNvSpPr>
            <a:spLocks xmlns:a="http://schemas.openxmlformats.org/drawingml/2006/main" noGrp="1"/>
          </p:cNvSpPr>
          <p:nvPr/>
        </p:nvSpPr>
        <p:spPr>
          <a:xfrm xmlns:a="http://schemas.openxmlformats.org/drawingml/2006/main">
            <a:off x="704850" y="63627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500" u="sng">
                <a:solidFill>
                  <a:srgbClr val="00A9D6"/>
                </a:solidFill>
                <a:latin typeface="Helvetica Neue"/>
                <a:ea typeface="Helvetica Neue"/>
                <a:cs typeface="Helvetica Neue"/>
                <a:hlinkClick xmlns:r="http://schemas.openxmlformats.org/officeDocument/2006/relationships" r:id="Rb5ca311d0f354dd8"/>
              </a:rPr>
              <a:t>Live app</a:t>
            </a:r>
          </a:p>
        </p:txBody>
      </p:sp>
      <p:sp>
        <p:nvSpPr>
          <p:cNvPr id="17" name="">
            <a:extLst xmlns:a="http://schemas.openxmlformats.org/drawingml/2006/main">
              <a:ext uri="{FF2B5EF4-FFF2-40B4-BE49-F238E27FC236}">
                <a16:creationId xmlns:a16="http://schemas.microsoft.com/office/drawing/2014/main" id="{D51040CD-D14A-4AE2-A614-34EC368B6C33}"/>
              </a:ext>
            </a:extLst>
          </p:cNvPr>
          <p:cNvSpPr>
            <a:spLocks xmlns:a="http://schemas.openxmlformats.org/drawingml/2006/main" noGrp="1"/>
          </p:cNvSpPr>
          <p:nvPr/>
        </p:nvSpPr>
        <p:spPr>
          <a:xfrm xmlns:a="http://schemas.openxmlformats.org/drawingml/2006/main">
            <a:off x="2505075" y="63627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500" u="sng">
                <a:solidFill>
                  <a:srgbClr val="00A9D6"/>
                </a:solidFill>
                <a:latin typeface="Helvetica Neue"/>
                <a:ea typeface="Helvetica Neue"/>
                <a:cs typeface="Helvetica Neue"/>
                <a:hlinkClick xmlns:r="http://schemas.openxmlformats.org/officeDocument/2006/relationships" r:id="R425201b393f943a1"/>
              </a:rPr>
              <a:t>GitHub + architecture</a:t>
            </a:r>
          </a:p>
        </p:txBody>
      </p:sp>
      <p:sp>
        <p:nvSpPr>
          <p:cNvPr id="18" name="">
            <a:extLst xmlns:a="http://schemas.openxmlformats.org/drawingml/2006/main">
              <a:ext uri="{FF2B5EF4-FFF2-40B4-BE49-F238E27FC236}">
                <a16:creationId xmlns:a16="http://schemas.microsoft.com/office/drawing/2014/main" id="{78C478CA-F72B-4BE5-BF86-EA3422AA2ACD}"/>
              </a:ext>
            </a:extLst>
          </p:cNvPr>
          <p:cNvSpPr>
            <a:spLocks xmlns:a="http://schemas.openxmlformats.org/drawingml/2006/main" noGrp="1"/>
          </p:cNvSpPr>
          <p:nvPr/>
        </p:nvSpPr>
        <p:spPr>
          <a:xfrm xmlns:a="http://schemas.openxmlformats.org/drawingml/2006/main">
            <a:off x="5905500" y="63627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500" u="sng">
                <a:solidFill>
                  <a:srgbClr val="00A9D6"/>
                </a:solidFill>
                <a:latin typeface="Helvetica Neue"/>
                <a:ea typeface="Helvetica Neue"/>
                <a:cs typeface="Helvetica Neue"/>
                <a:hlinkClick xmlns:r="http://schemas.openxmlformats.org/officeDocument/2006/relationships" r:id="R8dec0791f1e14393"/>
              </a:rPr>
              <a:t>Backup video</a:t>
            </a:r>
          </a:p>
        </p:txBody>
      </p:sp>
    </p:spTree>
    <p:extLst>
      <p:ext uri="{BB962C8B-B14F-4D97-AF65-F5344CB8AC3E}">
        <p14:creationId xmlns:p14="http://schemas.microsoft.com/office/powerpoint/2010/main" val="20889832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2026-10-18T16:47:40.8520000Z</dcterms:created>
  <dcterms:modified xsi:type="dcterms:W3CDTF">2026-10-18T16:47:40.8520000Z</dcterms:modified>
</coreProperties>
</file>